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Corben"/>
      <p:regular r:id="rId17"/>
    </p:embeddedFont>
    <p:embeddedFont>
      <p:font typeface="Corben"/>
      <p:regular r:id="rId18"/>
    </p:embeddedFont>
    <p:embeddedFont>
      <p:font typeface="Nobile"/>
      <p:regular r:id="rId19"/>
    </p:embeddedFont>
    <p:embeddedFont>
      <p:font typeface="Nobile"/>
      <p:regular r:id="rId20"/>
    </p:embeddedFont>
    <p:embeddedFont>
      <p:font typeface="Nobile"/>
      <p:regular r:id="rId21"/>
    </p:embeddedFont>
    <p:embeddedFont>
      <p:font typeface="Nobile"/>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slideLayout" Target="../slideLayouts/slideLayout7.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slideLayout" Target="../slideLayouts/slideLayout8.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4.png"/><Relationship Id="rId5" Type="http://schemas.openxmlformats.org/officeDocument/2006/relationships/image" Target="../media/image-8-5.svg"/><Relationship Id="rId6" Type="http://schemas.openxmlformats.org/officeDocument/2006/relationships/image" Target="../media/image-8-6.png"/><Relationship Id="rId7" Type="http://schemas.openxmlformats.org/officeDocument/2006/relationships/image" Target="../media/image-8-7.svg"/><Relationship Id="rId8" Type="http://schemas.openxmlformats.org/officeDocument/2006/relationships/image" Target="../media/image-8-8.png"/><Relationship Id="rId9" Type="http://schemas.openxmlformats.org/officeDocument/2006/relationships/image" Target="../media/image-8-9.svg"/><Relationship Id="rId10" Type="http://schemas.openxmlformats.org/officeDocument/2006/relationships/image" Target="../media/image-8-10.png"/><Relationship Id="rId11" Type="http://schemas.openxmlformats.org/officeDocument/2006/relationships/image" Target="../media/image-8-11.svg"/><Relationship Id="rId12" Type="http://schemas.openxmlformats.org/officeDocument/2006/relationships/image" Target="../media/image-8-12.png"/><Relationship Id="rId13" Type="http://schemas.openxmlformats.org/officeDocument/2006/relationships/image" Target="../media/image-8-13.svg"/><Relationship Id="rId14" Type="http://schemas.openxmlformats.org/officeDocument/2006/relationships/slideLayout" Target="../slideLayouts/slideLayout9.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svg"/><Relationship Id="rId16" Type="http://schemas.openxmlformats.org/officeDocument/2006/relationships/slideLayout" Target="../slideLayouts/slideLayout10.xml"/><Relationship Id="rId1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11.xml"/><Relationship Id="rId1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9F9FF">
              <a:alpha val="85000"/>
            </a:srgbClr>
          </a:solidFill>
          <a:ln/>
        </p:spPr>
      </p:sp>
      <p:sp>
        <p:nvSpPr>
          <p:cNvPr id="4" name="Text 1"/>
          <p:cNvSpPr/>
          <p:nvPr/>
        </p:nvSpPr>
        <p:spPr>
          <a:xfrm>
            <a:off x="540023" y="1009501"/>
            <a:ext cx="8063954" cy="964406"/>
          </a:xfrm>
          <a:prstGeom prst="rect">
            <a:avLst/>
          </a:prstGeom>
          <a:noFill/>
          <a:ln/>
        </p:spPr>
        <p:txBody>
          <a:bodyPr wrap="square" lIns="0" tIns="0" rIns="0" bIns="0" rtlCol="0" anchor="t"/>
          <a:lstStyle/>
          <a:p>
            <a:pPr algn="l" indent="0" marL="0">
              <a:lnSpc>
                <a:spcPts val="3750"/>
              </a:lnSpc>
              <a:buNone/>
            </a:pPr>
            <a:r>
              <a:rPr lang="en-US" sz="3000" dirty="0">
                <a:solidFill>
                  <a:srgbClr val="1B1B27"/>
                </a:solidFill>
                <a:latin typeface="Corben" pitchFamily="34" charset="0"/>
                <a:ea typeface="Corben" pitchFamily="34" charset="-122"/>
                <a:cs typeface="Corben" pitchFamily="34" charset="-120"/>
              </a:rPr>
              <a:t>Tableau de Bord Intelligent pour la Gestion de la Visite Technique des Véhicules</a:t>
            </a:r>
            <a:endParaRPr lang="en-US" sz="3000" dirty="0"/>
          </a:p>
        </p:txBody>
      </p:sp>
      <p:sp>
        <p:nvSpPr>
          <p:cNvPr id="5" name="Text 2"/>
          <p:cNvSpPr/>
          <p:nvPr/>
        </p:nvSpPr>
        <p:spPr>
          <a:xfrm>
            <a:off x="540023" y="2205335"/>
            <a:ext cx="8063954" cy="246906"/>
          </a:xfrm>
          <a:prstGeom prst="rect">
            <a:avLst/>
          </a:prstGeom>
          <a:noFill/>
          <a:ln/>
        </p:spPr>
        <p:txBody>
          <a:bodyPr wrap="none" lIns="0" tIns="0" rIns="0" bIns="0" rtlCol="0" anchor="t"/>
          <a:lstStyle/>
          <a:p>
            <a:pPr algn="l" indent="0" marL="0">
              <a:lnSpc>
                <a:spcPts val="1900"/>
              </a:lnSpc>
              <a:buNone/>
            </a:pPr>
            <a:r>
              <a:rPr lang="en-US" sz="1200" b="1" dirty="0">
                <a:solidFill>
                  <a:srgbClr val="404155"/>
                </a:solidFill>
                <a:latin typeface="Nobile" pitchFamily="34" charset="0"/>
                <a:ea typeface="Nobile" pitchFamily="34" charset="-122"/>
                <a:cs typeface="Nobile" pitchFamily="34" charset="-120"/>
              </a:rPr>
              <a:t>Étudiant :</a:t>
            </a:r>
            <a:pPr algn="l" indent="0" marL="0">
              <a:lnSpc>
                <a:spcPts val="1900"/>
              </a:lnSpc>
              <a:buNone/>
            </a:pPr>
            <a:r>
              <a:rPr lang="en-US" sz="1200" dirty="0">
                <a:solidFill>
                  <a:srgbClr val="404155"/>
                </a:solidFill>
                <a:latin typeface="Nobile" pitchFamily="34" charset="0"/>
                <a:ea typeface="Nobile" pitchFamily="34" charset="-122"/>
                <a:cs typeface="Nobile" pitchFamily="34" charset="-120"/>
              </a:rPr>
              <a:t> YASSIR ESSAIH</a:t>
            </a:r>
            <a:endParaRPr lang="en-US" sz="1200" dirty="0"/>
          </a:p>
        </p:txBody>
      </p:sp>
      <p:sp>
        <p:nvSpPr>
          <p:cNvPr id="6" name="Text 3"/>
          <p:cNvSpPr/>
          <p:nvPr/>
        </p:nvSpPr>
        <p:spPr>
          <a:xfrm>
            <a:off x="540023" y="2625775"/>
            <a:ext cx="8063954" cy="246906"/>
          </a:xfrm>
          <a:prstGeom prst="rect">
            <a:avLst/>
          </a:prstGeom>
          <a:noFill/>
          <a:ln/>
        </p:spPr>
        <p:txBody>
          <a:bodyPr wrap="none" lIns="0" tIns="0" rIns="0" bIns="0" rtlCol="0" anchor="t"/>
          <a:lstStyle/>
          <a:p>
            <a:pPr algn="l" indent="0" marL="0">
              <a:lnSpc>
                <a:spcPts val="1900"/>
              </a:lnSpc>
              <a:buNone/>
            </a:pPr>
            <a:r>
              <a:rPr lang="en-US" sz="1200" b="1" dirty="0">
                <a:solidFill>
                  <a:srgbClr val="404155"/>
                </a:solidFill>
                <a:latin typeface="Nobile" pitchFamily="34" charset="0"/>
                <a:ea typeface="Nobile" pitchFamily="34" charset="-122"/>
                <a:cs typeface="Nobile" pitchFamily="34" charset="-120"/>
              </a:rPr>
              <a:t>Spécialité :</a:t>
            </a:r>
            <a:pPr algn="l" indent="0" marL="0">
              <a:lnSpc>
                <a:spcPts val="1900"/>
              </a:lnSpc>
              <a:buNone/>
            </a:pPr>
            <a:r>
              <a:rPr lang="en-US" sz="1200" dirty="0">
                <a:solidFill>
                  <a:srgbClr val="404155"/>
                </a:solidFill>
                <a:latin typeface="Nobile" pitchFamily="34" charset="0"/>
                <a:ea typeface="Nobile" pitchFamily="34" charset="-122"/>
                <a:cs typeface="Nobile" pitchFamily="34" charset="-120"/>
              </a:rPr>
              <a:t> Développement Digital - Option Web Full Stack</a:t>
            </a:r>
            <a:endParaRPr lang="en-US" sz="1200" dirty="0"/>
          </a:p>
        </p:txBody>
      </p:sp>
      <p:sp>
        <p:nvSpPr>
          <p:cNvPr id="7" name="Text 4"/>
          <p:cNvSpPr/>
          <p:nvPr/>
        </p:nvSpPr>
        <p:spPr>
          <a:xfrm>
            <a:off x="540023" y="3046214"/>
            <a:ext cx="8063954" cy="246906"/>
          </a:xfrm>
          <a:prstGeom prst="rect">
            <a:avLst/>
          </a:prstGeom>
          <a:noFill/>
          <a:ln/>
        </p:spPr>
        <p:txBody>
          <a:bodyPr wrap="none" lIns="0" tIns="0" rIns="0" bIns="0" rtlCol="0" anchor="t"/>
          <a:lstStyle/>
          <a:p>
            <a:pPr algn="l" indent="0" marL="0">
              <a:lnSpc>
                <a:spcPts val="1900"/>
              </a:lnSpc>
              <a:buNone/>
            </a:pPr>
            <a:r>
              <a:rPr lang="en-US" sz="1200" b="1" dirty="0">
                <a:solidFill>
                  <a:srgbClr val="404155"/>
                </a:solidFill>
                <a:latin typeface="Nobile" pitchFamily="34" charset="0"/>
                <a:ea typeface="Nobile" pitchFamily="34" charset="-122"/>
                <a:cs typeface="Nobile" pitchFamily="34" charset="-120"/>
              </a:rPr>
              <a:t>Entreprise d'accueil :</a:t>
            </a:r>
            <a:pPr algn="l" indent="0" marL="0">
              <a:lnSpc>
                <a:spcPts val="1900"/>
              </a:lnSpc>
              <a:buNone/>
            </a:pPr>
            <a:r>
              <a:rPr lang="en-US" sz="1200" dirty="0">
                <a:solidFill>
                  <a:srgbClr val="404155"/>
                </a:solidFill>
                <a:latin typeface="Nobile" pitchFamily="34" charset="0"/>
                <a:ea typeface="Nobile" pitchFamily="34" charset="-122"/>
                <a:cs typeface="Nobile" pitchFamily="34" charset="-120"/>
              </a:rPr>
              <a:t> VITECMA - Centre de Visite Technique</a:t>
            </a:r>
            <a:endParaRPr lang="en-US" sz="1200" dirty="0"/>
          </a:p>
        </p:txBody>
      </p:sp>
      <p:sp>
        <p:nvSpPr>
          <p:cNvPr id="8" name="Text 5"/>
          <p:cNvSpPr/>
          <p:nvPr/>
        </p:nvSpPr>
        <p:spPr>
          <a:xfrm>
            <a:off x="540023" y="3466654"/>
            <a:ext cx="8063954" cy="246906"/>
          </a:xfrm>
          <a:prstGeom prst="rect">
            <a:avLst/>
          </a:prstGeom>
          <a:noFill/>
          <a:ln/>
        </p:spPr>
        <p:txBody>
          <a:bodyPr wrap="none" lIns="0" tIns="0" rIns="0" bIns="0" rtlCol="0" anchor="t"/>
          <a:lstStyle/>
          <a:p>
            <a:pPr algn="l" indent="0" marL="0">
              <a:lnSpc>
                <a:spcPts val="1900"/>
              </a:lnSpc>
              <a:buNone/>
            </a:pPr>
            <a:r>
              <a:rPr lang="en-US" sz="1200" b="1" dirty="0">
                <a:solidFill>
                  <a:srgbClr val="404155"/>
                </a:solidFill>
                <a:latin typeface="Nobile" pitchFamily="34" charset="0"/>
                <a:ea typeface="Nobile" pitchFamily="34" charset="-122"/>
                <a:cs typeface="Nobile" pitchFamily="34" charset="-120"/>
              </a:rPr>
              <a:t>Réseau :</a:t>
            </a:r>
            <a:pPr algn="l" indent="0" marL="0">
              <a:lnSpc>
                <a:spcPts val="1900"/>
              </a:lnSpc>
              <a:buNone/>
            </a:pPr>
            <a:r>
              <a:rPr lang="en-US" sz="1200" dirty="0">
                <a:solidFill>
                  <a:srgbClr val="404155"/>
                </a:solidFill>
                <a:latin typeface="Nobile" pitchFamily="34" charset="0"/>
                <a:ea typeface="Nobile" pitchFamily="34" charset="-122"/>
                <a:cs typeface="Nobile" pitchFamily="34" charset="-120"/>
              </a:rPr>
              <a:t> DEKRA Automotive Maroc</a:t>
            </a:r>
            <a:endParaRPr lang="en-US" sz="1200" dirty="0"/>
          </a:p>
        </p:txBody>
      </p:sp>
      <p:sp>
        <p:nvSpPr>
          <p:cNvPr id="9" name="Text 6"/>
          <p:cNvSpPr/>
          <p:nvPr/>
        </p:nvSpPr>
        <p:spPr>
          <a:xfrm>
            <a:off x="540023" y="3887093"/>
            <a:ext cx="8063954" cy="246906"/>
          </a:xfrm>
          <a:prstGeom prst="rect">
            <a:avLst/>
          </a:prstGeom>
          <a:noFill/>
          <a:ln/>
        </p:spPr>
        <p:txBody>
          <a:bodyPr wrap="none" lIns="0" tIns="0" rIns="0" bIns="0" rtlCol="0" anchor="t"/>
          <a:lstStyle/>
          <a:p>
            <a:pPr algn="l" indent="0" marL="0">
              <a:lnSpc>
                <a:spcPts val="1900"/>
              </a:lnSpc>
              <a:buNone/>
            </a:pPr>
            <a:r>
              <a:rPr lang="en-US" sz="1200" b="1" dirty="0">
                <a:solidFill>
                  <a:srgbClr val="404155"/>
                </a:solidFill>
                <a:latin typeface="Nobile" pitchFamily="34" charset="0"/>
                <a:ea typeface="Nobile" pitchFamily="34" charset="-122"/>
                <a:cs typeface="Nobile" pitchFamily="34" charset="-120"/>
              </a:rPr>
              <a:t>Année Universitaire :</a:t>
            </a:r>
            <a:pPr algn="l" indent="0" marL="0">
              <a:lnSpc>
                <a:spcPts val="1900"/>
              </a:lnSpc>
              <a:buNone/>
            </a:pPr>
            <a:r>
              <a:rPr lang="en-US" sz="1200" dirty="0">
                <a:solidFill>
                  <a:srgbClr val="404155"/>
                </a:solidFill>
                <a:latin typeface="Nobile" pitchFamily="34" charset="0"/>
                <a:ea typeface="Nobile" pitchFamily="34" charset="-122"/>
                <a:cs typeface="Nobile" pitchFamily="34" charset="-120"/>
              </a:rPr>
              <a:t> 2025 - 2026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342430" y="346770"/>
            <a:ext cx="2832943" cy="354062"/>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Corben" pitchFamily="34" charset="0"/>
                <a:ea typeface="Corben" pitchFamily="34" charset="-122"/>
                <a:cs typeface="Corben" pitchFamily="34" charset="-120"/>
              </a:rPr>
              <a:t>Remerciements</a:t>
            </a:r>
            <a:endParaRPr lang="en-US" sz="2200" dirty="0"/>
          </a:p>
        </p:txBody>
      </p:sp>
      <p:sp>
        <p:nvSpPr>
          <p:cNvPr id="3" name="Text 1"/>
          <p:cNvSpPr/>
          <p:nvPr/>
        </p:nvSpPr>
        <p:spPr>
          <a:xfrm>
            <a:off x="1342430" y="867221"/>
            <a:ext cx="6459066" cy="471711"/>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Je tiens tout d'abord à exprimer ma profonde gratitude envers la direction de </a:t>
            </a:r>
            <a:pPr algn="l" indent="0" marL="0">
              <a:lnSpc>
                <a:spcPts val="1200"/>
              </a:lnSpc>
              <a:buNone/>
            </a:pPr>
            <a:r>
              <a:rPr lang="en-US" sz="850" b="1" dirty="0">
                <a:solidFill>
                  <a:srgbClr val="404155"/>
                </a:solidFill>
                <a:latin typeface="Nobile" pitchFamily="34" charset="0"/>
                <a:ea typeface="Nobile" pitchFamily="34" charset="-122"/>
                <a:cs typeface="Nobile" pitchFamily="34" charset="-120"/>
              </a:rPr>
              <a:t>VITECMA Ait Melloul</a:t>
            </a:r>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 ainsi que l'ensemble du personnel du centre pour leur accueil chaleureux et leur disponibilité tout au long de cette période de stage.</a:t>
            </a:r>
            <a:endParaRPr lang="en-US" sz="850" dirty="0"/>
          </a:p>
        </p:txBody>
      </p:sp>
      <p:sp>
        <p:nvSpPr>
          <p:cNvPr id="4" name="Shape 2"/>
          <p:cNvSpPr/>
          <p:nvPr/>
        </p:nvSpPr>
        <p:spPr>
          <a:xfrm>
            <a:off x="1342430" y="1432545"/>
            <a:ext cx="3187898" cy="1515070"/>
          </a:xfrm>
          <a:prstGeom prst="roundRect">
            <a:avLst>
              <a:gd name="adj" fmla="val 3141"/>
            </a:avLst>
          </a:prstGeom>
          <a:solidFill>
            <a:srgbClr val="D2D9F9"/>
          </a:solidFill>
          <a:ln w="4763">
            <a:solidFill>
              <a:srgbClr val="B8BFDF"/>
            </a:solidFill>
            <a:prstDash val="solid"/>
          </a:ln>
        </p:spPr>
      </p:sp>
      <p:sp>
        <p:nvSpPr>
          <p:cNvPr id="5" name="Shape 3"/>
          <p:cNvSpPr/>
          <p:nvPr/>
        </p:nvSpPr>
        <p:spPr>
          <a:xfrm>
            <a:off x="1460450" y="1550566"/>
            <a:ext cx="339923" cy="339923"/>
          </a:xfrm>
          <a:prstGeom prst="roundRect">
            <a:avLst>
              <a:gd name="adj" fmla="val 16810950"/>
            </a:avLst>
          </a:prstGeom>
          <a:solidFill>
            <a:srgbClr val="4967E9"/>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53914" y="1644030"/>
            <a:ext cx="152921" cy="152921"/>
          </a:xfrm>
          <a:prstGeom prst="rect">
            <a:avLst/>
          </a:prstGeom>
        </p:spPr>
      </p:pic>
      <p:sp>
        <p:nvSpPr>
          <p:cNvPr id="7" name="Text 4"/>
          <p:cNvSpPr/>
          <p:nvPr/>
        </p:nvSpPr>
        <p:spPr>
          <a:xfrm>
            <a:off x="1460450" y="1973684"/>
            <a:ext cx="1416472" cy="177105"/>
          </a:xfrm>
          <a:prstGeom prst="rect">
            <a:avLst/>
          </a:prstGeom>
          <a:noFill/>
          <a:ln/>
        </p:spPr>
        <p:txBody>
          <a:bodyPr wrap="none" lIns="0" tIns="0" rIns="0" bIns="0" rtlCol="0" anchor="t"/>
          <a:lstStyle/>
          <a:p>
            <a:pPr algn="l" indent="0" marL="0">
              <a:lnSpc>
                <a:spcPts val="1350"/>
              </a:lnSpc>
              <a:buNone/>
            </a:pPr>
            <a:r>
              <a:rPr lang="en-US" sz="1100" dirty="0">
                <a:solidFill>
                  <a:srgbClr val="404155"/>
                </a:solidFill>
                <a:latin typeface="Corben" pitchFamily="34" charset="0"/>
                <a:ea typeface="Corben" pitchFamily="34" charset="-122"/>
                <a:cs typeface="Corben" pitchFamily="34" charset="-120"/>
              </a:rPr>
              <a:t>Direction du Centre</a:t>
            </a:r>
            <a:endParaRPr lang="en-US" sz="1100" dirty="0"/>
          </a:p>
        </p:txBody>
      </p:sp>
      <p:sp>
        <p:nvSpPr>
          <p:cNvPr id="8" name="Text 5"/>
          <p:cNvSpPr/>
          <p:nvPr/>
        </p:nvSpPr>
        <p:spPr>
          <a:xfrm>
            <a:off x="1460450" y="2200647"/>
            <a:ext cx="2951857" cy="628948"/>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Ma reconnaissance au chef de centre pour sa confiance, ses précieux conseils et son encadrement bienveillant qui m'ont permis d'appréhender le métier dans les meilleures conditions.</a:t>
            </a:r>
            <a:endParaRPr lang="en-US" sz="850" dirty="0"/>
          </a:p>
        </p:txBody>
      </p:sp>
      <p:sp>
        <p:nvSpPr>
          <p:cNvPr id="9" name="Shape 6"/>
          <p:cNvSpPr/>
          <p:nvPr/>
        </p:nvSpPr>
        <p:spPr>
          <a:xfrm>
            <a:off x="4613523" y="1432545"/>
            <a:ext cx="3187973" cy="1515070"/>
          </a:xfrm>
          <a:prstGeom prst="roundRect">
            <a:avLst>
              <a:gd name="adj" fmla="val 3141"/>
            </a:avLst>
          </a:prstGeom>
          <a:solidFill>
            <a:srgbClr val="D2D9F9"/>
          </a:solidFill>
          <a:ln w="4763">
            <a:solidFill>
              <a:srgbClr val="B8BFDF"/>
            </a:solidFill>
            <a:prstDash val="solid"/>
          </a:ln>
        </p:spPr>
      </p:sp>
      <p:sp>
        <p:nvSpPr>
          <p:cNvPr id="10" name="Shape 7"/>
          <p:cNvSpPr/>
          <p:nvPr/>
        </p:nvSpPr>
        <p:spPr>
          <a:xfrm>
            <a:off x="4731544" y="1550566"/>
            <a:ext cx="339923" cy="339923"/>
          </a:xfrm>
          <a:prstGeom prst="roundRect">
            <a:avLst>
              <a:gd name="adj" fmla="val 16810950"/>
            </a:avLst>
          </a:prstGeom>
          <a:solidFill>
            <a:srgbClr val="4967E9"/>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25008" y="1644030"/>
            <a:ext cx="152921" cy="152921"/>
          </a:xfrm>
          <a:prstGeom prst="rect">
            <a:avLst/>
          </a:prstGeom>
        </p:spPr>
      </p:pic>
      <p:sp>
        <p:nvSpPr>
          <p:cNvPr id="12" name="Text 8"/>
          <p:cNvSpPr/>
          <p:nvPr/>
        </p:nvSpPr>
        <p:spPr>
          <a:xfrm>
            <a:off x="4731544" y="1973684"/>
            <a:ext cx="1416472" cy="177105"/>
          </a:xfrm>
          <a:prstGeom prst="rect">
            <a:avLst/>
          </a:prstGeom>
          <a:noFill/>
          <a:ln/>
        </p:spPr>
        <p:txBody>
          <a:bodyPr wrap="none" lIns="0" tIns="0" rIns="0" bIns="0" rtlCol="0" anchor="t"/>
          <a:lstStyle/>
          <a:p>
            <a:pPr algn="l" indent="0" marL="0">
              <a:lnSpc>
                <a:spcPts val="1350"/>
              </a:lnSpc>
              <a:buNone/>
            </a:pPr>
            <a:r>
              <a:rPr lang="en-US" sz="1100" dirty="0">
                <a:solidFill>
                  <a:srgbClr val="404155"/>
                </a:solidFill>
                <a:latin typeface="Corben" pitchFamily="34" charset="0"/>
                <a:ea typeface="Corben" pitchFamily="34" charset="-122"/>
                <a:cs typeface="Corben" pitchFamily="34" charset="-120"/>
              </a:rPr>
              <a:t>Équipe Technique</a:t>
            </a:r>
            <a:endParaRPr lang="en-US" sz="1100" dirty="0"/>
          </a:p>
        </p:txBody>
      </p:sp>
      <p:sp>
        <p:nvSpPr>
          <p:cNvPr id="13" name="Text 9"/>
          <p:cNvSpPr/>
          <p:nvPr/>
        </p:nvSpPr>
        <p:spPr>
          <a:xfrm>
            <a:off x="4731544" y="2200647"/>
            <a:ext cx="2951931" cy="628948"/>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Ma gratitude aux agents visiteurs et techniciens pour leur patience et leur pédagogie lors des explications techniques, essentielles à ma compréhension du métier.</a:t>
            </a:r>
            <a:endParaRPr lang="en-US" sz="850" dirty="0"/>
          </a:p>
        </p:txBody>
      </p:sp>
      <p:sp>
        <p:nvSpPr>
          <p:cNvPr id="14" name="Shape 10"/>
          <p:cNvSpPr/>
          <p:nvPr/>
        </p:nvSpPr>
        <p:spPr>
          <a:xfrm>
            <a:off x="1342430" y="3030810"/>
            <a:ext cx="3187898" cy="1515070"/>
          </a:xfrm>
          <a:prstGeom prst="roundRect">
            <a:avLst>
              <a:gd name="adj" fmla="val 3141"/>
            </a:avLst>
          </a:prstGeom>
          <a:solidFill>
            <a:srgbClr val="D2D9F9"/>
          </a:solidFill>
          <a:ln w="4763">
            <a:solidFill>
              <a:srgbClr val="B8BFDF"/>
            </a:solidFill>
            <a:prstDash val="solid"/>
          </a:ln>
        </p:spPr>
      </p:sp>
      <p:sp>
        <p:nvSpPr>
          <p:cNvPr id="15" name="Shape 11"/>
          <p:cNvSpPr/>
          <p:nvPr/>
        </p:nvSpPr>
        <p:spPr>
          <a:xfrm>
            <a:off x="1460450" y="3148831"/>
            <a:ext cx="339923" cy="339923"/>
          </a:xfrm>
          <a:prstGeom prst="roundRect">
            <a:avLst>
              <a:gd name="adj" fmla="val 16810950"/>
            </a:avLst>
          </a:prstGeom>
          <a:solidFill>
            <a:srgbClr val="4967E9"/>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53914" y="3242295"/>
            <a:ext cx="152921" cy="152921"/>
          </a:xfrm>
          <a:prstGeom prst="rect">
            <a:avLst/>
          </a:prstGeom>
        </p:spPr>
      </p:pic>
      <p:sp>
        <p:nvSpPr>
          <p:cNvPr id="17" name="Text 12"/>
          <p:cNvSpPr/>
          <p:nvPr/>
        </p:nvSpPr>
        <p:spPr>
          <a:xfrm>
            <a:off x="1460450" y="3571949"/>
            <a:ext cx="1508745" cy="177105"/>
          </a:xfrm>
          <a:prstGeom prst="rect">
            <a:avLst/>
          </a:prstGeom>
          <a:noFill/>
          <a:ln/>
        </p:spPr>
        <p:txBody>
          <a:bodyPr wrap="none" lIns="0" tIns="0" rIns="0" bIns="0" rtlCol="0" anchor="t"/>
          <a:lstStyle/>
          <a:p>
            <a:pPr algn="l" indent="0" marL="0">
              <a:lnSpc>
                <a:spcPts val="1350"/>
              </a:lnSpc>
              <a:buNone/>
            </a:pPr>
            <a:r>
              <a:rPr lang="en-US" sz="1100" dirty="0">
                <a:solidFill>
                  <a:srgbClr val="404155"/>
                </a:solidFill>
                <a:latin typeface="Corben" pitchFamily="34" charset="0"/>
                <a:ea typeface="Corben" pitchFamily="34" charset="-122"/>
                <a:cs typeface="Corben" pitchFamily="34" charset="-120"/>
              </a:rPr>
              <a:t>Équipe Administrative</a:t>
            </a:r>
            <a:endParaRPr lang="en-US" sz="1100" dirty="0"/>
          </a:p>
        </p:txBody>
      </p:sp>
      <p:sp>
        <p:nvSpPr>
          <p:cNvPr id="18" name="Text 13"/>
          <p:cNvSpPr/>
          <p:nvPr/>
        </p:nvSpPr>
        <p:spPr>
          <a:xfrm>
            <a:off x="1460450" y="3798912"/>
            <a:ext cx="2951857" cy="471711"/>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Mes remerciements à l'équipe administrative pour leur soutien au quotidien et leur disponibilité pour répondre à mes questions.</a:t>
            </a:r>
            <a:endParaRPr lang="en-US" sz="850" dirty="0"/>
          </a:p>
        </p:txBody>
      </p:sp>
      <p:sp>
        <p:nvSpPr>
          <p:cNvPr id="19" name="Shape 14"/>
          <p:cNvSpPr/>
          <p:nvPr/>
        </p:nvSpPr>
        <p:spPr>
          <a:xfrm>
            <a:off x="4613523" y="3030810"/>
            <a:ext cx="3187973" cy="1515070"/>
          </a:xfrm>
          <a:prstGeom prst="roundRect">
            <a:avLst>
              <a:gd name="adj" fmla="val 3141"/>
            </a:avLst>
          </a:prstGeom>
          <a:solidFill>
            <a:srgbClr val="D2D9F9"/>
          </a:solidFill>
          <a:ln w="4763">
            <a:solidFill>
              <a:srgbClr val="B8BFDF"/>
            </a:solidFill>
            <a:prstDash val="solid"/>
          </a:ln>
        </p:spPr>
      </p:sp>
      <p:sp>
        <p:nvSpPr>
          <p:cNvPr id="20" name="Shape 15"/>
          <p:cNvSpPr/>
          <p:nvPr/>
        </p:nvSpPr>
        <p:spPr>
          <a:xfrm>
            <a:off x="4731544" y="3148831"/>
            <a:ext cx="339923" cy="339923"/>
          </a:xfrm>
          <a:prstGeom prst="roundRect">
            <a:avLst>
              <a:gd name="adj" fmla="val 16810950"/>
            </a:avLst>
          </a:prstGeom>
          <a:solidFill>
            <a:srgbClr val="4967E9"/>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25008" y="3242295"/>
            <a:ext cx="152921" cy="152921"/>
          </a:xfrm>
          <a:prstGeom prst="rect">
            <a:avLst/>
          </a:prstGeom>
        </p:spPr>
      </p:pic>
      <p:sp>
        <p:nvSpPr>
          <p:cNvPr id="22" name="Text 16"/>
          <p:cNvSpPr/>
          <p:nvPr/>
        </p:nvSpPr>
        <p:spPr>
          <a:xfrm>
            <a:off x="4731544" y="3571949"/>
            <a:ext cx="1416472" cy="177105"/>
          </a:xfrm>
          <a:prstGeom prst="rect">
            <a:avLst/>
          </a:prstGeom>
          <a:noFill/>
          <a:ln/>
        </p:spPr>
        <p:txBody>
          <a:bodyPr wrap="none" lIns="0" tIns="0" rIns="0" bIns="0" rtlCol="0" anchor="t"/>
          <a:lstStyle/>
          <a:p>
            <a:pPr algn="l" indent="0" marL="0">
              <a:lnSpc>
                <a:spcPts val="1350"/>
              </a:lnSpc>
              <a:buNone/>
            </a:pPr>
            <a:r>
              <a:rPr lang="en-US" sz="1100" dirty="0">
                <a:solidFill>
                  <a:srgbClr val="404155"/>
                </a:solidFill>
                <a:latin typeface="Corben" pitchFamily="34" charset="0"/>
                <a:ea typeface="Corben" pitchFamily="34" charset="-122"/>
                <a:cs typeface="Corben" pitchFamily="34" charset="-120"/>
              </a:rPr>
              <a:t>Formateurs ISTA</a:t>
            </a:r>
            <a:endParaRPr lang="en-US" sz="1100" dirty="0"/>
          </a:p>
        </p:txBody>
      </p:sp>
      <p:sp>
        <p:nvSpPr>
          <p:cNvPr id="23" name="Text 17"/>
          <p:cNvSpPr/>
          <p:nvPr/>
        </p:nvSpPr>
        <p:spPr>
          <a:xfrm>
            <a:off x="4731544" y="3798912"/>
            <a:ext cx="2951931" cy="628948"/>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Je souhaite remercier mes formateurs et l'ensemble du corps enseignant de l'ISTA/OFPPT pour la solide formation reçue, qui m'a permis de mener à bien ce projet de développement.</a:t>
            </a:r>
            <a:endParaRPr lang="en-US" sz="850" dirty="0"/>
          </a:p>
        </p:txBody>
      </p:sp>
      <p:sp>
        <p:nvSpPr>
          <p:cNvPr id="24" name="Text 18"/>
          <p:cNvSpPr/>
          <p:nvPr/>
        </p:nvSpPr>
        <p:spPr>
          <a:xfrm>
            <a:off x="1342430" y="4639494"/>
            <a:ext cx="6459066" cy="157237"/>
          </a:xfrm>
          <a:prstGeom prst="rect">
            <a:avLst/>
          </a:prstGeom>
          <a:noFill/>
          <a:ln/>
        </p:spPr>
        <p:txBody>
          <a:bodyPr wrap="non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Enfin, je tiens à remercier ma famille pour son soutien moral constant tout au long de cette formation.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5290" y="387921"/>
            <a:ext cx="3518669" cy="429444"/>
          </a:xfrm>
          <a:prstGeom prst="rect">
            <a:avLst/>
          </a:prstGeom>
          <a:noFill/>
          <a:ln/>
        </p:spPr>
        <p:txBody>
          <a:bodyPr wrap="none" lIns="0" tIns="0" rIns="0" bIns="0" rtlCol="0" anchor="t"/>
          <a:lstStyle/>
          <a:p>
            <a:pPr algn="l" indent="0" marL="0">
              <a:lnSpc>
                <a:spcPts val="3350"/>
              </a:lnSpc>
              <a:buNone/>
            </a:pPr>
            <a:r>
              <a:rPr lang="en-US" sz="2700" dirty="0">
                <a:solidFill>
                  <a:srgbClr val="1B1B27"/>
                </a:solidFill>
                <a:latin typeface="Corben" pitchFamily="34" charset="0"/>
                <a:ea typeface="Corben" pitchFamily="34" charset="-122"/>
                <a:cs typeface="Corben" pitchFamily="34" charset="-120"/>
              </a:rPr>
              <a:t>Introduction Générale</a:t>
            </a:r>
            <a:endParaRPr lang="en-US" sz="2700" dirty="0"/>
          </a:p>
        </p:txBody>
      </p:sp>
      <p:sp>
        <p:nvSpPr>
          <p:cNvPr id="3" name="Text 1"/>
          <p:cNvSpPr/>
          <p:nvPr/>
        </p:nvSpPr>
        <p:spPr>
          <a:xfrm>
            <a:off x="655290" y="1123280"/>
            <a:ext cx="1717849" cy="214759"/>
          </a:xfrm>
          <a:prstGeom prst="rect">
            <a:avLst/>
          </a:prstGeom>
          <a:noFill/>
          <a:ln/>
        </p:spPr>
        <p:txBody>
          <a:bodyPr wrap="none" lIns="0" tIns="0" rIns="0" bIns="0" rtlCol="0" anchor="t"/>
          <a:lstStyle/>
          <a:p>
            <a:pPr algn="l" indent="0" marL="0">
              <a:lnSpc>
                <a:spcPts val="1650"/>
              </a:lnSpc>
              <a:buNone/>
            </a:pPr>
            <a:r>
              <a:rPr lang="en-US" sz="1350" dirty="0">
                <a:solidFill>
                  <a:srgbClr val="1B1B27"/>
                </a:solidFill>
                <a:latin typeface="Corben" pitchFamily="34" charset="0"/>
                <a:ea typeface="Corben" pitchFamily="34" charset="-122"/>
                <a:cs typeface="Corben" pitchFamily="34" charset="-120"/>
              </a:rPr>
              <a:t>Le Contexte</a:t>
            </a:r>
            <a:endParaRPr lang="en-US" sz="1350" dirty="0"/>
          </a:p>
        </p:txBody>
      </p:sp>
      <p:sp>
        <p:nvSpPr>
          <p:cNvPr id="4" name="Text 2"/>
          <p:cNvSpPr/>
          <p:nvPr/>
        </p:nvSpPr>
        <p:spPr>
          <a:xfrm>
            <a:off x="655290" y="1460376"/>
            <a:ext cx="3748980" cy="1247031"/>
          </a:xfrm>
          <a:prstGeom prst="rect">
            <a:avLst/>
          </a:prstGeom>
          <a:noFill/>
          <a:ln/>
        </p:spPr>
        <p:txBody>
          <a:bodyPr wrap="square" lIns="0" tIns="0" rIns="0" bIns="0" rtlCol="0" anchor="t"/>
          <a:lstStyle/>
          <a:p>
            <a:pPr algn="l" indent="0" marL="0">
              <a:lnSpc>
                <a:spcPts val="1600"/>
              </a:lnSpc>
              <a:buNone/>
            </a:pPr>
            <a:r>
              <a:rPr lang="en-US" sz="1050" dirty="0">
                <a:solidFill>
                  <a:srgbClr val="404155"/>
                </a:solidFill>
                <a:latin typeface="Nobile" pitchFamily="34" charset="0"/>
                <a:ea typeface="Nobile" pitchFamily="34" charset="-122"/>
                <a:cs typeface="Nobile" pitchFamily="34" charset="-120"/>
              </a:rPr>
              <a:t>Dans le cadre de ma formation en </a:t>
            </a:r>
            <a:pPr algn="l" indent="0" marL="0">
              <a:lnSpc>
                <a:spcPts val="1600"/>
              </a:lnSpc>
              <a:buNone/>
            </a:pPr>
            <a:r>
              <a:rPr lang="en-US" sz="1050" b="1" dirty="0">
                <a:solidFill>
                  <a:srgbClr val="404155"/>
                </a:solidFill>
                <a:latin typeface="Nobile" pitchFamily="34" charset="0"/>
                <a:ea typeface="Nobile" pitchFamily="34" charset="-122"/>
                <a:cs typeface="Nobile" pitchFamily="34" charset="-120"/>
              </a:rPr>
              <a:t>Développement Digital, option Web Full Stack</a:t>
            </a:r>
            <a:pPr algn="l" indent="0" marL="0">
              <a:lnSpc>
                <a:spcPts val="1600"/>
              </a:lnSpc>
              <a:buNone/>
            </a:pPr>
            <a:r>
              <a:rPr lang="en-US" sz="1050" dirty="0">
                <a:solidFill>
                  <a:srgbClr val="404155"/>
                </a:solidFill>
                <a:latin typeface="Nobile" pitchFamily="34" charset="0"/>
                <a:ea typeface="Nobile" pitchFamily="34" charset="-122"/>
                <a:cs typeface="Nobile" pitchFamily="34" charset="-120"/>
              </a:rPr>
              <a:t>, j'ai effectué mon stage de fin d'année au sein du centre de visite technique </a:t>
            </a:r>
            <a:pPr algn="l" indent="0" marL="0">
              <a:lnSpc>
                <a:spcPts val="1600"/>
              </a:lnSpc>
              <a:buNone/>
            </a:pPr>
            <a:r>
              <a:rPr lang="en-US" sz="1050" b="1" dirty="0">
                <a:solidFill>
                  <a:srgbClr val="404155"/>
                </a:solidFill>
                <a:latin typeface="Nobile" pitchFamily="34" charset="0"/>
                <a:ea typeface="Nobile" pitchFamily="34" charset="-122"/>
                <a:cs typeface="Nobile" pitchFamily="34" charset="-120"/>
              </a:rPr>
              <a:t>VITECMA</a:t>
            </a:r>
            <a:pPr algn="l" indent="0" marL="0">
              <a:lnSpc>
                <a:spcPts val="1600"/>
              </a:lnSpc>
              <a:buNone/>
            </a:pPr>
            <a:r>
              <a:rPr lang="en-US" sz="1050" dirty="0">
                <a:solidFill>
                  <a:srgbClr val="404155"/>
                </a:solidFill>
                <a:latin typeface="Nobile" pitchFamily="34" charset="0"/>
                <a:ea typeface="Nobile" pitchFamily="34" charset="-122"/>
                <a:cs typeface="Nobile" pitchFamily="34" charset="-120"/>
              </a:rPr>
              <a:t>, situé dans la zone industrielle d'Ait Melloul, province d'Inzegane-Ait Melloul, et affilié au réseau </a:t>
            </a:r>
            <a:pPr algn="l" indent="0" marL="0">
              <a:lnSpc>
                <a:spcPts val="1600"/>
              </a:lnSpc>
              <a:buNone/>
            </a:pPr>
            <a:r>
              <a:rPr lang="en-US" sz="1050" b="1" dirty="0">
                <a:solidFill>
                  <a:srgbClr val="404155"/>
                </a:solidFill>
                <a:latin typeface="Nobile" pitchFamily="34" charset="0"/>
                <a:ea typeface="Nobile" pitchFamily="34" charset="-122"/>
                <a:cs typeface="Nobile" pitchFamily="34" charset="-120"/>
              </a:rPr>
              <a:t>DEKRA Automotive Maroc</a:t>
            </a:r>
            <a:pPr algn="l" indent="0" marL="0">
              <a:lnSpc>
                <a:spcPts val="1600"/>
              </a:lnSpc>
              <a:buNone/>
            </a:pPr>
            <a:r>
              <a:rPr lang="en-US" sz="1050" dirty="0">
                <a:solidFill>
                  <a:srgbClr val="404155"/>
                </a:solidFill>
                <a:latin typeface="Nobile" pitchFamily="34" charset="0"/>
                <a:ea typeface="Nobile" pitchFamily="34" charset="-122"/>
                <a:cs typeface="Nobile" pitchFamily="34" charset="-120"/>
              </a:rPr>
              <a:t>.</a:t>
            </a:r>
            <a:endParaRPr lang="en-US" sz="1050" dirty="0"/>
          </a:p>
        </p:txBody>
      </p:sp>
      <p:sp>
        <p:nvSpPr>
          <p:cNvPr id="5" name="Text 3"/>
          <p:cNvSpPr/>
          <p:nvPr/>
        </p:nvSpPr>
        <p:spPr>
          <a:xfrm>
            <a:off x="4744343" y="1123280"/>
            <a:ext cx="1717849" cy="214759"/>
          </a:xfrm>
          <a:prstGeom prst="rect">
            <a:avLst/>
          </a:prstGeom>
          <a:noFill/>
          <a:ln/>
        </p:spPr>
        <p:txBody>
          <a:bodyPr wrap="none" lIns="0" tIns="0" rIns="0" bIns="0" rtlCol="0" anchor="t"/>
          <a:lstStyle/>
          <a:p>
            <a:pPr algn="l" indent="0" marL="0">
              <a:lnSpc>
                <a:spcPts val="1650"/>
              </a:lnSpc>
              <a:buNone/>
            </a:pPr>
            <a:r>
              <a:rPr lang="en-US" sz="1350" dirty="0">
                <a:solidFill>
                  <a:srgbClr val="1B1B27"/>
                </a:solidFill>
                <a:latin typeface="Corben" pitchFamily="34" charset="0"/>
                <a:ea typeface="Corben" pitchFamily="34" charset="-122"/>
                <a:cs typeface="Corben" pitchFamily="34" charset="-120"/>
              </a:rPr>
              <a:t>La Mission</a:t>
            </a:r>
            <a:endParaRPr lang="en-US" sz="1350" dirty="0"/>
          </a:p>
        </p:txBody>
      </p:sp>
      <p:sp>
        <p:nvSpPr>
          <p:cNvPr id="6" name="Text 4"/>
          <p:cNvSpPr/>
          <p:nvPr/>
        </p:nvSpPr>
        <p:spPr>
          <a:xfrm>
            <a:off x="4744343" y="1460376"/>
            <a:ext cx="3748980" cy="1454869"/>
          </a:xfrm>
          <a:prstGeom prst="rect">
            <a:avLst/>
          </a:prstGeom>
          <a:noFill/>
          <a:ln/>
        </p:spPr>
        <p:txBody>
          <a:bodyPr wrap="square" lIns="0" tIns="0" rIns="0" bIns="0" rtlCol="0" anchor="t"/>
          <a:lstStyle/>
          <a:p>
            <a:pPr algn="l" indent="0" marL="0">
              <a:lnSpc>
                <a:spcPts val="1600"/>
              </a:lnSpc>
              <a:buNone/>
            </a:pPr>
            <a:r>
              <a:rPr lang="en-US" sz="1050" dirty="0">
                <a:solidFill>
                  <a:srgbClr val="404155"/>
                </a:solidFill>
                <a:latin typeface="Nobile" pitchFamily="34" charset="0"/>
                <a:ea typeface="Nobile" pitchFamily="34" charset="-122"/>
                <a:cs typeface="Nobile" pitchFamily="34" charset="-120"/>
              </a:rPr>
              <a:t>Ce stage m'a offert l'opportunité d'évoluer dans un environnement professionnel réel, au cœur d'un secteur stratégique pour la sécurité routière au Maroc. La visite technique des véhicules constitue en effet un maillon essentiel de la chaîne de sécurité, en garantissant que chaque véhicule en circulation respecte les normes techniques et mécaniques en vigueur.</a:t>
            </a:r>
            <a:endParaRPr lang="en-US" sz="1050" dirty="0"/>
          </a:p>
        </p:txBody>
      </p:sp>
      <p:sp>
        <p:nvSpPr>
          <p:cNvPr id="7" name="Text 5"/>
          <p:cNvSpPr/>
          <p:nvPr/>
        </p:nvSpPr>
        <p:spPr>
          <a:xfrm>
            <a:off x="655290" y="3163044"/>
            <a:ext cx="7833345" cy="831354"/>
          </a:xfrm>
          <a:prstGeom prst="rect">
            <a:avLst/>
          </a:prstGeom>
          <a:noFill/>
          <a:ln/>
        </p:spPr>
        <p:txBody>
          <a:bodyPr wrap="square" lIns="0" tIns="0" rIns="0" bIns="0" rtlCol="0" anchor="t"/>
          <a:lstStyle/>
          <a:p>
            <a:pPr algn="l" indent="0" marL="0">
              <a:lnSpc>
                <a:spcPts val="1600"/>
              </a:lnSpc>
              <a:buNone/>
            </a:pPr>
            <a:r>
              <a:rPr lang="en-US" sz="1050" dirty="0">
                <a:solidFill>
                  <a:srgbClr val="404155"/>
                </a:solidFill>
                <a:latin typeface="Nobile" pitchFamily="34" charset="0"/>
                <a:ea typeface="Nobile" pitchFamily="34" charset="-122"/>
                <a:cs typeface="Nobile" pitchFamily="34" charset="-120"/>
              </a:rPr>
              <a:t>Au fil des semaines passées au sein du centre, j'ai pu observer et comprendre en profondeur les processus opérationnels, identifier les points de friction dans le flux de travail quotidien, et proposer une solution numérique concrète : un tableau de bord interactif développé avec le </a:t>
            </a:r>
            <a:pPr algn="l" indent="0" marL="0">
              <a:lnSpc>
                <a:spcPts val="1600"/>
              </a:lnSpc>
              <a:buNone/>
            </a:pPr>
            <a:r>
              <a:rPr lang="en-US" sz="1050" b="1" dirty="0">
                <a:solidFill>
                  <a:srgbClr val="404155"/>
                </a:solidFill>
                <a:latin typeface="Nobile" pitchFamily="34" charset="0"/>
                <a:ea typeface="Nobile" pitchFamily="34" charset="-122"/>
                <a:cs typeface="Nobile" pitchFamily="34" charset="-120"/>
              </a:rPr>
              <a:t>Framework Laravel</a:t>
            </a:r>
            <a:pPr algn="l" indent="0" marL="0">
              <a:lnSpc>
                <a:spcPts val="1600"/>
              </a:lnSpc>
              <a:buNone/>
            </a:pPr>
            <a:r>
              <a:rPr lang="en-US" sz="1050" dirty="0">
                <a:solidFill>
                  <a:srgbClr val="404155"/>
                </a:solidFill>
                <a:latin typeface="Nobile" pitchFamily="34" charset="0"/>
                <a:ea typeface="Nobile" pitchFamily="34" charset="-122"/>
                <a:cs typeface="Nobile" pitchFamily="34" charset="-120"/>
              </a:rPr>
              <a:t>, permettant de gérer en temps réel la file d'attente des véhicules et d'optimiser le flux des inspections.</a:t>
            </a:r>
            <a:endParaRPr lang="en-US" sz="1050" dirty="0"/>
          </a:p>
        </p:txBody>
      </p:sp>
      <p:sp>
        <p:nvSpPr>
          <p:cNvPr id="8" name="Text 6"/>
          <p:cNvSpPr/>
          <p:nvPr/>
        </p:nvSpPr>
        <p:spPr>
          <a:xfrm>
            <a:off x="655290" y="4132064"/>
            <a:ext cx="7833345" cy="623515"/>
          </a:xfrm>
          <a:prstGeom prst="rect">
            <a:avLst/>
          </a:prstGeom>
          <a:noFill/>
          <a:ln/>
        </p:spPr>
        <p:txBody>
          <a:bodyPr wrap="square" lIns="0" tIns="0" rIns="0" bIns="0" rtlCol="0" anchor="t"/>
          <a:lstStyle/>
          <a:p>
            <a:pPr algn="l" indent="0" marL="0">
              <a:lnSpc>
                <a:spcPts val="1600"/>
              </a:lnSpc>
              <a:buNone/>
            </a:pPr>
            <a:r>
              <a:rPr lang="en-US" sz="1050" dirty="0">
                <a:solidFill>
                  <a:srgbClr val="404155"/>
                </a:solidFill>
                <a:latin typeface="Nobile" pitchFamily="34" charset="0"/>
                <a:ea typeface="Nobile" pitchFamily="34" charset="-122"/>
                <a:cs typeface="Nobile" pitchFamily="34" charset="-120"/>
              </a:rPr>
              <a:t>Le présent rapport retrace l'ensemble de cette expérience, depuis la découverte du cadre institutionnel et réglementaire de la visite technique au Maroc jusqu'à la description technique détaillée du projet réalisé, en passant par les perspectives d'avenir de ce secteur en pleine transformation numérique.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754758" y="286196"/>
            <a:ext cx="3397151" cy="308893"/>
          </a:xfrm>
          <a:prstGeom prst="rect">
            <a:avLst/>
          </a:prstGeom>
          <a:noFill/>
          <a:ln/>
        </p:spPr>
        <p:txBody>
          <a:bodyPr wrap="none" lIns="0" tIns="0" rIns="0" bIns="0" rtlCol="0" anchor="t"/>
          <a:lstStyle/>
          <a:p>
            <a:pPr algn="l" indent="0" marL="0">
              <a:lnSpc>
                <a:spcPts val="2400"/>
              </a:lnSpc>
              <a:buNone/>
            </a:pPr>
            <a:r>
              <a:rPr lang="en-US" sz="1900" dirty="0">
                <a:solidFill>
                  <a:srgbClr val="1B1B27"/>
                </a:solidFill>
                <a:latin typeface="Corben" pitchFamily="34" charset="0"/>
                <a:ea typeface="Corben" pitchFamily="34" charset="-122"/>
                <a:cs typeface="Corben" pitchFamily="34" charset="-120"/>
              </a:rPr>
              <a:t>La Visite Technique au Maroc</a:t>
            </a:r>
            <a:endParaRPr lang="en-US" sz="1900" dirty="0"/>
          </a:p>
        </p:txBody>
      </p:sp>
      <p:sp>
        <p:nvSpPr>
          <p:cNvPr id="3" name="Text 1"/>
          <p:cNvSpPr/>
          <p:nvPr/>
        </p:nvSpPr>
        <p:spPr>
          <a:xfrm>
            <a:off x="1754758" y="620390"/>
            <a:ext cx="1886024" cy="154484"/>
          </a:xfrm>
          <a:prstGeom prst="rect">
            <a:avLst/>
          </a:prstGeom>
          <a:noFill/>
          <a:ln/>
        </p:spPr>
        <p:txBody>
          <a:bodyPr wrap="none" lIns="0" tIns="0" rIns="0" bIns="0" rtlCol="0" anchor="t"/>
          <a:lstStyle/>
          <a:p>
            <a:pPr algn="l" indent="0" marL="0">
              <a:lnSpc>
                <a:spcPts val="1200"/>
              </a:lnSpc>
              <a:buNone/>
            </a:pPr>
            <a:r>
              <a:rPr lang="en-US" sz="950" dirty="0">
                <a:solidFill>
                  <a:srgbClr val="1B1B27"/>
                </a:solidFill>
                <a:latin typeface="Corben" pitchFamily="34" charset="0"/>
                <a:ea typeface="Corben" pitchFamily="34" charset="-122"/>
                <a:cs typeface="Corben" pitchFamily="34" charset="-120"/>
              </a:rPr>
              <a:t>Contexte et Cadre Règlementaire</a:t>
            </a:r>
            <a:endParaRPr lang="en-US" sz="950" dirty="0"/>
          </a:p>
        </p:txBody>
      </p:sp>
      <p:sp>
        <p:nvSpPr>
          <p:cNvPr id="4" name="Text 2"/>
          <p:cNvSpPr/>
          <p:nvPr/>
        </p:nvSpPr>
        <p:spPr>
          <a:xfrm>
            <a:off x="1754758" y="869826"/>
            <a:ext cx="5634484" cy="389111"/>
          </a:xfrm>
          <a:prstGeom prst="rect">
            <a:avLst/>
          </a:prstGeom>
          <a:noFill/>
          <a:ln/>
        </p:spPr>
        <p:txBody>
          <a:bodyPr wrap="square" lIns="0" tIns="0" rIns="0" bIns="0" rtlCol="0" anchor="t"/>
          <a:lstStyle/>
          <a:p>
            <a:pPr algn="l" indent="0" marL="0">
              <a:lnSpc>
                <a:spcPts val="1000"/>
              </a:lnSpc>
              <a:buNone/>
            </a:pPr>
            <a:r>
              <a:rPr lang="en-US" sz="750" dirty="0">
                <a:solidFill>
                  <a:srgbClr val="404155"/>
                </a:solidFill>
                <a:latin typeface="Nobile" pitchFamily="34" charset="0"/>
                <a:ea typeface="Nobile" pitchFamily="34" charset="-122"/>
                <a:cs typeface="Nobile" pitchFamily="34" charset="-120"/>
              </a:rPr>
              <a:t>La visite technique des véhicules au Maroc est une obligation légale encadrée principalement par la loi </a:t>
            </a:r>
            <a:pPr algn="l" indent="0" marL="0">
              <a:lnSpc>
                <a:spcPts val="1000"/>
              </a:lnSpc>
              <a:buNone/>
            </a:pPr>
            <a:r>
              <a:rPr lang="en-US" sz="750" b="1" dirty="0">
                <a:solidFill>
                  <a:srgbClr val="404155"/>
                </a:solidFill>
                <a:latin typeface="Nobile" pitchFamily="34" charset="0"/>
                <a:ea typeface="Nobile" pitchFamily="34" charset="-122"/>
                <a:cs typeface="Nobile" pitchFamily="34" charset="-120"/>
              </a:rPr>
              <a:t>n° 52-05</a:t>
            </a:r>
            <a:pPr algn="l" indent="0" marL="0">
              <a:lnSpc>
                <a:spcPts val="1000"/>
              </a:lnSpc>
              <a:buNone/>
            </a:pPr>
            <a:r>
              <a:rPr lang="en-US" sz="750" dirty="0">
                <a:solidFill>
                  <a:srgbClr val="404155"/>
                </a:solidFill>
                <a:latin typeface="Nobile" pitchFamily="34" charset="0"/>
                <a:ea typeface="Nobile" pitchFamily="34" charset="-122"/>
                <a:cs typeface="Nobile" pitchFamily="34" charset="-120"/>
              </a:rPr>
              <a:t> portant Code de la route et ses textes d'application. Cette procédure vise à vérifier la conformité des véhicules aux conditions règlementaires en vigueur et à s'assurer qu'ils sont aptes à circuler sur la voie publique en toute sécurité.</a:t>
            </a:r>
            <a:endParaRPr lang="en-US" sz="750" dirty="0"/>
          </a:p>
        </p:txBody>
      </p:sp>
      <p:sp>
        <p:nvSpPr>
          <p:cNvPr id="5" name="Text 3"/>
          <p:cNvSpPr/>
          <p:nvPr/>
        </p:nvSpPr>
        <p:spPr>
          <a:xfrm>
            <a:off x="1754758" y="1330151"/>
            <a:ext cx="197644" cy="123527"/>
          </a:xfrm>
          <a:prstGeom prst="rect">
            <a:avLst/>
          </a:prstGeom>
          <a:noFill/>
          <a:ln/>
        </p:spPr>
        <p:txBody>
          <a:bodyPr wrap="none" lIns="0" tIns="0" rIns="0" bIns="0" rtlCol="0" anchor="ctr"/>
          <a:lstStyle/>
          <a:p>
            <a:pPr algn="l" indent="0" marL="0">
              <a:lnSpc>
                <a:spcPct val="100000"/>
              </a:lnSpc>
              <a:buNone/>
            </a:pPr>
            <a:r>
              <a:rPr lang="en-US" sz="750" dirty="0">
                <a:solidFill>
                  <a:srgbClr val="404155"/>
                </a:solidFill>
                <a:latin typeface="Corben Light" pitchFamily="34" charset="0"/>
                <a:ea typeface="Corben Light" pitchFamily="34" charset="-122"/>
                <a:cs typeface="Corben Light" pitchFamily="34" charset="-120"/>
              </a:rPr>
              <a:t>01</a:t>
            </a:r>
            <a:endParaRPr lang="en-US" sz="750" dirty="0"/>
          </a:p>
        </p:txBody>
      </p:sp>
      <p:sp>
        <p:nvSpPr>
          <p:cNvPr id="6" name="Shape 4"/>
          <p:cNvSpPr/>
          <p:nvPr/>
        </p:nvSpPr>
        <p:spPr>
          <a:xfrm>
            <a:off x="1754758" y="1483816"/>
            <a:ext cx="1835944" cy="14288"/>
          </a:xfrm>
          <a:prstGeom prst="rect">
            <a:avLst/>
          </a:prstGeom>
          <a:solidFill>
            <a:srgbClr val="4967E9"/>
          </a:solidFill>
          <a:ln/>
        </p:spPr>
      </p:sp>
      <p:sp>
        <p:nvSpPr>
          <p:cNvPr id="7" name="Text 5"/>
          <p:cNvSpPr/>
          <p:nvPr/>
        </p:nvSpPr>
        <p:spPr>
          <a:xfrm>
            <a:off x="1754758" y="1561802"/>
            <a:ext cx="1235646" cy="154484"/>
          </a:xfrm>
          <a:prstGeom prst="rect">
            <a:avLst/>
          </a:prstGeom>
          <a:noFill/>
          <a:ln/>
        </p:spPr>
        <p:txBody>
          <a:bodyPr wrap="none" lIns="0" tIns="0" rIns="0" bIns="0" rtlCol="0" anchor="t"/>
          <a:lstStyle/>
          <a:p>
            <a:pPr algn="l" indent="0" marL="0">
              <a:lnSpc>
                <a:spcPts val="1200"/>
              </a:lnSpc>
              <a:buNone/>
            </a:pPr>
            <a:r>
              <a:rPr lang="en-US" sz="950" dirty="0">
                <a:solidFill>
                  <a:srgbClr val="404155"/>
                </a:solidFill>
                <a:latin typeface="Corben" pitchFamily="34" charset="0"/>
                <a:ea typeface="Corben" pitchFamily="34" charset="-122"/>
                <a:cs typeface="Corben" pitchFamily="34" charset="-120"/>
              </a:rPr>
              <a:t>Agence NARSA</a:t>
            </a:r>
            <a:endParaRPr lang="en-US" sz="950" dirty="0"/>
          </a:p>
        </p:txBody>
      </p:sp>
      <p:sp>
        <p:nvSpPr>
          <p:cNvPr id="8" name="Text 6"/>
          <p:cNvSpPr/>
          <p:nvPr/>
        </p:nvSpPr>
        <p:spPr>
          <a:xfrm>
            <a:off x="1754758" y="1754237"/>
            <a:ext cx="1835944" cy="648519"/>
          </a:xfrm>
          <a:prstGeom prst="rect">
            <a:avLst/>
          </a:prstGeom>
          <a:noFill/>
          <a:ln/>
        </p:spPr>
        <p:txBody>
          <a:bodyPr wrap="square" lIns="0" tIns="0" rIns="0" bIns="0" rtlCol="0" anchor="t"/>
          <a:lstStyle/>
          <a:p>
            <a:pPr algn="l" indent="0" marL="0">
              <a:lnSpc>
                <a:spcPts val="1000"/>
              </a:lnSpc>
              <a:buNone/>
            </a:pPr>
            <a:r>
              <a:rPr lang="en-US" sz="750" dirty="0">
                <a:solidFill>
                  <a:srgbClr val="404155"/>
                </a:solidFill>
                <a:latin typeface="Nobile" pitchFamily="34" charset="0"/>
                <a:ea typeface="Nobile" pitchFamily="34" charset="-122"/>
                <a:cs typeface="Nobile" pitchFamily="34" charset="-120"/>
              </a:rPr>
              <a:t>L'Agence Nationale de la Sécurité Routière, placée sous la tutelle du Ministère du Transport et de la Logistique, est l'autorité de régulation du secteur.</a:t>
            </a:r>
            <a:endParaRPr lang="en-US" sz="750" dirty="0"/>
          </a:p>
        </p:txBody>
      </p:sp>
      <p:sp>
        <p:nvSpPr>
          <p:cNvPr id="9" name="Text 7"/>
          <p:cNvSpPr/>
          <p:nvPr/>
        </p:nvSpPr>
        <p:spPr>
          <a:xfrm>
            <a:off x="3654028" y="1330151"/>
            <a:ext cx="197644" cy="123527"/>
          </a:xfrm>
          <a:prstGeom prst="rect">
            <a:avLst/>
          </a:prstGeom>
          <a:noFill/>
          <a:ln/>
        </p:spPr>
        <p:txBody>
          <a:bodyPr wrap="none" lIns="0" tIns="0" rIns="0" bIns="0" rtlCol="0" anchor="ctr"/>
          <a:lstStyle/>
          <a:p>
            <a:pPr algn="l" indent="0" marL="0">
              <a:lnSpc>
                <a:spcPct val="100000"/>
              </a:lnSpc>
              <a:buNone/>
            </a:pPr>
            <a:r>
              <a:rPr lang="en-US" sz="750" dirty="0">
                <a:solidFill>
                  <a:srgbClr val="404155"/>
                </a:solidFill>
                <a:latin typeface="Corben Light" pitchFamily="34" charset="0"/>
                <a:ea typeface="Corben Light" pitchFamily="34" charset="-122"/>
                <a:cs typeface="Corben Light" pitchFamily="34" charset="-120"/>
              </a:rPr>
              <a:t>02</a:t>
            </a:r>
            <a:endParaRPr lang="en-US" sz="750" dirty="0"/>
          </a:p>
        </p:txBody>
      </p:sp>
      <p:sp>
        <p:nvSpPr>
          <p:cNvPr id="10" name="Shape 8"/>
          <p:cNvSpPr/>
          <p:nvPr/>
        </p:nvSpPr>
        <p:spPr>
          <a:xfrm>
            <a:off x="3654028" y="1483816"/>
            <a:ext cx="1835944" cy="14288"/>
          </a:xfrm>
          <a:prstGeom prst="rect">
            <a:avLst/>
          </a:prstGeom>
          <a:solidFill>
            <a:srgbClr val="4967E9"/>
          </a:solidFill>
          <a:ln/>
        </p:spPr>
      </p:sp>
      <p:sp>
        <p:nvSpPr>
          <p:cNvPr id="11" name="Text 9"/>
          <p:cNvSpPr/>
          <p:nvPr/>
        </p:nvSpPr>
        <p:spPr>
          <a:xfrm>
            <a:off x="3654028" y="1561802"/>
            <a:ext cx="1235646" cy="154484"/>
          </a:xfrm>
          <a:prstGeom prst="rect">
            <a:avLst/>
          </a:prstGeom>
          <a:noFill/>
          <a:ln/>
        </p:spPr>
        <p:txBody>
          <a:bodyPr wrap="none" lIns="0" tIns="0" rIns="0" bIns="0" rtlCol="0" anchor="t"/>
          <a:lstStyle/>
          <a:p>
            <a:pPr algn="l" indent="0" marL="0">
              <a:lnSpc>
                <a:spcPts val="1200"/>
              </a:lnSpc>
              <a:buNone/>
            </a:pPr>
            <a:r>
              <a:rPr lang="en-US" sz="950" dirty="0">
                <a:solidFill>
                  <a:srgbClr val="404155"/>
                </a:solidFill>
                <a:latin typeface="Corben" pitchFamily="34" charset="0"/>
                <a:ea typeface="Corben" pitchFamily="34" charset="-122"/>
                <a:cs typeface="Corben" pitchFamily="34" charset="-120"/>
              </a:rPr>
              <a:t>Normes et Standards</a:t>
            </a:r>
            <a:endParaRPr lang="en-US" sz="950" dirty="0"/>
          </a:p>
        </p:txBody>
      </p:sp>
      <p:sp>
        <p:nvSpPr>
          <p:cNvPr id="12" name="Text 10"/>
          <p:cNvSpPr/>
          <p:nvPr/>
        </p:nvSpPr>
        <p:spPr>
          <a:xfrm>
            <a:off x="3654028" y="1754237"/>
            <a:ext cx="1835944" cy="518815"/>
          </a:xfrm>
          <a:prstGeom prst="rect">
            <a:avLst/>
          </a:prstGeom>
          <a:noFill/>
          <a:ln/>
        </p:spPr>
        <p:txBody>
          <a:bodyPr wrap="square" lIns="0" tIns="0" rIns="0" bIns="0" rtlCol="0" anchor="t"/>
          <a:lstStyle/>
          <a:p>
            <a:pPr algn="l" indent="0" marL="0">
              <a:lnSpc>
                <a:spcPts val="1000"/>
              </a:lnSpc>
              <a:buNone/>
            </a:pPr>
            <a:r>
              <a:rPr lang="en-US" sz="750" dirty="0">
                <a:solidFill>
                  <a:srgbClr val="404155"/>
                </a:solidFill>
                <a:latin typeface="Nobile" pitchFamily="34" charset="0"/>
                <a:ea typeface="Nobile" pitchFamily="34" charset="-122"/>
                <a:cs typeface="Nobile" pitchFamily="34" charset="-120"/>
              </a:rPr>
              <a:t>Elle fixe les normes, délivre les agréments aux centres, supervise la qualité des contrôles et gère le portail national de prise de rendez-vous.</a:t>
            </a:r>
            <a:endParaRPr lang="en-US" sz="750" dirty="0"/>
          </a:p>
        </p:txBody>
      </p:sp>
      <p:sp>
        <p:nvSpPr>
          <p:cNvPr id="13" name="Text 11"/>
          <p:cNvSpPr/>
          <p:nvPr/>
        </p:nvSpPr>
        <p:spPr>
          <a:xfrm>
            <a:off x="5553298" y="1330151"/>
            <a:ext cx="197644" cy="123527"/>
          </a:xfrm>
          <a:prstGeom prst="rect">
            <a:avLst/>
          </a:prstGeom>
          <a:noFill/>
          <a:ln/>
        </p:spPr>
        <p:txBody>
          <a:bodyPr wrap="none" lIns="0" tIns="0" rIns="0" bIns="0" rtlCol="0" anchor="ctr"/>
          <a:lstStyle/>
          <a:p>
            <a:pPr algn="l" indent="0" marL="0">
              <a:lnSpc>
                <a:spcPct val="100000"/>
              </a:lnSpc>
              <a:buNone/>
            </a:pPr>
            <a:r>
              <a:rPr lang="en-US" sz="750" dirty="0">
                <a:solidFill>
                  <a:srgbClr val="404155"/>
                </a:solidFill>
                <a:latin typeface="Corben Light" pitchFamily="34" charset="0"/>
                <a:ea typeface="Corben Light" pitchFamily="34" charset="-122"/>
                <a:cs typeface="Corben Light" pitchFamily="34" charset="-120"/>
              </a:rPr>
              <a:t>03</a:t>
            </a:r>
            <a:endParaRPr lang="en-US" sz="750" dirty="0"/>
          </a:p>
        </p:txBody>
      </p:sp>
      <p:sp>
        <p:nvSpPr>
          <p:cNvPr id="14" name="Shape 12"/>
          <p:cNvSpPr/>
          <p:nvPr/>
        </p:nvSpPr>
        <p:spPr>
          <a:xfrm>
            <a:off x="5553298" y="1483816"/>
            <a:ext cx="1835944" cy="14288"/>
          </a:xfrm>
          <a:prstGeom prst="rect">
            <a:avLst/>
          </a:prstGeom>
          <a:solidFill>
            <a:srgbClr val="4967E9"/>
          </a:solidFill>
          <a:ln/>
        </p:spPr>
      </p:sp>
      <p:sp>
        <p:nvSpPr>
          <p:cNvPr id="15" name="Text 13"/>
          <p:cNvSpPr/>
          <p:nvPr/>
        </p:nvSpPr>
        <p:spPr>
          <a:xfrm>
            <a:off x="5553298" y="1561802"/>
            <a:ext cx="1235646" cy="154484"/>
          </a:xfrm>
          <a:prstGeom prst="rect">
            <a:avLst/>
          </a:prstGeom>
          <a:noFill/>
          <a:ln/>
        </p:spPr>
        <p:txBody>
          <a:bodyPr wrap="none" lIns="0" tIns="0" rIns="0" bIns="0" rtlCol="0" anchor="t"/>
          <a:lstStyle/>
          <a:p>
            <a:pPr algn="l" indent="0" marL="0">
              <a:lnSpc>
                <a:spcPts val="1200"/>
              </a:lnSpc>
              <a:buNone/>
            </a:pPr>
            <a:r>
              <a:rPr lang="en-US" sz="950" dirty="0">
                <a:solidFill>
                  <a:srgbClr val="404155"/>
                </a:solidFill>
                <a:latin typeface="Corben" pitchFamily="34" charset="0"/>
                <a:ea typeface="Corben" pitchFamily="34" charset="-122"/>
                <a:cs typeface="Corben" pitchFamily="34" charset="-120"/>
              </a:rPr>
              <a:t>Centres Agréés</a:t>
            </a:r>
            <a:endParaRPr lang="en-US" sz="950" dirty="0"/>
          </a:p>
        </p:txBody>
      </p:sp>
      <p:sp>
        <p:nvSpPr>
          <p:cNvPr id="16" name="Text 14"/>
          <p:cNvSpPr/>
          <p:nvPr/>
        </p:nvSpPr>
        <p:spPr>
          <a:xfrm>
            <a:off x="5553298" y="1754237"/>
            <a:ext cx="1835944" cy="648519"/>
          </a:xfrm>
          <a:prstGeom prst="rect">
            <a:avLst/>
          </a:prstGeom>
          <a:noFill/>
          <a:ln/>
        </p:spPr>
        <p:txBody>
          <a:bodyPr wrap="square" lIns="0" tIns="0" rIns="0" bIns="0" rtlCol="0" anchor="t"/>
          <a:lstStyle/>
          <a:p>
            <a:pPr algn="l" indent="0" marL="0">
              <a:lnSpc>
                <a:spcPts val="1000"/>
              </a:lnSpc>
              <a:buNone/>
            </a:pPr>
            <a:r>
              <a:rPr lang="en-US" sz="750" dirty="0">
                <a:solidFill>
                  <a:srgbClr val="404155"/>
                </a:solidFill>
                <a:latin typeface="Nobile" pitchFamily="34" charset="0"/>
                <a:ea typeface="Nobile" pitchFamily="34" charset="-122"/>
                <a:cs typeface="Nobile" pitchFamily="34" charset="-120"/>
              </a:rPr>
              <a:t>Les opérateurs privés agréés organisent les centres en réseaux nationaux, garantissant professionnalisation et conformité réglementaire.</a:t>
            </a:r>
            <a:endParaRPr lang="en-US" sz="750" dirty="0"/>
          </a:p>
        </p:txBody>
      </p:sp>
      <p:sp>
        <p:nvSpPr>
          <p:cNvPr id="17" name="Text 15"/>
          <p:cNvSpPr/>
          <p:nvPr/>
        </p:nvSpPr>
        <p:spPr>
          <a:xfrm>
            <a:off x="1754758" y="2597497"/>
            <a:ext cx="1825377" cy="326157"/>
          </a:xfrm>
          <a:prstGeom prst="rect">
            <a:avLst/>
          </a:prstGeom>
          <a:noFill/>
          <a:ln/>
        </p:spPr>
        <p:txBody>
          <a:bodyPr wrap="none" lIns="0" tIns="0" rIns="0" bIns="0" rtlCol="0" anchor="t"/>
          <a:lstStyle/>
          <a:p>
            <a:pPr algn="ctr" indent="0" marL="0">
              <a:lnSpc>
                <a:spcPts val="2550"/>
              </a:lnSpc>
              <a:buNone/>
            </a:pPr>
            <a:r>
              <a:rPr lang="en-US" sz="2550" dirty="0">
                <a:solidFill>
                  <a:srgbClr val="404155"/>
                </a:solidFill>
                <a:latin typeface="Corben" pitchFamily="34" charset="0"/>
                <a:ea typeface="Corben" pitchFamily="34" charset="-122"/>
                <a:cs typeface="Corben" pitchFamily="34" charset="-120"/>
              </a:rPr>
              <a:t>77</a:t>
            </a:r>
            <a:endParaRPr lang="en-US" sz="2550" dirty="0"/>
          </a:p>
        </p:txBody>
      </p:sp>
      <p:sp>
        <p:nvSpPr>
          <p:cNvPr id="18" name="Text 16"/>
          <p:cNvSpPr/>
          <p:nvPr/>
        </p:nvSpPr>
        <p:spPr>
          <a:xfrm>
            <a:off x="2049587" y="3020541"/>
            <a:ext cx="1235646" cy="154484"/>
          </a:xfrm>
          <a:prstGeom prst="rect">
            <a:avLst/>
          </a:prstGeom>
          <a:noFill/>
          <a:ln/>
        </p:spPr>
        <p:txBody>
          <a:bodyPr wrap="none" lIns="0" tIns="0" rIns="0" bIns="0" rtlCol="0" anchor="t"/>
          <a:lstStyle/>
          <a:p>
            <a:pPr algn="ctr" indent="0" marL="0">
              <a:lnSpc>
                <a:spcPts val="1200"/>
              </a:lnSpc>
              <a:buNone/>
            </a:pPr>
            <a:r>
              <a:rPr lang="en-US" sz="950" dirty="0">
                <a:solidFill>
                  <a:srgbClr val="404155"/>
                </a:solidFill>
                <a:latin typeface="Corben" pitchFamily="34" charset="0"/>
                <a:ea typeface="Corben" pitchFamily="34" charset="-122"/>
                <a:cs typeface="Corben" pitchFamily="34" charset="-120"/>
              </a:rPr>
              <a:t>Points de Contrôle</a:t>
            </a:r>
            <a:endParaRPr lang="en-US" sz="950" dirty="0"/>
          </a:p>
        </p:txBody>
      </p:sp>
      <p:sp>
        <p:nvSpPr>
          <p:cNvPr id="19" name="Text 17"/>
          <p:cNvSpPr/>
          <p:nvPr/>
        </p:nvSpPr>
        <p:spPr>
          <a:xfrm>
            <a:off x="1754758" y="3212976"/>
            <a:ext cx="1825377" cy="259407"/>
          </a:xfrm>
          <a:prstGeom prst="rect">
            <a:avLst/>
          </a:prstGeom>
          <a:noFill/>
          <a:ln/>
        </p:spPr>
        <p:txBody>
          <a:bodyPr wrap="square" lIns="0" tIns="0" rIns="0" bIns="0" rtlCol="0" anchor="t"/>
          <a:lstStyle/>
          <a:p>
            <a:pPr algn="ctr" indent="0" marL="0">
              <a:lnSpc>
                <a:spcPts val="1000"/>
              </a:lnSpc>
              <a:buNone/>
            </a:pPr>
            <a:r>
              <a:rPr lang="en-US" sz="750" dirty="0">
                <a:solidFill>
                  <a:srgbClr val="404155"/>
                </a:solidFill>
                <a:latin typeface="Nobile" pitchFamily="34" charset="0"/>
                <a:ea typeface="Nobile" pitchFamily="34" charset="-122"/>
                <a:cs typeface="Nobile" pitchFamily="34" charset="-120"/>
              </a:rPr>
              <a:t>Inspection complète des systèmes essentiels du véhicule</a:t>
            </a:r>
            <a:endParaRPr lang="en-US" sz="750" dirty="0"/>
          </a:p>
        </p:txBody>
      </p:sp>
      <p:sp>
        <p:nvSpPr>
          <p:cNvPr id="20" name="Text 18"/>
          <p:cNvSpPr/>
          <p:nvPr/>
        </p:nvSpPr>
        <p:spPr>
          <a:xfrm>
            <a:off x="3659237" y="2597497"/>
            <a:ext cx="1825451" cy="326157"/>
          </a:xfrm>
          <a:prstGeom prst="rect">
            <a:avLst/>
          </a:prstGeom>
          <a:noFill/>
          <a:ln/>
        </p:spPr>
        <p:txBody>
          <a:bodyPr wrap="none" lIns="0" tIns="0" rIns="0" bIns="0" rtlCol="0" anchor="t"/>
          <a:lstStyle/>
          <a:p>
            <a:pPr algn="ctr" indent="0" marL="0">
              <a:lnSpc>
                <a:spcPts val="2550"/>
              </a:lnSpc>
              <a:buNone/>
            </a:pPr>
            <a:r>
              <a:rPr lang="en-US" sz="2550" dirty="0">
                <a:solidFill>
                  <a:srgbClr val="404155"/>
                </a:solidFill>
                <a:latin typeface="Corben" pitchFamily="34" charset="0"/>
                <a:ea typeface="Corben" pitchFamily="34" charset="-122"/>
                <a:cs typeface="Corben" pitchFamily="34" charset="-120"/>
              </a:rPr>
              <a:t>420</a:t>
            </a:r>
            <a:endParaRPr lang="en-US" sz="2550" dirty="0"/>
          </a:p>
        </p:txBody>
      </p:sp>
      <p:sp>
        <p:nvSpPr>
          <p:cNvPr id="21" name="Text 19"/>
          <p:cNvSpPr/>
          <p:nvPr/>
        </p:nvSpPr>
        <p:spPr>
          <a:xfrm>
            <a:off x="3954140" y="3020541"/>
            <a:ext cx="1235646" cy="154484"/>
          </a:xfrm>
          <a:prstGeom prst="rect">
            <a:avLst/>
          </a:prstGeom>
          <a:noFill/>
          <a:ln/>
        </p:spPr>
        <p:txBody>
          <a:bodyPr wrap="none" lIns="0" tIns="0" rIns="0" bIns="0" rtlCol="0" anchor="t"/>
          <a:lstStyle/>
          <a:p>
            <a:pPr algn="ctr" indent="0" marL="0">
              <a:lnSpc>
                <a:spcPts val="1200"/>
              </a:lnSpc>
              <a:buNone/>
            </a:pPr>
            <a:r>
              <a:rPr lang="en-US" sz="950" dirty="0">
                <a:solidFill>
                  <a:srgbClr val="404155"/>
                </a:solidFill>
                <a:latin typeface="Corben" pitchFamily="34" charset="0"/>
                <a:ea typeface="Corben" pitchFamily="34" charset="-122"/>
                <a:cs typeface="Corben" pitchFamily="34" charset="-120"/>
              </a:rPr>
              <a:t>Centres Actifs</a:t>
            </a:r>
            <a:endParaRPr lang="en-US" sz="950" dirty="0"/>
          </a:p>
        </p:txBody>
      </p:sp>
      <p:sp>
        <p:nvSpPr>
          <p:cNvPr id="22" name="Text 20"/>
          <p:cNvSpPr/>
          <p:nvPr/>
        </p:nvSpPr>
        <p:spPr>
          <a:xfrm>
            <a:off x="3659237" y="3212976"/>
            <a:ext cx="1825451" cy="259407"/>
          </a:xfrm>
          <a:prstGeom prst="rect">
            <a:avLst/>
          </a:prstGeom>
          <a:noFill/>
          <a:ln/>
        </p:spPr>
        <p:txBody>
          <a:bodyPr wrap="square" lIns="0" tIns="0" rIns="0" bIns="0" rtlCol="0" anchor="t"/>
          <a:lstStyle/>
          <a:p>
            <a:pPr algn="ctr" indent="0" marL="0">
              <a:lnSpc>
                <a:spcPts val="1000"/>
              </a:lnSpc>
              <a:buNone/>
            </a:pPr>
            <a:r>
              <a:rPr lang="en-US" sz="750" dirty="0">
                <a:solidFill>
                  <a:srgbClr val="404155"/>
                </a:solidFill>
                <a:latin typeface="Nobile" pitchFamily="34" charset="0"/>
                <a:ea typeface="Nobile" pitchFamily="34" charset="-122"/>
                <a:cs typeface="Nobile" pitchFamily="34" charset="-120"/>
              </a:rPr>
              <a:t>Implantés sur l'ensemble du territoire national</a:t>
            </a:r>
            <a:endParaRPr lang="en-US" sz="750" dirty="0"/>
          </a:p>
        </p:txBody>
      </p:sp>
      <p:sp>
        <p:nvSpPr>
          <p:cNvPr id="23" name="Text 21"/>
          <p:cNvSpPr/>
          <p:nvPr/>
        </p:nvSpPr>
        <p:spPr>
          <a:xfrm>
            <a:off x="5563791" y="2597497"/>
            <a:ext cx="1825377" cy="326157"/>
          </a:xfrm>
          <a:prstGeom prst="rect">
            <a:avLst/>
          </a:prstGeom>
          <a:noFill/>
          <a:ln/>
        </p:spPr>
        <p:txBody>
          <a:bodyPr wrap="none" lIns="0" tIns="0" rIns="0" bIns="0" rtlCol="0" anchor="t"/>
          <a:lstStyle/>
          <a:p>
            <a:pPr algn="ctr" indent="0" marL="0">
              <a:lnSpc>
                <a:spcPts val="2550"/>
              </a:lnSpc>
              <a:buNone/>
            </a:pPr>
            <a:r>
              <a:rPr lang="en-US" sz="2550" dirty="0">
                <a:solidFill>
                  <a:srgbClr val="404155"/>
                </a:solidFill>
                <a:latin typeface="Corben" pitchFamily="34" charset="0"/>
                <a:ea typeface="Corben" pitchFamily="34" charset="-122"/>
                <a:cs typeface="Corben" pitchFamily="34" charset="-120"/>
              </a:rPr>
              <a:t>600</a:t>
            </a:r>
            <a:endParaRPr lang="en-US" sz="2550" dirty="0"/>
          </a:p>
        </p:txBody>
      </p:sp>
      <p:sp>
        <p:nvSpPr>
          <p:cNvPr id="24" name="Text 22"/>
          <p:cNvSpPr/>
          <p:nvPr/>
        </p:nvSpPr>
        <p:spPr>
          <a:xfrm>
            <a:off x="5858619" y="3020541"/>
            <a:ext cx="1235646" cy="154484"/>
          </a:xfrm>
          <a:prstGeom prst="rect">
            <a:avLst/>
          </a:prstGeom>
          <a:noFill/>
          <a:ln/>
        </p:spPr>
        <p:txBody>
          <a:bodyPr wrap="none" lIns="0" tIns="0" rIns="0" bIns="0" rtlCol="0" anchor="t"/>
          <a:lstStyle/>
          <a:p>
            <a:pPr algn="ctr" indent="0" marL="0">
              <a:lnSpc>
                <a:spcPts val="1200"/>
              </a:lnSpc>
              <a:buNone/>
            </a:pPr>
            <a:r>
              <a:rPr lang="en-US" sz="950" dirty="0">
                <a:solidFill>
                  <a:srgbClr val="404155"/>
                </a:solidFill>
                <a:latin typeface="Corben" pitchFamily="34" charset="0"/>
                <a:ea typeface="Corben" pitchFamily="34" charset="-122"/>
                <a:cs typeface="Corben" pitchFamily="34" charset="-120"/>
              </a:rPr>
              <a:t>Objectif 2026</a:t>
            </a:r>
            <a:endParaRPr lang="en-US" sz="950" dirty="0"/>
          </a:p>
        </p:txBody>
      </p:sp>
      <p:sp>
        <p:nvSpPr>
          <p:cNvPr id="25" name="Text 23"/>
          <p:cNvSpPr/>
          <p:nvPr/>
        </p:nvSpPr>
        <p:spPr>
          <a:xfrm>
            <a:off x="5563791" y="3212976"/>
            <a:ext cx="1825377" cy="259407"/>
          </a:xfrm>
          <a:prstGeom prst="rect">
            <a:avLst/>
          </a:prstGeom>
          <a:noFill/>
          <a:ln/>
        </p:spPr>
        <p:txBody>
          <a:bodyPr wrap="square" lIns="0" tIns="0" rIns="0" bIns="0" rtlCol="0" anchor="t"/>
          <a:lstStyle/>
          <a:p>
            <a:pPr algn="ctr" indent="0" marL="0">
              <a:lnSpc>
                <a:spcPts val="1000"/>
              </a:lnSpc>
              <a:buNone/>
            </a:pPr>
            <a:r>
              <a:rPr lang="en-US" sz="750" dirty="0">
                <a:solidFill>
                  <a:srgbClr val="404155"/>
                </a:solidFill>
                <a:latin typeface="Nobile" pitchFamily="34" charset="0"/>
                <a:ea typeface="Nobile" pitchFamily="34" charset="-122"/>
                <a:cs typeface="Nobile" pitchFamily="34" charset="-120"/>
              </a:rPr>
              <a:t>Extension du réseau par nouvel appel d'offres</a:t>
            </a:r>
            <a:endParaRPr lang="en-US" sz="750" dirty="0"/>
          </a:p>
        </p:txBody>
      </p:sp>
      <p:sp>
        <p:nvSpPr>
          <p:cNvPr id="26" name="Text 24"/>
          <p:cNvSpPr/>
          <p:nvPr/>
        </p:nvSpPr>
        <p:spPr>
          <a:xfrm>
            <a:off x="1754758" y="3567336"/>
            <a:ext cx="1276127" cy="154484"/>
          </a:xfrm>
          <a:prstGeom prst="rect">
            <a:avLst/>
          </a:prstGeom>
          <a:noFill/>
          <a:ln/>
        </p:spPr>
        <p:txBody>
          <a:bodyPr wrap="none" lIns="0" tIns="0" rIns="0" bIns="0" rtlCol="0" anchor="t"/>
          <a:lstStyle/>
          <a:p>
            <a:pPr algn="l" indent="0" marL="0">
              <a:lnSpc>
                <a:spcPts val="1200"/>
              </a:lnSpc>
              <a:buNone/>
            </a:pPr>
            <a:r>
              <a:rPr lang="en-US" sz="950" dirty="0">
                <a:solidFill>
                  <a:srgbClr val="1B1B27"/>
                </a:solidFill>
                <a:latin typeface="Corben" pitchFamily="34" charset="0"/>
                <a:ea typeface="Corben" pitchFamily="34" charset="-122"/>
                <a:cs typeface="Corben" pitchFamily="34" charset="-120"/>
              </a:rPr>
              <a:t>Périodicité des Visites</a:t>
            </a:r>
            <a:endParaRPr lang="en-US" sz="950" dirty="0"/>
          </a:p>
        </p:txBody>
      </p:sp>
      <p:sp>
        <p:nvSpPr>
          <p:cNvPr id="27" name="Text 25"/>
          <p:cNvSpPr/>
          <p:nvPr/>
        </p:nvSpPr>
        <p:spPr>
          <a:xfrm>
            <a:off x="1754758" y="3816772"/>
            <a:ext cx="5634484" cy="1040532"/>
          </a:xfrm>
          <a:prstGeom prst="rect">
            <a:avLst/>
          </a:prstGeom>
          <a:noFill/>
          <a:ln/>
        </p:spPr>
        <p:txBody>
          <a:bodyPr wrap="square" lIns="0" tIns="0" rIns="0" bIns="0" rtlCol="0" anchor="t"/>
          <a:lstStyle/>
          <a:p>
            <a:pPr algn="l" marL="342900" indent="-342900">
              <a:lnSpc>
                <a:spcPts val="1000"/>
              </a:lnSpc>
              <a:buSzPct val="100000"/>
              <a:buChar char="•"/>
            </a:pPr>
            <a:r>
              <a:rPr lang="en-US" sz="750" dirty="0">
                <a:solidFill>
                  <a:srgbClr val="404155"/>
                </a:solidFill>
                <a:latin typeface="Nobile" pitchFamily="34" charset="0"/>
                <a:ea typeface="Nobile" pitchFamily="34" charset="-122"/>
                <a:cs typeface="Nobile" pitchFamily="34" charset="-120"/>
              </a:rPr>
              <a:t>Véhicules légers neufs : première visite après 5 ans d'utilisation</a:t>
            </a:r>
            <a:endParaRPr lang="en-US" sz="750" dirty="0"/>
          </a:p>
          <a:p>
            <a:pPr algn="l" marL="342900" indent="-342900">
              <a:lnSpc>
                <a:spcPts val="1000"/>
              </a:lnSpc>
              <a:buSzPct val="100000"/>
              <a:buChar char="•"/>
            </a:pPr>
            <a:r>
              <a:rPr lang="en-US" sz="750" dirty="0">
                <a:solidFill>
                  <a:srgbClr val="404155"/>
                </a:solidFill>
                <a:latin typeface="Nobile" pitchFamily="34" charset="0"/>
                <a:ea typeface="Nobile" pitchFamily="34" charset="-122"/>
                <a:cs typeface="Nobile" pitchFamily="34" charset="-120"/>
              </a:rPr>
              <a:t>À partir de la 6ᵉ année : visite annuelle obligatoire</a:t>
            </a:r>
            <a:endParaRPr lang="en-US" sz="750" dirty="0"/>
          </a:p>
          <a:p>
            <a:pPr algn="l" marL="342900" indent="-342900">
              <a:lnSpc>
                <a:spcPts val="1000"/>
              </a:lnSpc>
              <a:buSzPct val="100000"/>
              <a:buChar char="•"/>
            </a:pPr>
            <a:r>
              <a:rPr lang="en-US" sz="750" dirty="0">
                <a:solidFill>
                  <a:srgbClr val="404155"/>
                </a:solidFill>
                <a:latin typeface="Nobile" pitchFamily="34" charset="0"/>
                <a:ea typeface="Nobile" pitchFamily="34" charset="-122"/>
                <a:cs typeface="Nobile" pitchFamily="34" charset="-120"/>
              </a:rPr>
              <a:t>Véhicules de transport public et de location : visite tous les 6 mois</a:t>
            </a:r>
            <a:endParaRPr lang="en-US" sz="750" dirty="0"/>
          </a:p>
          <a:p>
            <a:pPr algn="l" marL="342900" indent="-342900">
              <a:lnSpc>
                <a:spcPts val="1000"/>
              </a:lnSpc>
              <a:buSzPct val="100000"/>
              <a:buChar char="•"/>
            </a:pPr>
            <a:r>
              <a:rPr lang="en-US" sz="750" dirty="0">
                <a:solidFill>
                  <a:srgbClr val="404155"/>
                </a:solidFill>
                <a:latin typeface="Nobile" pitchFamily="34" charset="0"/>
                <a:ea typeface="Nobile" pitchFamily="34" charset="-122"/>
                <a:cs typeface="Nobile" pitchFamily="34" charset="-120"/>
              </a:rPr>
              <a:t>Véhicules lourds (PL) : contrôle selon calendrier spécifique</a:t>
            </a:r>
            <a:endParaRPr lang="en-US" sz="750" dirty="0"/>
          </a:p>
          <a:p>
            <a:pPr algn="l" marL="342900" indent="-342900">
              <a:lnSpc>
                <a:spcPts val="1000"/>
              </a:lnSpc>
              <a:buSzPct val="100000"/>
              <a:buChar char="•"/>
            </a:pPr>
            <a:r>
              <a:rPr lang="en-US" sz="750" dirty="0">
                <a:solidFill>
                  <a:srgbClr val="404155"/>
                </a:solidFill>
                <a:latin typeface="Nobile" pitchFamily="34" charset="0"/>
                <a:ea typeface="Nobile" pitchFamily="34" charset="-122"/>
                <a:cs typeface="Nobile" pitchFamily="34" charset="-120"/>
              </a:rPr>
              <a:t>Visite de mutation : obligatoire avant tout changement de propriétaire</a:t>
            </a:r>
            <a:endParaRPr lang="en-US" sz="750" dirty="0"/>
          </a:p>
          <a:p>
            <a:pPr algn="l" marL="342900" indent="-342900">
              <a:lnSpc>
                <a:spcPts val="1000"/>
              </a:lnSpc>
              <a:buSzPct val="100000"/>
              <a:buChar char="•"/>
            </a:pPr>
            <a:r>
              <a:rPr lang="en-US" sz="750" dirty="0">
                <a:solidFill>
                  <a:srgbClr val="404155"/>
                </a:solidFill>
                <a:latin typeface="Nobile" pitchFamily="34" charset="0"/>
                <a:ea typeface="Nobile" pitchFamily="34" charset="-122"/>
                <a:cs typeface="Nobile" pitchFamily="34" charset="-120"/>
              </a:rPr>
              <a:t>Visite complémentaire : en cas de modification des caractéristiques techniques</a:t>
            </a:r>
            <a:endParaRPr lang="en-US" sz="750" dirty="0"/>
          </a:p>
          <a:p>
            <a:pPr algn="l" marL="342900" indent="-342900">
              <a:lnSpc>
                <a:spcPts val="1000"/>
              </a:lnSpc>
              <a:buSzPct val="100000"/>
              <a:buChar char="•"/>
            </a:pPr>
            <a:r>
              <a:rPr lang="en-US" sz="750" dirty="0">
                <a:solidFill>
                  <a:srgbClr val="404155"/>
                </a:solidFill>
                <a:latin typeface="Nobile" pitchFamily="34" charset="0"/>
                <a:ea typeface="Nobile" pitchFamily="34" charset="-122"/>
                <a:cs typeface="Nobile" pitchFamily="34" charset="-120"/>
              </a:rPr>
              <a:t>Visite volontaire : à la demande du propriétaire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617315" y="304354"/>
            <a:ext cx="3292078" cy="323924"/>
          </a:xfrm>
          <a:prstGeom prst="rect">
            <a:avLst/>
          </a:prstGeom>
          <a:noFill/>
          <a:ln/>
        </p:spPr>
        <p:txBody>
          <a:bodyPr wrap="none" lIns="0" tIns="0" rIns="0" bIns="0" rtlCol="0" anchor="t"/>
          <a:lstStyle/>
          <a:p>
            <a:pPr algn="l" indent="0" marL="0">
              <a:lnSpc>
                <a:spcPts val="2550"/>
              </a:lnSpc>
              <a:buNone/>
            </a:pPr>
            <a:r>
              <a:rPr lang="en-US" sz="2000" dirty="0">
                <a:solidFill>
                  <a:srgbClr val="1B1B27"/>
                </a:solidFill>
                <a:latin typeface="Corben" pitchFamily="34" charset="0"/>
                <a:ea typeface="Corben" pitchFamily="34" charset="-122"/>
                <a:cs typeface="Corben" pitchFamily="34" charset="-120"/>
              </a:rPr>
              <a:t>DEKRA Automotive Maroc</a:t>
            </a:r>
            <a:endParaRPr lang="en-US" sz="2000" dirty="0"/>
          </a:p>
        </p:txBody>
      </p:sp>
      <p:sp>
        <p:nvSpPr>
          <p:cNvPr id="3" name="Text 1"/>
          <p:cNvSpPr/>
          <p:nvPr/>
        </p:nvSpPr>
        <p:spPr>
          <a:xfrm>
            <a:off x="1617315" y="656109"/>
            <a:ext cx="1926282" cy="161999"/>
          </a:xfrm>
          <a:prstGeom prst="rect">
            <a:avLst/>
          </a:prstGeom>
          <a:noFill/>
          <a:ln/>
        </p:spPr>
        <p:txBody>
          <a:bodyPr wrap="none" lIns="0" tIns="0" rIns="0" bIns="0" rtlCol="0" anchor="t"/>
          <a:lstStyle/>
          <a:p>
            <a:pPr algn="l" indent="0" marL="0">
              <a:lnSpc>
                <a:spcPts val="1250"/>
              </a:lnSpc>
              <a:buNone/>
            </a:pPr>
            <a:r>
              <a:rPr lang="en-US" sz="1000" dirty="0">
                <a:solidFill>
                  <a:srgbClr val="1B1B27"/>
                </a:solidFill>
                <a:latin typeface="Corben" pitchFamily="34" charset="0"/>
                <a:ea typeface="Corben" pitchFamily="34" charset="-122"/>
                <a:cs typeface="Corben" pitchFamily="34" charset="-120"/>
              </a:rPr>
              <a:t>Un Réseau Leader International</a:t>
            </a:r>
            <a:endParaRPr lang="en-US" sz="1000" dirty="0"/>
          </a:p>
        </p:txBody>
      </p:sp>
      <p:sp>
        <p:nvSpPr>
          <p:cNvPr id="4" name="Text 2"/>
          <p:cNvSpPr/>
          <p:nvPr/>
        </p:nvSpPr>
        <p:spPr>
          <a:xfrm>
            <a:off x="1617315" y="985242"/>
            <a:ext cx="3444478" cy="831800"/>
          </a:xfrm>
          <a:prstGeom prst="rect">
            <a:avLst/>
          </a:prstGeom>
          <a:noFill/>
          <a:ln/>
        </p:spPr>
        <p:txBody>
          <a:bodyPr wrap="square" lIns="0" tIns="0" rIns="0" bIns="0" rtlCol="0" anchor="t"/>
          <a:lstStyle/>
          <a:p>
            <a:pPr algn="l" indent="0" marL="0">
              <a:lnSpc>
                <a:spcPts val="1050"/>
              </a:lnSpc>
              <a:buNone/>
            </a:pPr>
            <a:r>
              <a:rPr lang="en-US" sz="800" dirty="0">
                <a:solidFill>
                  <a:srgbClr val="404155"/>
                </a:solidFill>
                <a:latin typeface="Nobile" pitchFamily="34" charset="0"/>
                <a:ea typeface="Nobile" pitchFamily="34" charset="-122"/>
                <a:cs typeface="Nobile" pitchFamily="34" charset="-120"/>
              </a:rPr>
              <a:t>DEKRA est un groupe allemand multinational, dont le siège social est établi à Stuttgart. Leader mondial de l'inspection automobile, il est présent dans plus de 60 pays avec plusieurs millions de contrôles réalisés chaque année. Au Maroc, DEKRA Automotive Maroc a été fondée en 2007, suite à un appel d'offres international lancé par le Ministère de l'Équipement et du Transport.</a:t>
            </a:r>
            <a:endParaRPr lang="en-US" sz="800" dirty="0"/>
          </a:p>
        </p:txBody>
      </p:sp>
      <p:sp>
        <p:nvSpPr>
          <p:cNvPr id="5" name="Text 3"/>
          <p:cNvSpPr/>
          <p:nvPr/>
        </p:nvSpPr>
        <p:spPr>
          <a:xfrm>
            <a:off x="1617315" y="1879699"/>
            <a:ext cx="3444478" cy="554534"/>
          </a:xfrm>
          <a:prstGeom prst="rect">
            <a:avLst/>
          </a:prstGeom>
          <a:noFill/>
          <a:ln/>
        </p:spPr>
        <p:txBody>
          <a:bodyPr wrap="square" lIns="0" tIns="0" rIns="0" bIns="0" rtlCol="0" anchor="t"/>
          <a:lstStyle/>
          <a:p>
            <a:pPr algn="l" indent="0" marL="0">
              <a:lnSpc>
                <a:spcPts val="1050"/>
              </a:lnSpc>
              <a:buNone/>
            </a:pPr>
            <a:r>
              <a:rPr lang="en-US" sz="800" dirty="0">
                <a:solidFill>
                  <a:srgbClr val="404155"/>
                </a:solidFill>
                <a:latin typeface="Nobile" pitchFamily="34" charset="0"/>
                <a:ea typeface="Nobile" pitchFamily="34" charset="-122"/>
                <a:cs typeface="Nobile" pitchFamily="34" charset="-120"/>
              </a:rPr>
              <a:t>En l'espace d'une décennie, DEKRA Automotive Maroc s'est imposée comme le leader national du contrôle technique, avec une expertise technique reconnue et des standards de qualité conformes aux normes ISO 17020.</a:t>
            </a:r>
            <a:endParaRPr lang="en-US" sz="800" dirty="0"/>
          </a:p>
        </p:txBody>
      </p:sp>
      <p:pic>
        <p:nvPicPr>
          <p:cNvPr id="6" name="Image 0" descr="preencoded.png">    </p:cNvPr>
          <p:cNvPicPr>
            <a:picLocks noChangeAspect="1"/>
          </p:cNvPicPr>
          <p:nvPr/>
        </p:nvPicPr>
        <p:blipFill>
          <a:blip r:embed="rId1"/>
          <a:stretch>
            <a:fillRect/>
          </a:stretch>
        </p:blipFill>
        <p:spPr>
          <a:xfrm>
            <a:off x="5319415" y="1000944"/>
            <a:ext cx="2212032" cy="2212032"/>
          </a:xfrm>
          <a:prstGeom prst="rect">
            <a:avLst/>
          </a:prstGeom>
        </p:spPr>
      </p:pic>
      <p:sp>
        <p:nvSpPr>
          <p:cNvPr id="7" name="Shape 4"/>
          <p:cNvSpPr/>
          <p:nvPr/>
        </p:nvSpPr>
        <p:spPr>
          <a:xfrm>
            <a:off x="1617315" y="3369692"/>
            <a:ext cx="1923306" cy="836488"/>
          </a:xfrm>
          <a:prstGeom prst="roundRect">
            <a:avLst>
              <a:gd name="adj" fmla="val 5205"/>
            </a:avLst>
          </a:prstGeom>
          <a:solidFill>
            <a:srgbClr val="D2D9F9"/>
          </a:solidFill>
          <a:ln w="4763">
            <a:solidFill>
              <a:srgbClr val="B8BFDF"/>
            </a:solidFill>
            <a:prstDash val="solid"/>
          </a:ln>
        </p:spPr>
      </p:sp>
      <p:sp>
        <p:nvSpPr>
          <p:cNvPr id="8" name="Text 5"/>
          <p:cNvSpPr/>
          <p:nvPr/>
        </p:nvSpPr>
        <p:spPr>
          <a:xfrm>
            <a:off x="1725737" y="3478113"/>
            <a:ext cx="1295921" cy="161999"/>
          </a:xfrm>
          <a:prstGeom prst="rect">
            <a:avLst/>
          </a:prstGeom>
          <a:noFill/>
          <a:ln/>
        </p:spPr>
        <p:txBody>
          <a:bodyPr wrap="none" lIns="0" tIns="0" rIns="0" bIns="0" rtlCol="0" anchor="t"/>
          <a:lstStyle/>
          <a:p>
            <a:pPr algn="l" indent="0" marL="0">
              <a:lnSpc>
                <a:spcPts val="1250"/>
              </a:lnSpc>
              <a:buNone/>
            </a:pPr>
            <a:r>
              <a:rPr lang="en-US" sz="1000" dirty="0">
                <a:solidFill>
                  <a:srgbClr val="404155"/>
                </a:solidFill>
                <a:latin typeface="Corben" pitchFamily="34" charset="0"/>
                <a:ea typeface="Corben" pitchFamily="34" charset="-122"/>
                <a:cs typeface="Corben" pitchFamily="34" charset="-120"/>
              </a:rPr>
              <a:t>139 Centres</a:t>
            </a:r>
            <a:endParaRPr lang="en-US" sz="1000" dirty="0"/>
          </a:p>
        </p:txBody>
      </p:sp>
      <p:sp>
        <p:nvSpPr>
          <p:cNvPr id="9" name="Text 6"/>
          <p:cNvSpPr/>
          <p:nvPr/>
        </p:nvSpPr>
        <p:spPr>
          <a:xfrm>
            <a:off x="1725737" y="3681859"/>
            <a:ext cx="1706463" cy="415900"/>
          </a:xfrm>
          <a:prstGeom prst="rect">
            <a:avLst/>
          </a:prstGeom>
          <a:noFill/>
          <a:ln/>
        </p:spPr>
        <p:txBody>
          <a:bodyPr wrap="square" lIns="0" tIns="0" rIns="0" bIns="0" rtlCol="0" anchor="t"/>
          <a:lstStyle/>
          <a:p>
            <a:pPr algn="l" indent="0" marL="0">
              <a:lnSpc>
                <a:spcPts val="1050"/>
              </a:lnSpc>
              <a:buNone/>
            </a:pPr>
            <a:r>
              <a:rPr lang="en-US" sz="800" dirty="0">
                <a:solidFill>
                  <a:srgbClr val="404155"/>
                </a:solidFill>
                <a:latin typeface="Nobile" pitchFamily="34" charset="0"/>
                <a:ea typeface="Nobile" pitchFamily="34" charset="-122"/>
                <a:cs typeface="Nobile" pitchFamily="34" charset="-120"/>
              </a:rPr>
              <a:t>Couverture nationale complète sur l'ensemble du territoire marocain</a:t>
            </a:r>
            <a:endParaRPr lang="en-US" sz="800" dirty="0"/>
          </a:p>
        </p:txBody>
      </p:sp>
      <p:sp>
        <p:nvSpPr>
          <p:cNvPr id="10" name="Shape 7"/>
          <p:cNvSpPr/>
          <p:nvPr/>
        </p:nvSpPr>
        <p:spPr>
          <a:xfrm>
            <a:off x="3610273" y="3369692"/>
            <a:ext cx="1923380" cy="836488"/>
          </a:xfrm>
          <a:prstGeom prst="roundRect">
            <a:avLst>
              <a:gd name="adj" fmla="val 5205"/>
            </a:avLst>
          </a:prstGeom>
          <a:solidFill>
            <a:srgbClr val="D2D9F9"/>
          </a:solidFill>
          <a:ln w="4763">
            <a:solidFill>
              <a:srgbClr val="B8BFDF"/>
            </a:solidFill>
            <a:prstDash val="solid"/>
          </a:ln>
        </p:spPr>
      </p:sp>
      <p:sp>
        <p:nvSpPr>
          <p:cNvPr id="11" name="Text 8"/>
          <p:cNvSpPr/>
          <p:nvPr/>
        </p:nvSpPr>
        <p:spPr>
          <a:xfrm>
            <a:off x="3718694" y="3478113"/>
            <a:ext cx="1295921" cy="161999"/>
          </a:xfrm>
          <a:prstGeom prst="rect">
            <a:avLst/>
          </a:prstGeom>
          <a:noFill/>
          <a:ln/>
        </p:spPr>
        <p:txBody>
          <a:bodyPr wrap="none" lIns="0" tIns="0" rIns="0" bIns="0" rtlCol="0" anchor="t"/>
          <a:lstStyle/>
          <a:p>
            <a:pPr algn="l" indent="0" marL="0">
              <a:lnSpc>
                <a:spcPts val="1250"/>
              </a:lnSpc>
              <a:buNone/>
            </a:pPr>
            <a:r>
              <a:rPr lang="en-US" sz="1000" dirty="0">
                <a:solidFill>
                  <a:srgbClr val="404155"/>
                </a:solidFill>
                <a:latin typeface="Corben" pitchFamily="34" charset="0"/>
                <a:ea typeface="Corben" pitchFamily="34" charset="-122"/>
                <a:cs typeface="Corben" pitchFamily="34" charset="-120"/>
              </a:rPr>
              <a:t>1,2M Contrôles</a:t>
            </a:r>
            <a:endParaRPr lang="en-US" sz="1000" dirty="0"/>
          </a:p>
        </p:txBody>
      </p:sp>
      <p:sp>
        <p:nvSpPr>
          <p:cNvPr id="12" name="Text 9"/>
          <p:cNvSpPr/>
          <p:nvPr/>
        </p:nvSpPr>
        <p:spPr>
          <a:xfrm>
            <a:off x="3718694" y="3681859"/>
            <a:ext cx="1706538" cy="277267"/>
          </a:xfrm>
          <a:prstGeom prst="rect">
            <a:avLst/>
          </a:prstGeom>
          <a:noFill/>
          <a:ln/>
        </p:spPr>
        <p:txBody>
          <a:bodyPr wrap="square" lIns="0" tIns="0" rIns="0" bIns="0" rtlCol="0" anchor="t"/>
          <a:lstStyle/>
          <a:p>
            <a:pPr algn="l" indent="0" marL="0">
              <a:lnSpc>
                <a:spcPts val="1050"/>
              </a:lnSpc>
              <a:buNone/>
            </a:pPr>
            <a:r>
              <a:rPr lang="en-US" sz="800" dirty="0">
                <a:solidFill>
                  <a:srgbClr val="404155"/>
                </a:solidFill>
                <a:latin typeface="Nobile" pitchFamily="34" charset="0"/>
                <a:ea typeface="Nobile" pitchFamily="34" charset="-122"/>
                <a:cs typeface="Nobile" pitchFamily="34" charset="-120"/>
              </a:rPr>
              <a:t>Plus d'un million de contrôles techniques réalisés chaque année</a:t>
            </a:r>
            <a:endParaRPr lang="en-US" sz="800" dirty="0"/>
          </a:p>
        </p:txBody>
      </p:sp>
      <p:sp>
        <p:nvSpPr>
          <p:cNvPr id="13" name="Shape 10"/>
          <p:cNvSpPr/>
          <p:nvPr/>
        </p:nvSpPr>
        <p:spPr>
          <a:xfrm>
            <a:off x="5603304" y="3369692"/>
            <a:ext cx="1923380" cy="836488"/>
          </a:xfrm>
          <a:prstGeom prst="roundRect">
            <a:avLst>
              <a:gd name="adj" fmla="val 5205"/>
            </a:avLst>
          </a:prstGeom>
          <a:solidFill>
            <a:srgbClr val="D2D9F9"/>
          </a:solidFill>
          <a:ln w="4763">
            <a:solidFill>
              <a:srgbClr val="B8BFDF"/>
            </a:solidFill>
            <a:prstDash val="solid"/>
          </a:ln>
        </p:spPr>
      </p:sp>
      <p:sp>
        <p:nvSpPr>
          <p:cNvPr id="14" name="Text 11"/>
          <p:cNvSpPr/>
          <p:nvPr/>
        </p:nvSpPr>
        <p:spPr>
          <a:xfrm>
            <a:off x="5711726" y="3478113"/>
            <a:ext cx="1295921" cy="161999"/>
          </a:xfrm>
          <a:prstGeom prst="rect">
            <a:avLst/>
          </a:prstGeom>
          <a:noFill/>
          <a:ln/>
        </p:spPr>
        <p:txBody>
          <a:bodyPr wrap="none" lIns="0" tIns="0" rIns="0" bIns="0" rtlCol="0" anchor="t"/>
          <a:lstStyle/>
          <a:p>
            <a:pPr algn="l" indent="0" marL="0">
              <a:lnSpc>
                <a:spcPts val="1250"/>
              </a:lnSpc>
              <a:buNone/>
            </a:pPr>
            <a:r>
              <a:rPr lang="en-US" sz="1000" dirty="0">
                <a:solidFill>
                  <a:srgbClr val="404155"/>
                </a:solidFill>
                <a:latin typeface="Corben" pitchFamily="34" charset="0"/>
                <a:ea typeface="Corben" pitchFamily="34" charset="-122"/>
                <a:cs typeface="Corben" pitchFamily="34" charset="-120"/>
              </a:rPr>
              <a:t>300+ Agents</a:t>
            </a:r>
            <a:endParaRPr lang="en-US" sz="1000" dirty="0"/>
          </a:p>
        </p:txBody>
      </p:sp>
      <p:sp>
        <p:nvSpPr>
          <p:cNvPr id="15" name="Text 12"/>
          <p:cNvSpPr/>
          <p:nvPr/>
        </p:nvSpPr>
        <p:spPr>
          <a:xfrm>
            <a:off x="5711726" y="3681859"/>
            <a:ext cx="1706538" cy="277267"/>
          </a:xfrm>
          <a:prstGeom prst="rect">
            <a:avLst/>
          </a:prstGeom>
          <a:noFill/>
          <a:ln/>
        </p:spPr>
        <p:txBody>
          <a:bodyPr wrap="square" lIns="0" tIns="0" rIns="0" bIns="0" rtlCol="0" anchor="t"/>
          <a:lstStyle/>
          <a:p>
            <a:pPr algn="l" indent="0" marL="0">
              <a:lnSpc>
                <a:spcPts val="1050"/>
              </a:lnSpc>
              <a:buNone/>
            </a:pPr>
            <a:r>
              <a:rPr lang="en-US" sz="800" dirty="0">
                <a:solidFill>
                  <a:srgbClr val="404155"/>
                </a:solidFill>
                <a:latin typeface="Nobile" pitchFamily="34" charset="0"/>
                <a:ea typeface="Nobile" pitchFamily="34" charset="-122"/>
                <a:cs typeface="Nobile" pitchFamily="34" charset="-120"/>
              </a:rPr>
              <a:t>Personnel certifié et formé aux standards internationaux</a:t>
            </a:r>
            <a:endParaRPr lang="en-US" sz="800" dirty="0"/>
          </a:p>
        </p:txBody>
      </p:sp>
      <p:sp>
        <p:nvSpPr>
          <p:cNvPr id="16" name="Text 13"/>
          <p:cNvSpPr/>
          <p:nvPr/>
        </p:nvSpPr>
        <p:spPr>
          <a:xfrm>
            <a:off x="1617315" y="4284538"/>
            <a:ext cx="5909370" cy="554534"/>
          </a:xfrm>
          <a:prstGeom prst="rect">
            <a:avLst/>
          </a:prstGeom>
          <a:noFill/>
          <a:ln/>
        </p:spPr>
        <p:txBody>
          <a:bodyPr wrap="square" lIns="0" tIns="0" rIns="0" bIns="0" rtlCol="0" anchor="t"/>
          <a:lstStyle/>
          <a:p>
            <a:pPr algn="l" indent="0" marL="0">
              <a:lnSpc>
                <a:spcPts val="1050"/>
              </a:lnSpc>
              <a:buNone/>
            </a:pPr>
            <a:r>
              <a:rPr lang="en-US" sz="800" dirty="0">
                <a:solidFill>
                  <a:srgbClr val="404155"/>
                </a:solidFill>
                <a:latin typeface="Nobile" pitchFamily="34" charset="0"/>
                <a:ea typeface="Nobile" pitchFamily="34" charset="-122"/>
                <a:cs typeface="Nobile" pitchFamily="34" charset="-120"/>
              </a:rPr>
              <a:t>DEKRA apporte à ses centres affiliés une expertise technique reconnue, un système d'information intégré, des outils de gestion de qualité conformes aux normes ISO 17020, ainsi qu'un programme de formation continue pour les agents visiteurs. Ce partenariat garantit aux centres membres un niveau de professionnalisme et de rigueur alignés sur les meilleurs standards européens.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411188" y="338212"/>
            <a:ext cx="3750097" cy="346546"/>
          </a:xfrm>
          <a:prstGeom prst="rect">
            <a:avLst/>
          </a:prstGeom>
          <a:noFill/>
          <a:ln/>
        </p:spPr>
        <p:txBody>
          <a:bodyPr wrap="none" lIns="0" tIns="0" rIns="0" bIns="0" rtlCol="0" anchor="t"/>
          <a:lstStyle/>
          <a:p>
            <a:pPr algn="l" indent="0" marL="0">
              <a:lnSpc>
                <a:spcPts val="2700"/>
              </a:lnSpc>
              <a:buNone/>
            </a:pPr>
            <a:r>
              <a:rPr lang="en-US" sz="2150" dirty="0">
                <a:solidFill>
                  <a:srgbClr val="1B1B27"/>
                </a:solidFill>
                <a:latin typeface="Corben" pitchFamily="34" charset="0"/>
                <a:ea typeface="Corben" pitchFamily="34" charset="-122"/>
                <a:cs typeface="Corben" pitchFamily="34" charset="-120"/>
              </a:rPr>
              <a:t>Centre VITECMA Ait Melloul</a:t>
            </a:r>
            <a:endParaRPr lang="en-US" sz="2150" dirty="0"/>
          </a:p>
        </p:txBody>
      </p:sp>
      <p:sp>
        <p:nvSpPr>
          <p:cNvPr id="3" name="Text 1"/>
          <p:cNvSpPr/>
          <p:nvPr/>
        </p:nvSpPr>
        <p:spPr>
          <a:xfrm>
            <a:off x="1411188" y="716607"/>
            <a:ext cx="1489397" cy="173236"/>
          </a:xfrm>
          <a:prstGeom prst="rect">
            <a:avLst/>
          </a:prstGeom>
          <a:noFill/>
          <a:ln/>
        </p:spPr>
        <p:txBody>
          <a:bodyPr wrap="none" lIns="0" tIns="0" rIns="0" bIns="0" rtlCol="0" anchor="t"/>
          <a:lstStyle/>
          <a:p>
            <a:pPr algn="l" indent="0" marL="0">
              <a:lnSpc>
                <a:spcPts val="1350"/>
              </a:lnSpc>
              <a:buNone/>
            </a:pPr>
            <a:r>
              <a:rPr lang="en-US" sz="1050" dirty="0">
                <a:solidFill>
                  <a:srgbClr val="1B1B27"/>
                </a:solidFill>
                <a:latin typeface="Corben" pitchFamily="34" charset="0"/>
                <a:ea typeface="Corben" pitchFamily="34" charset="-122"/>
                <a:cs typeface="Corben" pitchFamily="34" charset="-120"/>
              </a:rPr>
              <a:t>Présentation du Centre</a:t>
            </a:r>
            <a:endParaRPr lang="en-US" sz="1050" dirty="0"/>
          </a:p>
        </p:txBody>
      </p:sp>
      <p:sp>
        <p:nvSpPr>
          <p:cNvPr id="4" name="Shape 2"/>
          <p:cNvSpPr/>
          <p:nvPr/>
        </p:nvSpPr>
        <p:spPr>
          <a:xfrm>
            <a:off x="1411188" y="1009352"/>
            <a:ext cx="3120926" cy="1077664"/>
          </a:xfrm>
          <a:prstGeom prst="roundRect">
            <a:avLst>
              <a:gd name="adj" fmla="val 4322"/>
            </a:avLst>
          </a:prstGeom>
          <a:solidFill>
            <a:srgbClr val="F9F9FF">
              <a:alpha val="95000"/>
            </a:srgbClr>
          </a:solidFill>
          <a:ln w="14288">
            <a:solidFill>
              <a:srgbClr val="B8BFDF"/>
            </a:solidFill>
            <a:prstDash val="solid"/>
          </a:ln>
        </p:spPr>
      </p:sp>
      <p:sp>
        <p:nvSpPr>
          <p:cNvPr id="5" name="Shape 3"/>
          <p:cNvSpPr/>
          <p:nvPr/>
        </p:nvSpPr>
        <p:spPr>
          <a:xfrm>
            <a:off x="1425476" y="1023640"/>
            <a:ext cx="3092351" cy="332705"/>
          </a:xfrm>
          <a:prstGeom prst="roundRect">
            <a:avLst>
              <a:gd name="adj" fmla="val 8847"/>
            </a:avLst>
          </a:prstGeom>
          <a:solidFill>
            <a:srgbClr val="D2D9F9"/>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888456" y="1104379"/>
            <a:ext cx="166315" cy="166315"/>
          </a:xfrm>
          <a:prstGeom prst="rect">
            <a:avLst/>
          </a:prstGeom>
        </p:spPr>
      </p:pic>
      <p:sp>
        <p:nvSpPr>
          <p:cNvPr id="7" name="Text 4"/>
          <p:cNvSpPr/>
          <p:nvPr/>
        </p:nvSpPr>
        <p:spPr>
          <a:xfrm>
            <a:off x="1536353" y="1436043"/>
            <a:ext cx="1386334" cy="173236"/>
          </a:xfrm>
          <a:prstGeom prst="rect">
            <a:avLst/>
          </a:prstGeom>
          <a:noFill/>
          <a:ln/>
        </p:spPr>
        <p:txBody>
          <a:bodyPr wrap="none" lIns="0" tIns="0" rIns="0" bIns="0" rtlCol="0" anchor="t"/>
          <a:lstStyle/>
          <a:p>
            <a:pPr algn="l" indent="0" marL="0">
              <a:lnSpc>
                <a:spcPts val="1350"/>
              </a:lnSpc>
              <a:buNone/>
            </a:pPr>
            <a:r>
              <a:rPr lang="en-US" sz="1050" dirty="0">
                <a:solidFill>
                  <a:srgbClr val="404155"/>
                </a:solidFill>
                <a:latin typeface="Corben" pitchFamily="34" charset="0"/>
                <a:ea typeface="Corben" pitchFamily="34" charset="-122"/>
                <a:cs typeface="Corben" pitchFamily="34" charset="-120"/>
              </a:rPr>
              <a:t>Localisation</a:t>
            </a:r>
            <a:endParaRPr lang="en-US" sz="1050" dirty="0"/>
          </a:p>
        </p:txBody>
      </p:sp>
      <p:sp>
        <p:nvSpPr>
          <p:cNvPr id="8" name="Text 5"/>
          <p:cNvSpPr/>
          <p:nvPr/>
        </p:nvSpPr>
        <p:spPr>
          <a:xfrm>
            <a:off x="1536353" y="1657052"/>
            <a:ext cx="2870597" cy="304800"/>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Zone Industrielle N° 162, Ait Melloul - Inzegane, 80150, région Souss-Massa</a:t>
            </a:r>
            <a:endParaRPr lang="en-US" sz="850" dirty="0"/>
          </a:p>
        </p:txBody>
      </p:sp>
      <p:sp>
        <p:nvSpPr>
          <p:cNvPr id="9" name="Shape 6"/>
          <p:cNvSpPr/>
          <p:nvPr/>
        </p:nvSpPr>
        <p:spPr>
          <a:xfrm>
            <a:off x="4611812" y="1009352"/>
            <a:ext cx="3121000" cy="1077664"/>
          </a:xfrm>
          <a:prstGeom prst="roundRect">
            <a:avLst>
              <a:gd name="adj" fmla="val 4322"/>
            </a:avLst>
          </a:prstGeom>
          <a:solidFill>
            <a:srgbClr val="F9F9FF">
              <a:alpha val="95000"/>
            </a:srgbClr>
          </a:solidFill>
          <a:ln w="14288">
            <a:solidFill>
              <a:srgbClr val="B8BFDF"/>
            </a:solidFill>
            <a:prstDash val="solid"/>
          </a:ln>
        </p:spPr>
      </p:sp>
      <p:sp>
        <p:nvSpPr>
          <p:cNvPr id="10" name="Shape 7"/>
          <p:cNvSpPr/>
          <p:nvPr/>
        </p:nvSpPr>
        <p:spPr>
          <a:xfrm>
            <a:off x="4626099" y="1023640"/>
            <a:ext cx="3092425" cy="332705"/>
          </a:xfrm>
          <a:prstGeom prst="roundRect">
            <a:avLst>
              <a:gd name="adj" fmla="val 8847"/>
            </a:avLst>
          </a:prstGeom>
          <a:solidFill>
            <a:srgbClr val="D2D9F9"/>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9154" y="1104379"/>
            <a:ext cx="166315" cy="166315"/>
          </a:xfrm>
          <a:prstGeom prst="rect">
            <a:avLst/>
          </a:prstGeom>
        </p:spPr>
      </p:pic>
      <p:sp>
        <p:nvSpPr>
          <p:cNvPr id="12" name="Text 8"/>
          <p:cNvSpPr/>
          <p:nvPr/>
        </p:nvSpPr>
        <p:spPr>
          <a:xfrm>
            <a:off x="4736976" y="1436043"/>
            <a:ext cx="1386334" cy="173236"/>
          </a:xfrm>
          <a:prstGeom prst="rect">
            <a:avLst/>
          </a:prstGeom>
          <a:noFill/>
          <a:ln/>
        </p:spPr>
        <p:txBody>
          <a:bodyPr wrap="none" lIns="0" tIns="0" rIns="0" bIns="0" rtlCol="0" anchor="t"/>
          <a:lstStyle/>
          <a:p>
            <a:pPr algn="l" indent="0" marL="0">
              <a:lnSpc>
                <a:spcPts val="1350"/>
              </a:lnSpc>
              <a:buNone/>
            </a:pPr>
            <a:r>
              <a:rPr lang="en-US" sz="1050" dirty="0">
                <a:solidFill>
                  <a:srgbClr val="404155"/>
                </a:solidFill>
                <a:latin typeface="Corben" pitchFamily="34" charset="0"/>
                <a:ea typeface="Corben" pitchFamily="34" charset="-122"/>
                <a:cs typeface="Corben" pitchFamily="34" charset="-120"/>
              </a:rPr>
              <a:t>Affiliation</a:t>
            </a:r>
            <a:endParaRPr lang="en-US" sz="1050" dirty="0"/>
          </a:p>
        </p:txBody>
      </p:sp>
      <p:sp>
        <p:nvSpPr>
          <p:cNvPr id="13" name="Text 9"/>
          <p:cNvSpPr/>
          <p:nvPr/>
        </p:nvSpPr>
        <p:spPr>
          <a:xfrm>
            <a:off x="4736976" y="1657052"/>
            <a:ext cx="2870671" cy="304800"/>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Réseau DEKRA Automotive Maroc, garantie de professionnalisme et de qualité</a:t>
            </a:r>
            <a:endParaRPr lang="en-US" sz="850" dirty="0"/>
          </a:p>
        </p:txBody>
      </p:sp>
      <p:sp>
        <p:nvSpPr>
          <p:cNvPr id="14" name="Shape 10"/>
          <p:cNvSpPr/>
          <p:nvPr/>
        </p:nvSpPr>
        <p:spPr>
          <a:xfrm>
            <a:off x="1411188" y="2166714"/>
            <a:ext cx="3120926" cy="1077664"/>
          </a:xfrm>
          <a:prstGeom prst="roundRect">
            <a:avLst>
              <a:gd name="adj" fmla="val 4322"/>
            </a:avLst>
          </a:prstGeom>
          <a:solidFill>
            <a:srgbClr val="F9F9FF">
              <a:alpha val="95000"/>
            </a:srgbClr>
          </a:solidFill>
          <a:ln w="14288">
            <a:solidFill>
              <a:srgbClr val="B8BFDF"/>
            </a:solidFill>
            <a:prstDash val="solid"/>
          </a:ln>
        </p:spPr>
      </p:sp>
      <p:sp>
        <p:nvSpPr>
          <p:cNvPr id="15" name="Shape 11"/>
          <p:cNvSpPr/>
          <p:nvPr/>
        </p:nvSpPr>
        <p:spPr>
          <a:xfrm>
            <a:off x="1425476" y="2181002"/>
            <a:ext cx="3092351" cy="332705"/>
          </a:xfrm>
          <a:prstGeom prst="roundRect">
            <a:avLst>
              <a:gd name="adj" fmla="val 8847"/>
            </a:avLst>
          </a:prstGeom>
          <a:solidFill>
            <a:srgbClr val="D2D9F9"/>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88456" y="2261741"/>
            <a:ext cx="166315" cy="166315"/>
          </a:xfrm>
          <a:prstGeom prst="rect">
            <a:avLst/>
          </a:prstGeom>
        </p:spPr>
      </p:pic>
      <p:sp>
        <p:nvSpPr>
          <p:cNvPr id="17" name="Text 12"/>
          <p:cNvSpPr/>
          <p:nvPr/>
        </p:nvSpPr>
        <p:spPr>
          <a:xfrm>
            <a:off x="1536353" y="2593404"/>
            <a:ext cx="1386334" cy="173236"/>
          </a:xfrm>
          <a:prstGeom prst="rect">
            <a:avLst/>
          </a:prstGeom>
          <a:noFill/>
          <a:ln/>
        </p:spPr>
        <p:txBody>
          <a:bodyPr wrap="none" lIns="0" tIns="0" rIns="0" bIns="0" rtlCol="0" anchor="t"/>
          <a:lstStyle/>
          <a:p>
            <a:pPr algn="l" indent="0" marL="0">
              <a:lnSpc>
                <a:spcPts val="1350"/>
              </a:lnSpc>
              <a:buNone/>
            </a:pPr>
            <a:r>
              <a:rPr lang="en-US" sz="1050" dirty="0">
                <a:solidFill>
                  <a:srgbClr val="404155"/>
                </a:solidFill>
                <a:latin typeface="Corben" pitchFamily="34" charset="0"/>
                <a:ea typeface="Corben" pitchFamily="34" charset="-122"/>
                <a:cs typeface="Corben" pitchFamily="34" charset="-120"/>
              </a:rPr>
              <a:t>Contact</a:t>
            </a:r>
            <a:endParaRPr lang="en-US" sz="1050" dirty="0"/>
          </a:p>
        </p:txBody>
      </p:sp>
      <p:sp>
        <p:nvSpPr>
          <p:cNvPr id="18" name="Text 13"/>
          <p:cNvSpPr/>
          <p:nvPr/>
        </p:nvSpPr>
        <p:spPr>
          <a:xfrm>
            <a:off x="1536353" y="2814414"/>
            <a:ext cx="2870597" cy="152400"/>
          </a:xfrm>
          <a:prstGeom prst="rect">
            <a:avLst/>
          </a:prstGeom>
          <a:noFill/>
          <a:ln/>
        </p:spPr>
        <p:txBody>
          <a:bodyPr wrap="non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Téléphone : 05 28 30 83 26</a:t>
            </a:r>
            <a:endParaRPr lang="en-US" sz="850" dirty="0"/>
          </a:p>
        </p:txBody>
      </p:sp>
      <p:sp>
        <p:nvSpPr>
          <p:cNvPr id="19" name="Shape 14"/>
          <p:cNvSpPr/>
          <p:nvPr/>
        </p:nvSpPr>
        <p:spPr>
          <a:xfrm>
            <a:off x="4611812" y="2166714"/>
            <a:ext cx="3121000" cy="1077664"/>
          </a:xfrm>
          <a:prstGeom prst="roundRect">
            <a:avLst>
              <a:gd name="adj" fmla="val 4322"/>
            </a:avLst>
          </a:prstGeom>
          <a:solidFill>
            <a:srgbClr val="F9F9FF">
              <a:alpha val="95000"/>
            </a:srgbClr>
          </a:solidFill>
          <a:ln w="14288">
            <a:solidFill>
              <a:srgbClr val="B8BFDF"/>
            </a:solidFill>
            <a:prstDash val="solid"/>
          </a:ln>
        </p:spPr>
      </p:sp>
      <p:sp>
        <p:nvSpPr>
          <p:cNvPr id="20" name="Shape 15"/>
          <p:cNvSpPr/>
          <p:nvPr/>
        </p:nvSpPr>
        <p:spPr>
          <a:xfrm>
            <a:off x="4626099" y="2181002"/>
            <a:ext cx="3092425" cy="332705"/>
          </a:xfrm>
          <a:prstGeom prst="roundRect">
            <a:avLst>
              <a:gd name="adj" fmla="val 8847"/>
            </a:avLst>
          </a:prstGeom>
          <a:solidFill>
            <a:srgbClr val="D2D9F9"/>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89154" y="2261741"/>
            <a:ext cx="166315" cy="166315"/>
          </a:xfrm>
          <a:prstGeom prst="rect">
            <a:avLst/>
          </a:prstGeom>
        </p:spPr>
      </p:pic>
      <p:sp>
        <p:nvSpPr>
          <p:cNvPr id="22" name="Text 16"/>
          <p:cNvSpPr/>
          <p:nvPr/>
        </p:nvSpPr>
        <p:spPr>
          <a:xfrm>
            <a:off x="4736976" y="2593404"/>
            <a:ext cx="1386334" cy="173236"/>
          </a:xfrm>
          <a:prstGeom prst="rect">
            <a:avLst/>
          </a:prstGeom>
          <a:noFill/>
          <a:ln/>
        </p:spPr>
        <p:txBody>
          <a:bodyPr wrap="none" lIns="0" tIns="0" rIns="0" bIns="0" rtlCol="0" anchor="t"/>
          <a:lstStyle/>
          <a:p>
            <a:pPr algn="l" indent="0" marL="0">
              <a:lnSpc>
                <a:spcPts val="1350"/>
              </a:lnSpc>
              <a:buNone/>
            </a:pPr>
            <a:r>
              <a:rPr lang="en-US" sz="1050" dirty="0">
                <a:solidFill>
                  <a:srgbClr val="404155"/>
                </a:solidFill>
                <a:latin typeface="Corben" pitchFamily="34" charset="0"/>
                <a:ea typeface="Corben" pitchFamily="34" charset="-122"/>
                <a:cs typeface="Corben" pitchFamily="34" charset="-120"/>
              </a:rPr>
              <a:t>Horaires</a:t>
            </a:r>
            <a:endParaRPr lang="en-US" sz="1050" dirty="0"/>
          </a:p>
        </p:txBody>
      </p:sp>
      <p:sp>
        <p:nvSpPr>
          <p:cNvPr id="23" name="Text 17"/>
          <p:cNvSpPr/>
          <p:nvPr/>
        </p:nvSpPr>
        <p:spPr>
          <a:xfrm>
            <a:off x="4736976" y="2814414"/>
            <a:ext cx="2870671" cy="304800"/>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Lundi-Vendredi : 08h00 - 18h00 | Samedi : 08h00 - 17h00</a:t>
            </a:r>
            <a:endParaRPr lang="en-US" sz="850" dirty="0"/>
          </a:p>
        </p:txBody>
      </p:sp>
      <p:sp>
        <p:nvSpPr>
          <p:cNvPr id="24" name="Text 18"/>
          <p:cNvSpPr/>
          <p:nvPr/>
        </p:nvSpPr>
        <p:spPr>
          <a:xfrm>
            <a:off x="1411188" y="3413745"/>
            <a:ext cx="1386334" cy="173236"/>
          </a:xfrm>
          <a:prstGeom prst="rect">
            <a:avLst/>
          </a:prstGeom>
          <a:noFill/>
          <a:ln/>
        </p:spPr>
        <p:txBody>
          <a:bodyPr wrap="none" lIns="0" tIns="0" rIns="0" bIns="0" rtlCol="0" anchor="t"/>
          <a:lstStyle/>
          <a:p>
            <a:pPr algn="l" indent="0" marL="0">
              <a:lnSpc>
                <a:spcPts val="1350"/>
              </a:lnSpc>
              <a:buNone/>
            </a:pPr>
            <a:r>
              <a:rPr lang="en-US" sz="1050" dirty="0">
                <a:solidFill>
                  <a:srgbClr val="1B1B27"/>
                </a:solidFill>
                <a:latin typeface="Corben" pitchFamily="34" charset="0"/>
                <a:ea typeface="Corben" pitchFamily="34" charset="-122"/>
                <a:cs typeface="Corben" pitchFamily="34" charset="-120"/>
              </a:rPr>
              <a:t>Infrastructure</a:t>
            </a:r>
            <a:endParaRPr lang="en-US" sz="1050" dirty="0"/>
          </a:p>
        </p:txBody>
      </p:sp>
      <p:sp>
        <p:nvSpPr>
          <p:cNvPr id="25" name="Text 19"/>
          <p:cNvSpPr/>
          <p:nvPr/>
        </p:nvSpPr>
        <p:spPr>
          <a:xfrm>
            <a:off x="1411188" y="3666679"/>
            <a:ext cx="1926580" cy="1066800"/>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Le centre est équipé de lignes de contrôle conformes aux spécifications techniques requises par la NARSA et DEKRA, permettant d'effectuer l'ensemble des 77 points de contrôle obligatoires sur les véhicules.</a:t>
            </a:r>
            <a:endParaRPr lang="en-US" sz="850" dirty="0"/>
          </a:p>
        </p:txBody>
      </p:sp>
      <p:sp>
        <p:nvSpPr>
          <p:cNvPr id="26" name="Text 20"/>
          <p:cNvSpPr/>
          <p:nvPr/>
        </p:nvSpPr>
        <p:spPr>
          <a:xfrm>
            <a:off x="3613100" y="3413745"/>
            <a:ext cx="1386334" cy="173236"/>
          </a:xfrm>
          <a:prstGeom prst="rect">
            <a:avLst/>
          </a:prstGeom>
          <a:noFill/>
          <a:ln/>
        </p:spPr>
        <p:txBody>
          <a:bodyPr wrap="none" lIns="0" tIns="0" rIns="0" bIns="0" rtlCol="0" anchor="t"/>
          <a:lstStyle/>
          <a:p>
            <a:pPr algn="l" indent="0" marL="0">
              <a:lnSpc>
                <a:spcPts val="1350"/>
              </a:lnSpc>
              <a:buNone/>
            </a:pPr>
            <a:r>
              <a:rPr lang="en-US" sz="1050" dirty="0">
                <a:solidFill>
                  <a:srgbClr val="1B1B27"/>
                </a:solidFill>
                <a:latin typeface="Corben" pitchFamily="34" charset="0"/>
                <a:ea typeface="Corben" pitchFamily="34" charset="-122"/>
                <a:cs typeface="Corben" pitchFamily="34" charset="-120"/>
              </a:rPr>
              <a:t>Équipe</a:t>
            </a:r>
            <a:endParaRPr lang="en-US" sz="1050" dirty="0"/>
          </a:p>
        </p:txBody>
      </p:sp>
      <p:sp>
        <p:nvSpPr>
          <p:cNvPr id="27" name="Text 21"/>
          <p:cNvSpPr/>
          <p:nvPr/>
        </p:nvSpPr>
        <p:spPr>
          <a:xfrm>
            <a:off x="3613100" y="3666679"/>
            <a:ext cx="1926580" cy="609600"/>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Une équipe de techniciens certifiés assure les opérations d'inspection quotidiennes sous la supervision d'un chef de centre expérimenté.</a:t>
            </a:r>
            <a:endParaRPr lang="en-US" sz="850" dirty="0"/>
          </a:p>
        </p:txBody>
      </p:sp>
      <p:sp>
        <p:nvSpPr>
          <p:cNvPr id="28" name="Text 22"/>
          <p:cNvSpPr/>
          <p:nvPr/>
        </p:nvSpPr>
        <p:spPr>
          <a:xfrm>
            <a:off x="5815013" y="3413745"/>
            <a:ext cx="1386334" cy="173236"/>
          </a:xfrm>
          <a:prstGeom prst="rect">
            <a:avLst/>
          </a:prstGeom>
          <a:noFill/>
          <a:ln/>
        </p:spPr>
        <p:txBody>
          <a:bodyPr wrap="none" lIns="0" tIns="0" rIns="0" bIns="0" rtlCol="0" anchor="t"/>
          <a:lstStyle/>
          <a:p>
            <a:pPr algn="l" indent="0" marL="0">
              <a:lnSpc>
                <a:spcPts val="1350"/>
              </a:lnSpc>
              <a:buNone/>
            </a:pPr>
            <a:r>
              <a:rPr lang="en-US" sz="1050" dirty="0">
                <a:solidFill>
                  <a:srgbClr val="1B1B27"/>
                </a:solidFill>
                <a:latin typeface="Corben" pitchFamily="34" charset="0"/>
                <a:ea typeface="Corben" pitchFamily="34" charset="-122"/>
                <a:cs typeface="Corben" pitchFamily="34" charset="-120"/>
              </a:rPr>
              <a:t>Services</a:t>
            </a:r>
            <a:endParaRPr lang="en-US" sz="1050" dirty="0"/>
          </a:p>
        </p:txBody>
      </p:sp>
      <p:sp>
        <p:nvSpPr>
          <p:cNvPr id="29" name="Text 23"/>
          <p:cNvSpPr/>
          <p:nvPr/>
        </p:nvSpPr>
        <p:spPr>
          <a:xfrm>
            <a:off x="5815013" y="3666679"/>
            <a:ext cx="1926580" cy="762000"/>
          </a:xfrm>
          <a:prstGeom prst="rect">
            <a:avLst/>
          </a:prstGeom>
          <a:noFill/>
          <a:ln/>
        </p:spPr>
        <p:txBody>
          <a:bodyPr wrap="square" lIns="0" tIns="0" rIns="0" bIns="0" rtlCol="0" anchor="t"/>
          <a:lstStyle/>
          <a:p>
            <a:pPr algn="l" indent="0" marL="0">
              <a:lnSpc>
                <a:spcPts val="1200"/>
              </a:lnSpc>
              <a:buNone/>
            </a:pPr>
            <a:r>
              <a:rPr lang="en-US" sz="850" dirty="0">
                <a:solidFill>
                  <a:srgbClr val="404155"/>
                </a:solidFill>
                <a:latin typeface="Nobile" pitchFamily="34" charset="0"/>
                <a:ea typeface="Nobile" pitchFamily="34" charset="-122"/>
                <a:cs typeface="Nobile" pitchFamily="34" charset="-120"/>
              </a:rPr>
              <a:t>Le centre réalise les visites techniques périodiques, de mutation, complémentaires et volontaires pour véhicules légers et poids lourds.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373139" y="212154"/>
            <a:ext cx="3431307" cy="241102"/>
          </a:xfrm>
          <a:prstGeom prst="rect">
            <a:avLst/>
          </a:prstGeom>
          <a:noFill/>
          <a:ln/>
        </p:spPr>
        <p:txBody>
          <a:bodyPr wrap="none" lIns="0" tIns="0" rIns="0" bIns="0" rtlCol="0" anchor="t"/>
          <a:lstStyle/>
          <a:p>
            <a:pPr algn="l" indent="0" marL="0">
              <a:lnSpc>
                <a:spcPts val="1850"/>
              </a:lnSpc>
              <a:buNone/>
            </a:pPr>
            <a:r>
              <a:rPr lang="en-US" sz="1500" dirty="0">
                <a:solidFill>
                  <a:srgbClr val="1B1B27"/>
                </a:solidFill>
                <a:latin typeface="Corben" pitchFamily="34" charset="0"/>
                <a:ea typeface="Corben" pitchFamily="34" charset="-122"/>
                <a:cs typeface="Corben" pitchFamily="34" charset="-120"/>
              </a:rPr>
              <a:t>Organisation et Processus de Contrôle</a:t>
            </a:r>
            <a:endParaRPr lang="en-US" sz="1500" dirty="0"/>
          </a:p>
        </p:txBody>
      </p:sp>
      <p:sp>
        <p:nvSpPr>
          <p:cNvPr id="3" name="Text 1"/>
          <p:cNvSpPr/>
          <p:nvPr/>
        </p:nvSpPr>
        <p:spPr>
          <a:xfrm>
            <a:off x="2373139" y="468660"/>
            <a:ext cx="1205805"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Fonctionnement du Centre</a:t>
            </a:r>
            <a:endParaRPr lang="en-US" sz="750" dirty="0"/>
          </a:p>
        </p:txBody>
      </p:sp>
      <p:pic>
        <p:nvPicPr>
          <p:cNvPr id="4" name="Image 0" descr="preencoded.png">    </p:cNvPr>
          <p:cNvPicPr>
            <a:picLocks noChangeAspect="1"/>
          </p:cNvPicPr>
          <p:nvPr/>
        </p:nvPicPr>
        <p:blipFill>
          <a:blip r:embed="rId1"/>
          <a:stretch>
            <a:fillRect/>
          </a:stretch>
        </p:blipFill>
        <p:spPr>
          <a:xfrm>
            <a:off x="2373139" y="647030"/>
            <a:ext cx="2198787" cy="308595"/>
          </a:xfrm>
          <a:prstGeom prst="rect">
            <a:avLst/>
          </a:prstGeom>
        </p:spPr>
      </p:pic>
      <p:sp>
        <p:nvSpPr>
          <p:cNvPr id="5" name="Text 2"/>
          <p:cNvSpPr/>
          <p:nvPr/>
        </p:nvSpPr>
        <p:spPr>
          <a:xfrm>
            <a:off x="2450232" y="994172"/>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Accueil</a:t>
            </a:r>
            <a:endParaRPr lang="en-US" sz="750" dirty="0"/>
          </a:p>
        </p:txBody>
      </p:sp>
      <p:sp>
        <p:nvSpPr>
          <p:cNvPr id="6" name="Text 3"/>
          <p:cNvSpPr/>
          <p:nvPr/>
        </p:nvSpPr>
        <p:spPr>
          <a:xfrm>
            <a:off x="2450232" y="1137865"/>
            <a:ext cx="2044601"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Identification du véhicule et saisie des données administratives</a:t>
            </a:r>
            <a:endParaRPr lang="en-US" sz="600" dirty="0"/>
          </a:p>
        </p:txBody>
      </p:sp>
      <p:pic>
        <p:nvPicPr>
          <p:cNvPr id="7" name="Image 1" descr="preencoded.png">    </p:cNvPr>
          <p:cNvPicPr>
            <a:picLocks noChangeAspect="1"/>
          </p:cNvPicPr>
          <p:nvPr/>
        </p:nvPicPr>
        <p:blipFill>
          <a:blip r:embed="rId2"/>
          <a:stretch>
            <a:fillRect/>
          </a:stretch>
        </p:blipFill>
        <p:spPr>
          <a:xfrm>
            <a:off x="4571926" y="647030"/>
            <a:ext cx="2198861" cy="308595"/>
          </a:xfrm>
          <a:prstGeom prst="rect">
            <a:avLst/>
          </a:prstGeom>
        </p:spPr>
      </p:pic>
      <p:sp>
        <p:nvSpPr>
          <p:cNvPr id="8" name="Text 4"/>
          <p:cNvSpPr/>
          <p:nvPr/>
        </p:nvSpPr>
        <p:spPr>
          <a:xfrm>
            <a:off x="4649019" y="994172"/>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Attente</a:t>
            </a:r>
            <a:endParaRPr lang="en-US" sz="750" dirty="0"/>
          </a:p>
        </p:txBody>
      </p:sp>
      <p:sp>
        <p:nvSpPr>
          <p:cNvPr id="9" name="Text 5"/>
          <p:cNvSpPr/>
          <p:nvPr/>
        </p:nvSpPr>
        <p:spPr>
          <a:xfrm>
            <a:off x="4649019" y="1137865"/>
            <a:ext cx="2044675"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Gestion de la file d'attente et appel au passage</a:t>
            </a:r>
            <a:endParaRPr lang="en-US" sz="600" dirty="0"/>
          </a:p>
        </p:txBody>
      </p:sp>
      <p:pic>
        <p:nvPicPr>
          <p:cNvPr id="10" name="Image 2" descr="preencoded.png">    </p:cNvPr>
          <p:cNvPicPr>
            <a:picLocks noChangeAspect="1"/>
          </p:cNvPicPr>
          <p:nvPr/>
        </p:nvPicPr>
        <p:blipFill>
          <a:blip r:embed="rId3"/>
          <a:stretch>
            <a:fillRect/>
          </a:stretch>
        </p:blipFill>
        <p:spPr>
          <a:xfrm>
            <a:off x="2373139" y="1400101"/>
            <a:ext cx="2198787" cy="308595"/>
          </a:xfrm>
          <a:prstGeom prst="rect">
            <a:avLst/>
          </a:prstGeom>
        </p:spPr>
      </p:pic>
      <p:sp>
        <p:nvSpPr>
          <p:cNvPr id="11" name="Text 6"/>
          <p:cNvSpPr/>
          <p:nvPr/>
        </p:nvSpPr>
        <p:spPr>
          <a:xfrm>
            <a:off x="2450232" y="1747242"/>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Inspection</a:t>
            </a:r>
            <a:endParaRPr lang="en-US" sz="750" dirty="0"/>
          </a:p>
        </p:txBody>
      </p:sp>
      <p:sp>
        <p:nvSpPr>
          <p:cNvPr id="12" name="Text 7"/>
          <p:cNvSpPr/>
          <p:nvPr/>
        </p:nvSpPr>
        <p:spPr>
          <a:xfrm>
            <a:off x="2450232" y="1890936"/>
            <a:ext cx="2044601"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Contrôle technique sur 77 points de sécurité</a:t>
            </a:r>
            <a:endParaRPr lang="en-US" sz="600" dirty="0"/>
          </a:p>
        </p:txBody>
      </p:sp>
      <p:pic>
        <p:nvPicPr>
          <p:cNvPr id="13" name="Image 3" descr="preencoded.png">    </p:cNvPr>
          <p:cNvPicPr>
            <a:picLocks noChangeAspect="1"/>
          </p:cNvPicPr>
          <p:nvPr/>
        </p:nvPicPr>
        <p:blipFill>
          <a:blip r:embed="rId4"/>
          <a:stretch>
            <a:fillRect/>
          </a:stretch>
        </p:blipFill>
        <p:spPr>
          <a:xfrm>
            <a:off x="4571926" y="1400101"/>
            <a:ext cx="2198861" cy="308595"/>
          </a:xfrm>
          <a:prstGeom prst="rect">
            <a:avLst/>
          </a:prstGeom>
        </p:spPr>
      </p:pic>
      <p:sp>
        <p:nvSpPr>
          <p:cNvPr id="14" name="Text 8"/>
          <p:cNvSpPr/>
          <p:nvPr/>
        </p:nvSpPr>
        <p:spPr>
          <a:xfrm>
            <a:off x="4649019" y="1747242"/>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Validation</a:t>
            </a:r>
            <a:endParaRPr lang="en-US" sz="750" dirty="0"/>
          </a:p>
        </p:txBody>
      </p:sp>
      <p:sp>
        <p:nvSpPr>
          <p:cNvPr id="15" name="Text 9"/>
          <p:cNvSpPr/>
          <p:nvPr/>
        </p:nvSpPr>
        <p:spPr>
          <a:xfrm>
            <a:off x="4649019" y="1890936"/>
            <a:ext cx="2044675"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Émission du procès-verbal officiel</a:t>
            </a:r>
            <a:endParaRPr lang="en-US" sz="600" dirty="0"/>
          </a:p>
        </p:txBody>
      </p:sp>
      <p:sp>
        <p:nvSpPr>
          <p:cNvPr id="16" name="Text 10"/>
          <p:cNvSpPr/>
          <p:nvPr/>
        </p:nvSpPr>
        <p:spPr>
          <a:xfrm>
            <a:off x="2373139" y="2118420"/>
            <a:ext cx="1266453"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Structure Organisationnelle</a:t>
            </a:r>
            <a:endParaRPr lang="en-US" sz="750" dirty="0"/>
          </a:p>
        </p:txBody>
      </p:sp>
      <p:sp>
        <p:nvSpPr>
          <p:cNvPr id="17" name="Shape 11"/>
          <p:cNvSpPr/>
          <p:nvPr/>
        </p:nvSpPr>
        <p:spPr>
          <a:xfrm>
            <a:off x="2373139" y="2296790"/>
            <a:ext cx="732904" cy="483022"/>
          </a:xfrm>
          <a:prstGeom prst="roundRect">
            <a:avLst>
              <a:gd name="adj" fmla="val 6709"/>
            </a:avLst>
          </a:prstGeom>
          <a:solidFill>
            <a:srgbClr val="D2D9F9"/>
          </a:solidFill>
          <a:ln w="4763">
            <a:solidFill>
              <a:srgbClr val="B8BFDF"/>
            </a:solidFill>
            <a:prstDash val="solid"/>
          </a:ln>
        </p:spPr>
      </p:sp>
      <p:pic>
        <p:nvPicPr>
          <p:cNvPr id="18" name="Image 4"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85306" y="2484016"/>
            <a:ext cx="108496" cy="108496"/>
          </a:xfrm>
          <a:prstGeom prst="rect">
            <a:avLst/>
          </a:prstGeom>
        </p:spPr>
      </p:pic>
      <p:sp>
        <p:nvSpPr>
          <p:cNvPr id="19" name="Text 12"/>
          <p:cNvSpPr/>
          <p:nvPr/>
        </p:nvSpPr>
        <p:spPr>
          <a:xfrm>
            <a:off x="3183136" y="2373883"/>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Chef de Centre</a:t>
            </a:r>
            <a:endParaRPr lang="en-US" sz="750" dirty="0"/>
          </a:p>
        </p:txBody>
      </p:sp>
      <p:sp>
        <p:nvSpPr>
          <p:cNvPr id="20" name="Text 13"/>
          <p:cNvSpPr/>
          <p:nvPr/>
        </p:nvSpPr>
        <p:spPr>
          <a:xfrm>
            <a:off x="3183136" y="2517577"/>
            <a:ext cx="3510558"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Responsable de la gestion globale, de la conformité aux normes DEKRA/NARSA et du suivi qualité</a:t>
            </a:r>
            <a:endParaRPr lang="en-US" sz="600" dirty="0"/>
          </a:p>
        </p:txBody>
      </p:sp>
      <p:sp>
        <p:nvSpPr>
          <p:cNvPr id="21" name="Shape 14"/>
          <p:cNvSpPr/>
          <p:nvPr/>
        </p:nvSpPr>
        <p:spPr>
          <a:xfrm>
            <a:off x="3144589" y="2777430"/>
            <a:ext cx="3587651" cy="4763"/>
          </a:xfrm>
          <a:prstGeom prst="roundRect">
            <a:avLst>
              <a:gd name="adj" fmla="val 680329"/>
            </a:avLst>
          </a:prstGeom>
          <a:solidFill>
            <a:srgbClr val="B8BFDF"/>
          </a:solidFill>
          <a:ln/>
        </p:spPr>
      </p:sp>
      <p:sp>
        <p:nvSpPr>
          <p:cNvPr id="22" name="Shape 15"/>
          <p:cNvSpPr/>
          <p:nvPr/>
        </p:nvSpPr>
        <p:spPr>
          <a:xfrm>
            <a:off x="2373139" y="2818358"/>
            <a:ext cx="1465808" cy="390451"/>
          </a:xfrm>
          <a:prstGeom prst="roundRect">
            <a:avLst>
              <a:gd name="adj" fmla="val 8299"/>
            </a:avLst>
          </a:prstGeom>
          <a:solidFill>
            <a:srgbClr val="D2D9F9"/>
          </a:solidFill>
          <a:ln w="4763">
            <a:solidFill>
              <a:srgbClr val="B8BFDF"/>
            </a:solidFill>
            <a:prstDash val="solid"/>
          </a:ln>
        </p:spPr>
      </p:sp>
      <p:pic>
        <p:nvPicPr>
          <p:cNvPr id="23" name="Image 5"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51795" y="2959298"/>
            <a:ext cx="108496" cy="108496"/>
          </a:xfrm>
          <a:prstGeom prst="rect">
            <a:avLst/>
          </a:prstGeom>
        </p:spPr>
      </p:pic>
      <p:sp>
        <p:nvSpPr>
          <p:cNvPr id="24" name="Text 16"/>
          <p:cNvSpPr/>
          <p:nvPr/>
        </p:nvSpPr>
        <p:spPr>
          <a:xfrm>
            <a:off x="3916040" y="2895451"/>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Agents Visiteurs</a:t>
            </a:r>
            <a:endParaRPr lang="en-US" sz="750" dirty="0"/>
          </a:p>
        </p:txBody>
      </p:sp>
      <p:sp>
        <p:nvSpPr>
          <p:cNvPr id="25" name="Text 17"/>
          <p:cNvSpPr/>
          <p:nvPr/>
        </p:nvSpPr>
        <p:spPr>
          <a:xfrm>
            <a:off x="3916040" y="3039145"/>
            <a:ext cx="2738289"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Exécutent les contrôles sur les lignes d'inspection avec rigueur et expertise</a:t>
            </a:r>
            <a:endParaRPr lang="en-US" sz="600" dirty="0"/>
          </a:p>
        </p:txBody>
      </p:sp>
      <p:sp>
        <p:nvSpPr>
          <p:cNvPr id="26" name="Shape 18"/>
          <p:cNvSpPr/>
          <p:nvPr/>
        </p:nvSpPr>
        <p:spPr>
          <a:xfrm>
            <a:off x="3877494" y="3206428"/>
            <a:ext cx="2854747" cy="4763"/>
          </a:xfrm>
          <a:prstGeom prst="roundRect">
            <a:avLst>
              <a:gd name="adj" fmla="val 680329"/>
            </a:avLst>
          </a:prstGeom>
          <a:solidFill>
            <a:srgbClr val="B8BFDF"/>
          </a:solidFill>
          <a:ln/>
        </p:spPr>
      </p:sp>
      <p:sp>
        <p:nvSpPr>
          <p:cNvPr id="27" name="Shape 19"/>
          <p:cNvSpPr/>
          <p:nvPr/>
        </p:nvSpPr>
        <p:spPr>
          <a:xfrm>
            <a:off x="2373139" y="3247355"/>
            <a:ext cx="2198787" cy="483022"/>
          </a:xfrm>
          <a:prstGeom prst="roundRect">
            <a:avLst>
              <a:gd name="adj" fmla="val 6709"/>
            </a:avLst>
          </a:prstGeom>
          <a:solidFill>
            <a:srgbClr val="D2D9F9"/>
          </a:solidFill>
          <a:ln w="4763">
            <a:solidFill>
              <a:srgbClr val="B8BFDF"/>
            </a:solidFill>
            <a:prstDash val="solid"/>
          </a:ln>
        </p:spPr>
      </p:sp>
      <p:pic>
        <p:nvPicPr>
          <p:cNvPr id="28" name="Image 6"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18284" y="3434581"/>
            <a:ext cx="108496" cy="108496"/>
          </a:xfrm>
          <a:prstGeom prst="rect">
            <a:avLst/>
          </a:prstGeom>
        </p:spPr>
      </p:pic>
      <p:sp>
        <p:nvSpPr>
          <p:cNvPr id="29" name="Text 20"/>
          <p:cNvSpPr/>
          <p:nvPr/>
        </p:nvSpPr>
        <p:spPr>
          <a:xfrm>
            <a:off x="4649019" y="3324448"/>
            <a:ext cx="1007418"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Agents Administratifs</a:t>
            </a:r>
            <a:endParaRPr lang="en-US" sz="750" dirty="0"/>
          </a:p>
        </p:txBody>
      </p:sp>
      <p:sp>
        <p:nvSpPr>
          <p:cNvPr id="30" name="Text 21"/>
          <p:cNvSpPr/>
          <p:nvPr/>
        </p:nvSpPr>
        <p:spPr>
          <a:xfrm>
            <a:off x="4649019" y="3468142"/>
            <a:ext cx="2044675"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Gèrent l'accueil, la saisie informatique et les impressions des PV</a:t>
            </a:r>
            <a:endParaRPr lang="en-US" sz="600" dirty="0"/>
          </a:p>
        </p:txBody>
      </p:sp>
      <p:sp>
        <p:nvSpPr>
          <p:cNvPr id="31" name="Text 22"/>
          <p:cNvSpPr/>
          <p:nvPr/>
        </p:nvSpPr>
        <p:spPr>
          <a:xfrm>
            <a:off x="2373139" y="3788197"/>
            <a:ext cx="1248742"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Types de Visites Techniques</a:t>
            </a:r>
            <a:endParaRPr lang="en-US" sz="750" dirty="0"/>
          </a:p>
        </p:txBody>
      </p:sp>
      <p:sp>
        <p:nvSpPr>
          <p:cNvPr id="32" name="Shape 23"/>
          <p:cNvSpPr/>
          <p:nvPr/>
        </p:nvSpPr>
        <p:spPr>
          <a:xfrm>
            <a:off x="2373139" y="3966567"/>
            <a:ext cx="4397648" cy="1140768"/>
          </a:xfrm>
          <a:prstGeom prst="roundRect">
            <a:avLst>
              <a:gd name="adj" fmla="val 2841"/>
            </a:avLst>
          </a:prstGeom>
          <a:noFill/>
          <a:ln w="4763">
            <a:solidFill>
              <a:srgbClr val="000000">
                <a:alpha val="8000"/>
              </a:srgbClr>
            </a:solidFill>
            <a:prstDash val="solid"/>
          </a:ln>
        </p:spPr>
      </p:sp>
      <p:sp>
        <p:nvSpPr>
          <p:cNvPr id="33" name="Text 24"/>
          <p:cNvSpPr/>
          <p:nvPr/>
        </p:nvSpPr>
        <p:spPr>
          <a:xfrm>
            <a:off x="2455515" y="3999235"/>
            <a:ext cx="1305818" cy="92571"/>
          </a:xfrm>
          <a:prstGeom prst="rect">
            <a:avLst/>
          </a:prstGeom>
          <a:noFill/>
          <a:ln/>
        </p:spPr>
        <p:txBody>
          <a:bodyPr wrap="none" lIns="0" tIns="0" rIns="0" bIns="0" rtlCol="0" anchor="t"/>
          <a:lstStyle/>
          <a:p>
            <a:pPr algn="l" indent="0" marL="0">
              <a:lnSpc>
                <a:spcPts val="700"/>
              </a:lnSpc>
              <a:buNone/>
            </a:pPr>
            <a:r>
              <a:rPr lang="en-US" sz="600" b="1" dirty="0">
                <a:solidFill>
                  <a:srgbClr val="404155"/>
                </a:solidFill>
                <a:latin typeface="Nobile" pitchFamily="34" charset="0"/>
                <a:ea typeface="Nobile" pitchFamily="34" charset="-122"/>
                <a:cs typeface="Nobile" pitchFamily="34" charset="-120"/>
              </a:rPr>
              <a:t>Type de Visite</a:t>
            </a:r>
            <a:endParaRPr lang="en-US" sz="600" dirty="0"/>
          </a:p>
        </p:txBody>
      </p:sp>
      <p:sp>
        <p:nvSpPr>
          <p:cNvPr id="34" name="Text 25"/>
          <p:cNvSpPr/>
          <p:nvPr/>
        </p:nvSpPr>
        <p:spPr>
          <a:xfrm>
            <a:off x="3920282" y="3999235"/>
            <a:ext cx="1303437" cy="92571"/>
          </a:xfrm>
          <a:prstGeom prst="rect">
            <a:avLst/>
          </a:prstGeom>
          <a:noFill/>
          <a:ln/>
        </p:spPr>
        <p:txBody>
          <a:bodyPr wrap="none" lIns="0" tIns="0" rIns="0" bIns="0" rtlCol="0" anchor="t"/>
          <a:lstStyle/>
          <a:p>
            <a:pPr algn="l" indent="0" marL="0">
              <a:lnSpc>
                <a:spcPts val="700"/>
              </a:lnSpc>
              <a:buNone/>
            </a:pPr>
            <a:r>
              <a:rPr lang="en-US" sz="600" b="1" dirty="0">
                <a:solidFill>
                  <a:srgbClr val="404155"/>
                </a:solidFill>
                <a:latin typeface="Nobile" pitchFamily="34" charset="0"/>
                <a:ea typeface="Nobile" pitchFamily="34" charset="-122"/>
                <a:cs typeface="Nobile" pitchFamily="34" charset="-120"/>
              </a:rPr>
              <a:t>Description</a:t>
            </a:r>
            <a:endParaRPr lang="en-US" sz="600" dirty="0"/>
          </a:p>
        </p:txBody>
      </p:sp>
      <p:sp>
        <p:nvSpPr>
          <p:cNvPr id="35" name="Text 26"/>
          <p:cNvSpPr/>
          <p:nvPr/>
        </p:nvSpPr>
        <p:spPr>
          <a:xfrm>
            <a:off x="5382667" y="3999235"/>
            <a:ext cx="1305818" cy="92571"/>
          </a:xfrm>
          <a:prstGeom prst="rect">
            <a:avLst/>
          </a:prstGeom>
          <a:noFill/>
          <a:ln/>
        </p:spPr>
        <p:txBody>
          <a:bodyPr wrap="none" lIns="0" tIns="0" rIns="0" bIns="0" rtlCol="0" anchor="t"/>
          <a:lstStyle/>
          <a:p>
            <a:pPr algn="l" indent="0" marL="0">
              <a:lnSpc>
                <a:spcPts val="700"/>
              </a:lnSpc>
              <a:buNone/>
            </a:pPr>
            <a:r>
              <a:rPr lang="en-US" sz="600" b="1" dirty="0">
                <a:solidFill>
                  <a:srgbClr val="404155"/>
                </a:solidFill>
                <a:latin typeface="Nobile" pitchFamily="34" charset="0"/>
                <a:ea typeface="Nobile" pitchFamily="34" charset="-122"/>
                <a:cs typeface="Nobile" pitchFamily="34" charset="-120"/>
              </a:rPr>
              <a:t>Périodicité</a:t>
            </a:r>
            <a:endParaRPr lang="en-US" sz="600" dirty="0"/>
          </a:p>
        </p:txBody>
      </p:sp>
      <p:sp>
        <p:nvSpPr>
          <p:cNvPr id="36" name="Text 27"/>
          <p:cNvSpPr/>
          <p:nvPr/>
        </p:nvSpPr>
        <p:spPr>
          <a:xfrm>
            <a:off x="2455515" y="4152379"/>
            <a:ext cx="130581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Périodique</a:t>
            </a:r>
            <a:endParaRPr lang="en-US" sz="600" dirty="0"/>
          </a:p>
        </p:txBody>
      </p:sp>
      <p:sp>
        <p:nvSpPr>
          <p:cNvPr id="37" name="Text 28"/>
          <p:cNvSpPr/>
          <p:nvPr/>
        </p:nvSpPr>
        <p:spPr>
          <a:xfrm>
            <a:off x="3920282" y="4152379"/>
            <a:ext cx="1303437"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Contrôle obligatoire effectué selon la périodicité réglementaire</a:t>
            </a:r>
            <a:endParaRPr lang="en-US" sz="600" dirty="0"/>
          </a:p>
        </p:txBody>
      </p:sp>
      <p:sp>
        <p:nvSpPr>
          <p:cNvPr id="38" name="Text 29"/>
          <p:cNvSpPr/>
          <p:nvPr/>
        </p:nvSpPr>
        <p:spPr>
          <a:xfrm>
            <a:off x="5382667" y="4152379"/>
            <a:ext cx="130581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Annuelle après 5 ans</a:t>
            </a:r>
            <a:endParaRPr lang="en-US" sz="600" dirty="0"/>
          </a:p>
        </p:txBody>
      </p:sp>
      <p:sp>
        <p:nvSpPr>
          <p:cNvPr id="39" name="Text 30"/>
          <p:cNvSpPr/>
          <p:nvPr/>
        </p:nvSpPr>
        <p:spPr>
          <a:xfrm>
            <a:off x="2455515" y="4398094"/>
            <a:ext cx="130581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Mutation</a:t>
            </a:r>
            <a:endParaRPr lang="en-US" sz="600" dirty="0"/>
          </a:p>
        </p:txBody>
      </p:sp>
      <p:sp>
        <p:nvSpPr>
          <p:cNvPr id="40" name="Text 31"/>
          <p:cNvSpPr/>
          <p:nvPr/>
        </p:nvSpPr>
        <p:spPr>
          <a:xfrm>
            <a:off x="3920282" y="4398094"/>
            <a:ext cx="1303437"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Visite obligatoire précédant tout transfert de propriété</a:t>
            </a:r>
            <a:endParaRPr lang="en-US" sz="600" dirty="0"/>
          </a:p>
        </p:txBody>
      </p:sp>
      <p:sp>
        <p:nvSpPr>
          <p:cNvPr id="41" name="Text 32"/>
          <p:cNvSpPr/>
          <p:nvPr/>
        </p:nvSpPr>
        <p:spPr>
          <a:xfrm>
            <a:off x="5382667" y="4398094"/>
            <a:ext cx="130581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Avant vente</a:t>
            </a:r>
            <a:endParaRPr lang="en-US" sz="600" dirty="0"/>
          </a:p>
        </p:txBody>
      </p:sp>
      <p:sp>
        <p:nvSpPr>
          <p:cNvPr id="42" name="Text 33"/>
          <p:cNvSpPr/>
          <p:nvPr/>
        </p:nvSpPr>
        <p:spPr>
          <a:xfrm>
            <a:off x="2455515" y="4643810"/>
            <a:ext cx="130581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Complémentaire</a:t>
            </a:r>
            <a:endParaRPr lang="en-US" sz="600" dirty="0"/>
          </a:p>
        </p:txBody>
      </p:sp>
      <p:sp>
        <p:nvSpPr>
          <p:cNvPr id="43" name="Text 34"/>
          <p:cNvSpPr/>
          <p:nvPr/>
        </p:nvSpPr>
        <p:spPr>
          <a:xfrm>
            <a:off x="3920282" y="4643810"/>
            <a:ext cx="1303437"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Contrôle spécifique suite à une modification technique</a:t>
            </a:r>
            <a:endParaRPr lang="en-US" sz="600" dirty="0"/>
          </a:p>
        </p:txBody>
      </p:sp>
      <p:sp>
        <p:nvSpPr>
          <p:cNvPr id="44" name="Text 35"/>
          <p:cNvSpPr/>
          <p:nvPr/>
        </p:nvSpPr>
        <p:spPr>
          <a:xfrm>
            <a:off x="5382667" y="4643810"/>
            <a:ext cx="130581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Sur modification</a:t>
            </a:r>
            <a:endParaRPr lang="en-US" sz="600" dirty="0"/>
          </a:p>
        </p:txBody>
      </p:sp>
      <p:sp>
        <p:nvSpPr>
          <p:cNvPr id="45" name="Text 36"/>
          <p:cNvSpPr/>
          <p:nvPr/>
        </p:nvSpPr>
        <p:spPr>
          <a:xfrm>
            <a:off x="2455515" y="4889525"/>
            <a:ext cx="130581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Volontaire</a:t>
            </a:r>
            <a:endParaRPr lang="en-US" sz="600" dirty="0"/>
          </a:p>
        </p:txBody>
      </p:sp>
      <p:sp>
        <p:nvSpPr>
          <p:cNvPr id="46" name="Text 37"/>
          <p:cNvSpPr/>
          <p:nvPr/>
        </p:nvSpPr>
        <p:spPr>
          <a:xfrm>
            <a:off x="3920282" y="4889525"/>
            <a:ext cx="1303437"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Demandée spontanément par le propriétaire</a:t>
            </a:r>
            <a:endParaRPr lang="en-US" sz="600" dirty="0"/>
          </a:p>
        </p:txBody>
      </p:sp>
      <p:sp>
        <p:nvSpPr>
          <p:cNvPr id="47" name="Text 38"/>
          <p:cNvSpPr/>
          <p:nvPr/>
        </p:nvSpPr>
        <p:spPr>
          <a:xfrm>
            <a:off x="5382667" y="4889525"/>
            <a:ext cx="130581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À la demande</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373139" y="212154"/>
            <a:ext cx="2487737" cy="241102"/>
          </a:xfrm>
          <a:prstGeom prst="rect">
            <a:avLst/>
          </a:prstGeom>
          <a:noFill/>
          <a:ln/>
        </p:spPr>
        <p:txBody>
          <a:bodyPr wrap="none" lIns="0" tIns="0" rIns="0" bIns="0" rtlCol="0" anchor="t"/>
          <a:lstStyle/>
          <a:p>
            <a:pPr algn="l" indent="0" marL="0">
              <a:lnSpc>
                <a:spcPts val="1850"/>
              </a:lnSpc>
              <a:buNone/>
            </a:pPr>
            <a:r>
              <a:rPr lang="en-US" sz="1500" dirty="0">
                <a:solidFill>
                  <a:srgbClr val="1B1B27"/>
                </a:solidFill>
                <a:latin typeface="Corben" pitchFamily="34" charset="0"/>
                <a:ea typeface="Corben" pitchFamily="34" charset="-122"/>
                <a:cs typeface="Corben" pitchFamily="34" charset="-120"/>
              </a:rPr>
              <a:t>Le Projet de Tableau de Bord</a:t>
            </a:r>
            <a:endParaRPr lang="en-US" sz="1500" dirty="0"/>
          </a:p>
        </p:txBody>
      </p:sp>
      <p:sp>
        <p:nvSpPr>
          <p:cNvPr id="3" name="Text 1"/>
          <p:cNvSpPr/>
          <p:nvPr/>
        </p:nvSpPr>
        <p:spPr>
          <a:xfrm>
            <a:off x="2373139" y="468660"/>
            <a:ext cx="1340495"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Conception et Développement</a:t>
            </a:r>
            <a:endParaRPr lang="en-US" sz="750" dirty="0"/>
          </a:p>
        </p:txBody>
      </p:sp>
      <p:sp>
        <p:nvSpPr>
          <p:cNvPr id="4" name="Text 2"/>
          <p:cNvSpPr/>
          <p:nvPr/>
        </p:nvSpPr>
        <p:spPr>
          <a:xfrm>
            <a:off x="2373139" y="685577"/>
            <a:ext cx="1111895"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Problématique Identifiée</a:t>
            </a:r>
            <a:endParaRPr lang="en-US" sz="750" dirty="0"/>
          </a:p>
        </p:txBody>
      </p:sp>
      <p:sp>
        <p:nvSpPr>
          <p:cNvPr id="5" name="Text 3"/>
          <p:cNvSpPr/>
          <p:nvPr/>
        </p:nvSpPr>
        <p:spPr>
          <a:xfrm>
            <a:off x="2373139" y="844674"/>
            <a:ext cx="1875458" cy="833140"/>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Au fil de mon immersion dans le quotidien du centre VITECMA, j'ai pu identifier un problème opérationnel récurrent : la gestion de la file d'attente des véhicules reposait en grande partie sur des processus manuels et informels. Aux heures de pointe, le suivi du statut de chaque véhicule devenait difficile à gérer efficacement, générant des temps d'attente allongés et une confusion dans l'ordonnancement des passages.</a:t>
            </a:r>
            <a:endParaRPr lang="en-US" sz="600" dirty="0"/>
          </a:p>
        </p:txBody>
      </p:sp>
      <p:pic>
        <p:nvPicPr>
          <p:cNvPr id="6" name="Image 0" descr="preencoded.png">    </p:cNvPr>
          <p:cNvPicPr>
            <a:picLocks noChangeAspect="1"/>
          </p:cNvPicPr>
          <p:nvPr/>
        </p:nvPicPr>
        <p:blipFill>
          <a:blip r:embed="rId1"/>
          <a:stretch>
            <a:fillRect/>
          </a:stretch>
        </p:blipFill>
        <p:spPr>
          <a:xfrm>
            <a:off x="4441478" y="690414"/>
            <a:ext cx="2333997" cy="2333997"/>
          </a:xfrm>
          <a:prstGeom prst="rect">
            <a:avLst/>
          </a:prstGeom>
        </p:spPr>
      </p:pic>
      <p:sp>
        <p:nvSpPr>
          <p:cNvPr id="7" name="Text 4"/>
          <p:cNvSpPr/>
          <p:nvPr/>
        </p:nvSpPr>
        <p:spPr>
          <a:xfrm>
            <a:off x="2373139" y="3125614"/>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Objectifs du Projet</a:t>
            </a:r>
            <a:endParaRPr lang="en-US" sz="750" dirty="0"/>
          </a:p>
        </p:txBody>
      </p:sp>
      <p:sp>
        <p:nvSpPr>
          <p:cNvPr id="8" name="Shape 5"/>
          <p:cNvSpPr/>
          <p:nvPr/>
        </p:nvSpPr>
        <p:spPr>
          <a:xfrm>
            <a:off x="2373139" y="3303984"/>
            <a:ext cx="173534" cy="173534"/>
          </a:xfrm>
          <a:prstGeom prst="roundRect">
            <a:avLst>
              <a:gd name="adj" fmla="val 18673"/>
            </a:avLst>
          </a:prstGeom>
          <a:solidFill>
            <a:srgbClr val="D2D9F9"/>
          </a:solidFill>
          <a:ln w="4763">
            <a:solidFill>
              <a:srgbClr val="B8BFDF"/>
            </a:solidFill>
            <a:prstDash val="solid"/>
          </a:ln>
        </p:spPr>
      </p:sp>
      <p:sp>
        <p:nvSpPr>
          <p:cNvPr id="9" name="Text 6"/>
          <p:cNvSpPr/>
          <p:nvPr/>
        </p:nvSpPr>
        <p:spPr>
          <a:xfrm>
            <a:off x="2585219" y="3330476"/>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Vision en Temps Réel</a:t>
            </a:r>
            <a:endParaRPr lang="en-US" sz="750" dirty="0"/>
          </a:p>
        </p:txBody>
      </p:sp>
      <p:sp>
        <p:nvSpPr>
          <p:cNvPr id="10" name="Text 7"/>
          <p:cNvSpPr/>
          <p:nvPr/>
        </p:nvSpPr>
        <p:spPr>
          <a:xfrm>
            <a:off x="2585219" y="3474169"/>
            <a:ext cx="418556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Offrir une vue complète de l'ensemble des véhicules présents dans le centre avec leurs statuts actuels</a:t>
            </a:r>
            <a:endParaRPr lang="en-US" sz="600" dirty="0"/>
          </a:p>
        </p:txBody>
      </p:sp>
      <p:sp>
        <p:nvSpPr>
          <p:cNvPr id="11" name="Shape 8"/>
          <p:cNvSpPr/>
          <p:nvPr/>
        </p:nvSpPr>
        <p:spPr>
          <a:xfrm>
            <a:off x="2373139" y="3643833"/>
            <a:ext cx="173534" cy="173534"/>
          </a:xfrm>
          <a:prstGeom prst="roundRect">
            <a:avLst>
              <a:gd name="adj" fmla="val 18673"/>
            </a:avLst>
          </a:prstGeom>
          <a:solidFill>
            <a:srgbClr val="D2D9F9"/>
          </a:solidFill>
          <a:ln w="4763">
            <a:solidFill>
              <a:srgbClr val="B8BFDF"/>
            </a:solidFill>
            <a:prstDash val="solid"/>
          </a:ln>
        </p:spPr>
      </p:sp>
      <p:sp>
        <p:nvSpPr>
          <p:cNvPr id="12" name="Text 9"/>
          <p:cNvSpPr/>
          <p:nvPr/>
        </p:nvSpPr>
        <p:spPr>
          <a:xfrm>
            <a:off x="2585219" y="3670325"/>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Gestion Simplifiée</a:t>
            </a:r>
            <a:endParaRPr lang="en-US" sz="750" dirty="0"/>
          </a:p>
        </p:txBody>
      </p:sp>
      <p:sp>
        <p:nvSpPr>
          <p:cNvPr id="13" name="Text 10"/>
          <p:cNvSpPr/>
          <p:nvPr/>
        </p:nvSpPr>
        <p:spPr>
          <a:xfrm>
            <a:off x="2585219" y="3814018"/>
            <a:ext cx="418556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Permettre au chef de centre et aux techniciens de gérer les statuts des inspections en un clic</a:t>
            </a:r>
            <a:endParaRPr lang="en-US" sz="600" dirty="0"/>
          </a:p>
        </p:txBody>
      </p:sp>
      <p:sp>
        <p:nvSpPr>
          <p:cNvPr id="14" name="Shape 11"/>
          <p:cNvSpPr/>
          <p:nvPr/>
        </p:nvSpPr>
        <p:spPr>
          <a:xfrm>
            <a:off x="2373139" y="3983682"/>
            <a:ext cx="173534" cy="173534"/>
          </a:xfrm>
          <a:prstGeom prst="roundRect">
            <a:avLst>
              <a:gd name="adj" fmla="val 18673"/>
            </a:avLst>
          </a:prstGeom>
          <a:solidFill>
            <a:srgbClr val="D2D9F9"/>
          </a:solidFill>
          <a:ln w="4763">
            <a:solidFill>
              <a:srgbClr val="B8BFDF"/>
            </a:solidFill>
            <a:prstDash val="solid"/>
          </a:ln>
        </p:spPr>
      </p:sp>
      <p:sp>
        <p:nvSpPr>
          <p:cNvPr id="15" name="Text 12"/>
          <p:cNvSpPr/>
          <p:nvPr/>
        </p:nvSpPr>
        <p:spPr>
          <a:xfrm>
            <a:off x="2585219" y="4010174"/>
            <a:ext cx="1320478"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Chronométrage Automatique</a:t>
            </a:r>
            <a:endParaRPr lang="en-US" sz="750" dirty="0"/>
          </a:p>
        </p:txBody>
      </p:sp>
      <p:sp>
        <p:nvSpPr>
          <p:cNvPr id="16" name="Text 13"/>
          <p:cNvSpPr/>
          <p:nvPr/>
        </p:nvSpPr>
        <p:spPr>
          <a:xfrm>
            <a:off x="2585219" y="4153867"/>
            <a:ext cx="418556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Mesurer la durée de chaque inspection selon la catégorie du véhicule (VL : 20 min, PL : 30 min)</a:t>
            </a:r>
            <a:endParaRPr lang="en-US" sz="600" dirty="0"/>
          </a:p>
        </p:txBody>
      </p:sp>
      <p:sp>
        <p:nvSpPr>
          <p:cNvPr id="17" name="Shape 14"/>
          <p:cNvSpPr/>
          <p:nvPr/>
        </p:nvSpPr>
        <p:spPr>
          <a:xfrm>
            <a:off x="2373139" y="4323531"/>
            <a:ext cx="173534" cy="173534"/>
          </a:xfrm>
          <a:prstGeom prst="roundRect">
            <a:avLst>
              <a:gd name="adj" fmla="val 18673"/>
            </a:avLst>
          </a:prstGeom>
          <a:solidFill>
            <a:srgbClr val="D2D9F9"/>
          </a:solidFill>
          <a:ln w="4763">
            <a:solidFill>
              <a:srgbClr val="B8BFDF"/>
            </a:solidFill>
            <a:prstDash val="solid"/>
          </a:ln>
        </p:spPr>
      </p:sp>
      <p:sp>
        <p:nvSpPr>
          <p:cNvPr id="18" name="Text 15"/>
          <p:cNvSpPr/>
          <p:nvPr/>
        </p:nvSpPr>
        <p:spPr>
          <a:xfrm>
            <a:off x="2585219" y="4350023"/>
            <a:ext cx="1032942"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Réduction des Attentes</a:t>
            </a:r>
            <a:endParaRPr lang="en-US" sz="750" dirty="0"/>
          </a:p>
        </p:txBody>
      </p:sp>
      <p:sp>
        <p:nvSpPr>
          <p:cNvPr id="19" name="Text 16"/>
          <p:cNvSpPr/>
          <p:nvPr/>
        </p:nvSpPr>
        <p:spPr>
          <a:xfrm>
            <a:off x="2585219" y="4493716"/>
            <a:ext cx="418556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Prévenir les engorgements et fluidifier le flux de travail du centre</a:t>
            </a:r>
            <a:endParaRPr lang="en-US" sz="600" dirty="0"/>
          </a:p>
        </p:txBody>
      </p:sp>
      <p:sp>
        <p:nvSpPr>
          <p:cNvPr id="20" name="Shape 17"/>
          <p:cNvSpPr/>
          <p:nvPr/>
        </p:nvSpPr>
        <p:spPr>
          <a:xfrm>
            <a:off x="2373139" y="4663380"/>
            <a:ext cx="173534" cy="173534"/>
          </a:xfrm>
          <a:prstGeom prst="roundRect">
            <a:avLst>
              <a:gd name="adj" fmla="val 18673"/>
            </a:avLst>
          </a:prstGeom>
          <a:solidFill>
            <a:srgbClr val="D2D9F9"/>
          </a:solidFill>
          <a:ln w="4763">
            <a:solidFill>
              <a:srgbClr val="B8BFDF"/>
            </a:solidFill>
            <a:prstDash val="solid"/>
          </a:ln>
        </p:spPr>
      </p:sp>
      <p:sp>
        <p:nvSpPr>
          <p:cNvPr id="21" name="Text 18"/>
          <p:cNvSpPr/>
          <p:nvPr/>
        </p:nvSpPr>
        <p:spPr>
          <a:xfrm>
            <a:off x="2585219" y="4689872"/>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Interface Intuitive</a:t>
            </a:r>
            <a:endParaRPr lang="en-US" sz="750" dirty="0"/>
          </a:p>
        </p:txBody>
      </p:sp>
      <p:sp>
        <p:nvSpPr>
          <p:cNvPr id="22" name="Text 19"/>
          <p:cNvSpPr/>
          <p:nvPr/>
        </p:nvSpPr>
        <p:spPr>
          <a:xfrm>
            <a:off x="2585219" y="4833565"/>
            <a:ext cx="418556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Fournir une interface accessible depuis n'importe quel poste du centre avec expérience utilisateur optimale</a:t>
            </a:r>
            <a:endParaRPr lang="en-US" sz="600" dirty="0"/>
          </a:p>
        </p:txBody>
      </p:sp>
      <p:sp>
        <p:nvSpPr>
          <p:cNvPr id="23" name="Shape 20"/>
          <p:cNvSpPr/>
          <p:nvPr/>
        </p:nvSpPr>
        <p:spPr>
          <a:xfrm>
            <a:off x="2373139" y="5003229"/>
            <a:ext cx="173534" cy="173534"/>
          </a:xfrm>
          <a:prstGeom prst="roundRect">
            <a:avLst>
              <a:gd name="adj" fmla="val 18673"/>
            </a:avLst>
          </a:prstGeom>
          <a:solidFill>
            <a:srgbClr val="D2D9F9"/>
          </a:solidFill>
          <a:ln w="4763">
            <a:solidFill>
              <a:srgbClr val="B8BFDF"/>
            </a:solidFill>
            <a:prstDash val="solid"/>
          </a:ln>
        </p:spPr>
      </p:sp>
      <p:sp>
        <p:nvSpPr>
          <p:cNvPr id="24" name="Text 21"/>
          <p:cNvSpPr/>
          <p:nvPr/>
        </p:nvSpPr>
        <p:spPr>
          <a:xfrm>
            <a:off x="2585219" y="5029721"/>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Sécurité des Données</a:t>
            </a:r>
            <a:endParaRPr lang="en-US" sz="750" dirty="0"/>
          </a:p>
        </p:txBody>
      </p:sp>
      <p:sp>
        <p:nvSpPr>
          <p:cNvPr id="25" name="Text 22"/>
          <p:cNvSpPr/>
          <p:nvPr/>
        </p:nvSpPr>
        <p:spPr>
          <a:xfrm>
            <a:off x="2585219" y="5173414"/>
            <a:ext cx="4185568" cy="92571"/>
          </a:xfrm>
          <a:prstGeom prst="rect">
            <a:avLst/>
          </a:prstGeom>
          <a:noFill/>
          <a:ln/>
        </p:spPr>
        <p:txBody>
          <a:bodyPr wrap="non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Distinguer les rôles utilisateurs (administrateur / agent de consultation) avec protections appropriées</a:t>
            </a:r>
            <a:endParaRPr lang="en-US" sz="600" dirty="0"/>
          </a:p>
        </p:txBody>
      </p:sp>
      <p:sp>
        <p:nvSpPr>
          <p:cNvPr id="26" name="Text 23"/>
          <p:cNvSpPr/>
          <p:nvPr/>
        </p:nvSpPr>
        <p:spPr>
          <a:xfrm>
            <a:off x="2373139" y="5323805"/>
            <a:ext cx="1047155"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Architecture Technique</a:t>
            </a:r>
            <a:endParaRPr lang="en-US" sz="750" dirty="0"/>
          </a:p>
        </p:txBody>
      </p:sp>
      <p:pic>
        <p:nvPicPr>
          <p:cNvPr id="2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73139" y="5502176"/>
            <a:ext cx="192881" cy="192881"/>
          </a:xfrm>
          <a:prstGeom prst="rect">
            <a:avLst/>
          </a:prstGeom>
        </p:spPr>
      </p:pic>
      <p:sp>
        <p:nvSpPr>
          <p:cNvPr id="28" name="Text 24"/>
          <p:cNvSpPr/>
          <p:nvPr/>
        </p:nvSpPr>
        <p:spPr>
          <a:xfrm>
            <a:off x="2614240" y="5502176"/>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Laravel 13</a:t>
            </a:r>
            <a:endParaRPr lang="en-US" sz="750" dirty="0"/>
          </a:p>
        </p:txBody>
      </p:sp>
      <p:sp>
        <p:nvSpPr>
          <p:cNvPr id="29" name="Text 25"/>
          <p:cNvSpPr/>
          <p:nvPr/>
        </p:nvSpPr>
        <p:spPr>
          <a:xfrm>
            <a:off x="2614240" y="5645869"/>
            <a:ext cx="1933575"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Framework PHP moderne avec architecture MVC pour le backend</a:t>
            </a:r>
            <a:endParaRPr lang="en-US" sz="600" dirty="0"/>
          </a:p>
        </p:txBody>
      </p:sp>
      <p:pic>
        <p:nvPicPr>
          <p:cNvPr id="3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96036" y="5502176"/>
            <a:ext cx="192881" cy="192881"/>
          </a:xfrm>
          <a:prstGeom prst="rect">
            <a:avLst/>
          </a:prstGeom>
        </p:spPr>
      </p:pic>
      <p:sp>
        <p:nvSpPr>
          <p:cNvPr id="31" name="Text 26"/>
          <p:cNvSpPr/>
          <p:nvPr/>
        </p:nvSpPr>
        <p:spPr>
          <a:xfrm>
            <a:off x="4837137" y="5502176"/>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Tailwind CSS 3</a:t>
            </a:r>
            <a:endParaRPr lang="en-US" sz="750" dirty="0"/>
          </a:p>
        </p:txBody>
      </p:sp>
      <p:sp>
        <p:nvSpPr>
          <p:cNvPr id="32" name="Text 27"/>
          <p:cNvSpPr/>
          <p:nvPr/>
        </p:nvSpPr>
        <p:spPr>
          <a:xfrm>
            <a:off x="4837137" y="5645869"/>
            <a:ext cx="1933649"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Framework CSS utility-first pour l'interface utilisateur responsive</a:t>
            </a:r>
            <a:endParaRPr lang="en-US" sz="600" dirty="0"/>
          </a:p>
        </p:txBody>
      </p:sp>
      <p:pic>
        <p:nvPicPr>
          <p:cNvPr id="3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73139" y="5908104"/>
            <a:ext cx="192881" cy="192881"/>
          </a:xfrm>
          <a:prstGeom prst="rect">
            <a:avLst/>
          </a:prstGeom>
        </p:spPr>
      </p:pic>
      <p:sp>
        <p:nvSpPr>
          <p:cNvPr id="34" name="Text 28"/>
          <p:cNvSpPr/>
          <p:nvPr/>
        </p:nvSpPr>
        <p:spPr>
          <a:xfrm>
            <a:off x="2614240" y="5908104"/>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MySQL / Eloquent</a:t>
            </a:r>
            <a:endParaRPr lang="en-US" sz="750" dirty="0"/>
          </a:p>
        </p:txBody>
      </p:sp>
      <p:sp>
        <p:nvSpPr>
          <p:cNvPr id="35" name="Text 29"/>
          <p:cNvSpPr/>
          <p:nvPr/>
        </p:nvSpPr>
        <p:spPr>
          <a:xfrm>
            <a:off x="2614240" y="6051798"/>
            <a:ext cx="1933575"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Base de données relationnelle avec ORM Eloquent pour Laravel</a:t>
            </a:r>
            <a:endParaRPr lang="en-US" sz="600" dirty="0"/>
          </a:p>
        </p:txBody>
      </p:sp>
      <p:pic>
        <p:nvPicPr>
          <p:cNvPr id="3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596036" y="5908104"/>
            <a:ext cx="192881" cy="192881"/>
          </a:xfrm>
          <a:prstGeom prst="rect">
            <a:avLst/>
          </a:prstGeom>
        </p:spPr>
      </p:pic>
      <p:sp>
        <p:nvSpPr>
          <p:cNvPr id="37" name="Text 30"/>
          <p:cNvSpPr/>
          <p:nvPr/>
        </p:nvSpPr>
        <p:spPr>
          <a:xfrm>
            <a:off x="4837137" y="5908104"/>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Alpine.js 3</a:t>
            </a:r>
            <a:endParaRPr lang="en-US" sz="750" dirty="0"/>
          </a:p>
        </p:txBody>
      </p:sp>
      <p:sp>
        <p:nvSpPr>
          <p:cNvPr id="38" name="Text 31"/>
          <p:cNvSpPr/>
          <p:nvPr/>
        </p:nvSpPr>
        <p:spPr>
          <a:xfrm>
            <a:off x="4837137" y="6051798"/>
            <a:ext cx="1933649"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Framework JavaScript léger pour l'interactivité côté client</a:t>
            </a:r>
            <a:endParaRPr lang="en-US" sz="600" dirty="0"/>
          </a:p>
        </p:txBody>
      </p:sp>
      <p:pic>
        <p:nvPicPr>
          <p:cNvPr id="39"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73139" y="6314033"/>
            <a:ext cx="192881" cy="192881"/>
          </a:xfrm>
          <a:prstGeom prst="rect">
            <a:avLst/>
          </a:prstGeom>
        </p:spPr>
      </p:pic>
      <p:sp>
        <p:nvSpPr>
          <p:cNvPr id="40" name="Text 32"/>
          <p:cNvSpPr/>
          <p:nvPr/>
        </p:nvSpPr>
        <p:spPr>
          <a:xfrm>
            <a:off x="2614240" y="6314033"/>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Laravel Breeze</a:t>
            </a:r>
            <a:endParaRPr lang="en-US" sz="750" dirty="0"/>
          </a:p>
        </p:txBody>
      </p:sp>
      <p:sp>
        <p:nvSpPr>
          <p:cNvPr id="41" name="Text 33"/>
          <p:cNvSpPr/>
          <p:nvPr/>
        </p:nvSpPr>
        <p:spPr>
          <a:xfrm>
            <a:off x="2614240" y="6457727"/>
            <a:ext cx="1933575"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Système d'authentification sécurisé avec gestion des sessions</a:t>
            </a:r>
            <a:endParaRPr lang="en-US" sz="600" dirty="0"/>
          </a:p>
        </p:txBody>
      </p:sp>
      <p:pic>
        <p:nvPicPr>
          <p:cNvPr id="42"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596036" y="6314033"/>
            <a:ext cx="192881" cy="192881"/>
          </a:xfrm>
          <a:prstGeom prst="rect">
            <a:avLst/>
          </a:prstGeom>
        </p:spPr>
      </p:pic>
      <p:sp>
        <p:nvSpPr>
          <p:cNvPr id="43" name="Text 34"/>
          <p:cNvSpPr/>
          <p:nvPr/>
        </p:nvSpPr>
        <p:spPr>
          <a:xfrm>
            <a:off x="4837137" y="6314033"/>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Vite 8</a:t>
            </a:r>
            <a:endParaRPr lang="en-US" sz="750" dirty="0"/>
          </a:p>
        </p:txBody>
      </p:sp>
      <p:sp>
        <p:nvSpPr>
          <p:cNvPr id="44" name="Text 35"/>
          <p:cNvSpPr/>
          <p:nvPr/>
        </p:nvSpPr>
        <p:spPr>
          <a:xfrm>
            <a:off x="4837137" y="6457727"/>
            <a:ext cx="1933649"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Build tool moderne pour la compilation et le développement rapide</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373139" y="278160"/>
            <a:ext cx="2740744" cy="241102"/>
          </a:xfrm>
          <a:prstGeom prst="rect">
            <a:avLst/>
          </a:prstGeom>
          <a:noFill/>
          <a:ln/>
        </p:spPr>
        <p:txBody>
          <a:bodyPr wrap="none" lIns="0" tIns="0" rIns="0" bIns="0" rtlCol="0" anchor="t"/>
          <a:lstStyle/>
          <a:p>
            <a:pPr algn="l" indent="0" marL="0">
              <a:lnSpc>
                <a:spcPts val="1850"/>
              </a:lnSpc>
              <a:buNone/>
            </a:pPr>
            <a:r>
              <a:rPr lang="en-US" sz="1500" dirty="0">
                <a:solidFill>
                  <a:srgbClr val="1B1B27"/>
                </a:solidFill>
                <a:latin typeface="Corben" pitchFamily="34" charset="0"/>
                <a:ea typeface="Corben" pitchFamily="34" charset="-122"/>
                <a:cs typeface="Corben" pitchFamily="34" charset="-120"/>
              </a:rPr>
              <a:t>Fonctionnalités et Cycle de Vie</a:t>
            </a:r>
            <a:endParaRPr lang="en-US" sz="1500" dirty="0"/>
          </a:p>
        </p:txBody>
      </p:sp>
      <p:sp>
        <p:nvSpPr>
          <p:cNvPr id="3" name="Text 1"/>
          <p:cNvSpPr/>
          <p:nvPr/>
        </p:nvSpPr>
        <p:spPr>
          <a:xfrm>
            <a:off x="2373139" y="534665"/>
            <a:ext cx="1214586"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Logique Métier du Système</a:t>
            </a:r>
            <a:endParaRPr lang="en-US" sz="750" dirty="0"/>
          </a:p>
        </p:txBody>
      </p:sp>
      <p:sp>
        <p:nvSpPr>
          <p:cNvPr id="4" name="Text 2"/>
          <p:cNvSpPr/>
          <p:nvPr/>
        </p:nvSpPr>
        <p:spPr>
          <a:xfrm>
            <a:off x="2722290" y="858143"/>
            <a:ext cx="964406" cy="120551"/>
          </a:xfrm>
          <a:prstGeom prst="rect">
            <a:avLst/>
          </a:prstGeom>
          <a:noFill/>
          <a:ln/>
        </p:spPr>
        <p:txBody>
          <a:bodyPr wrap="none" lIns="0" tIns="0" rIns="0" bIns="0" rtlCol="0" anchor="t"/>
          <a:lstStyle/>
          <a:p>
            <a:pPr algn="r" indent="0" marL="0">
              <a:lnSpc>
                <a:spcPts val="900"/>
              </a:lnSpc>
              <a:buNone/>
            </a:pPr>
            <a:r>
              <a:rPr lang="en-US" sz="750" dirty="0">
                <a:solidFill>
                  <a:srgbClr val="404155"/>
                </a:solidFill>
                <a:latin typeface="Corben" pitchFamily="34" charset="0"/>
                <a:ea typeface="Corben" pitchFamily="34" charset="-122"/>
                <a:cs typeface="Corben" pitchFamily="34" charset="-120"/>
              </a:rPr>
              <a:t>Ajout Véhicule</a:t>
            </a:r>
            <a:endParaRPr lang="en-US" sz="750" dirty="0"/>
          </a:p>
        </p:txBody>
      </p:sp>
      <p:sp>
        <p:nvSpPr>
          <p:cNvPr id="5" name="Text 3"/>
          <p:cNvSpPr/>
          <p:nvPr/>
        </p:nvSpPr>
        <p:spPr>
          <a:xfrm>
            <a:off x="2373139" y="1001837"/>
            <a:ext cx="1313557" cy="277713"/>
          </a:xfrm>
          <a:prstGeom prst="rect">
            <a:avLst/>
          </a:prstGeom>
          <a:noFill/>
          <a:ln/>
        </p:spPr>
        <p:txBody>
          <a:bodyPr wrap="square" lIns="0" tIns="0" rIns="0" bIns="0" rtlCol="0" anchor="t"/>
          <a:lstStyle/>
          <a:p>
            <a:pPr algn="r" indent="0" marL="0">
              <a:lnSpc>
                <a:spcPts val="700"/>
              </a:lnSpc>
              <a:buNone/>
            </a:pPr>
            <a:r>
              <a:rPr lang="en-US" sz="600" dirty="0">
                <a:solidFill>
                  <a:srgbClr val="404155"/>
                </a:solidFill>
                <a:latin typeface="Nobile" pitchFamily="34" charset="0"/>
                <a:ea typeface="Nobile" pitchFamily="34" charset="-122"/>
                <a:cs typeface="Nobile" pitchFamily="34" charset="-120"/>
              </a:rPr>
              <a:t>Enregistrement d'un nouveau véhicule avec plaque, propriétaire et catégorie</a:t>
            </a:r>
            <a:endParaRPr lang="en-US" sz="600" dirty="0"/>
          </a:p>
        </p:txBody>
      </p:sp>
      <p:pic>
        <p:nvPicPr>
          <p:cNvPr id="6" name="Image 0" descr="preencoded.png">    </p:cNvPr>
          <p:cNvPicPr>
            <a:picLocks noChangeAspect="1"/>
          </p:cNvPicPr>
          <p:nvPr/>
        </p:nvPicPr>
        <p:blipFill>
          <a:blip r:embed="rId1"/>
          <a:stretch>
            <a:fillRect/>
          </a:stretch>
        </p:blipFill>
        <p:spPr>
          <a:xfrm>
            <a:off x="3802410" y="713036"/>
            <a:ext cx="1539106" cy="1539106"/>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39282" y="1037927"/>
            <a:ext cx="115416" cy="115416"/>
          </a:xfrm>
          <a:prstGeom prst="rect">
            <a:avLst/>
          </a:prstGeom>
        </p:spPr>
      </p:pic>
      <p:sp>
        <p:nvSpPr>
          <p:cNvPr id="8" name="Text 4"/>
          <p:cNvSpPr/>
          <p:nvPr/>
        </p:nvSpPr>
        <p:spPr>
          <a:xfrm>
            <a:off x="5457230" y="766539"/>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Statut Libre</a:t>
            </a:r>
            <a:endParaRPr lang="en-US" sz="750" dirty="0"/>
          </a:p>
        </p:txBody>
      </p:sp>
      <p:sp>
        <p:nvSpPr>
          <p:cNvPr id="9" name="Text 5"/>
          <p:cNvSpPr/>
          <p:nvPr/>
        </p:nvSpPr>
        <p:spPr>
          <a:xfrm>
            <a:off x="5457230" y="910233"/>
            <a:ext cx="1313557"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Véhicule en attente dans la file, prêt à être inspecté</a:t>
            </a:r>
            <a:endParaRPr lang="en-US" sz="600" dirty="0"/>
          </a:p>
        </p:txBody>
      </p:sp>
      <p:pic>
        <p:nvPicPr>
          <p:cNvPr id="10" name="Image 2" descr="preencoded.png">    </p:cNvPr>
          <p:cNvPicPr>
            <a:picLocks noChangeAspect="1"/>
          </p:cNvPicPr>
          <p:nvPr/>
        </p:nvPicPr>
        <p:blipFill>
          <a:blip r:embed="rId4"/>
          <a:stretch>
            <a:fillRect/>
          </a:stretch>
        </p:blipFill>
        <p:spPr>
          <a:xfrm>
            <a:off x="3802410" y="713036"/>
            <a:ext cx="1539106" cy="1539106"/>
          </a:xfrm>
          <a:prstGeom prst="rect">
            <a:avLst/>
          </a:prstGeom>
        </p:spPr>
      </p:pic>
      <p:pic>
        <p:nvPicPr>
          <p:cNvPr id="11"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6221" y="948705"/>
            <a:ext cx="115416" cy="115416"/>
          </a:xfrm>
          <a:prstGeom prst="rect">
            <a:avLst/>
          </a:prstGeom>
        </p:spPr>
      </p:pic>
      <p:sp>
        <p:nvSpPr>
          <p:cNvPr id="12" name="Text 6"/>
          <p:cNvSpPr/>
          <p:nvPr/>
        </p:nvSpPr>
        <p:spPr>
          <a:xfrm>
            <a:off x="5495776" y="1318096"/>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En Cours</a:t>
            </a:r>
            <a:endParaRPr lang="en-US" sz="750" dirty="0"/>
          </a:p>
        </p:txBody>
      </p:sp>
      <p:sp>
        <p:nvSpPr>
          <p:cNvPr id="13" name="Text 7"/>
          <p:cNvSpPr/>
          <p:nvPr/>
        </p:nvSpPr>
        <p:spPr>
          <a:xfrm>
            <a:off x="5495776" y="1461790"/>
            <a:ext cx="1275011"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Inspection active avec minuteur automatique selon la catégorie</a:t>
            </a:r>
            <a:endParaRPr lang="en-US" sz="600" dirty="0"/>
          </a:p>
        </p:txBody>
      </p:sp>
      <p:pic>
        <p:nvPicPr>
          <p:cNvPr id="14" name="Image 4" descr="preencoded.png">    </p:cNvPr>
          <p:cNvPicPr>
            <a:picLocks noChangeAspect="1"/>
          </p:cNvPicPr>
          <p:nvPr/>
        </p:nvPicPr>
        <p:blipFill>
          <a:blip r:embed="rId7"/>
          <a:stretch>
            <a:fillRect/>
          </a:stretch>
        </p:blipFill>
        <p:spPr>
          <a:xfrm>
            <a:off x="3802410" y="713036"/>
            <a:ext cx="1539106" cy="1539106"/>
          </a:xfrm>
          <a:prstGeom prst="rect">
            <a:avLst/>
          </a:prstGeom>
        </p:spPr>
      </p:pic>
      <p:pic>
        <p:nvPicPr>
          <p:cNvPr id="15"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44827" y="1517452"/>
            <a:ext cx="115416" cy="115416"/>
          </a:xfrm>
          <a:prstGeom prst="rect">
            <a:avLst/>
          </a:prstGeom>
        </p:spPr>
      </p:pic>
      <p:sp>
        <p:nvSpPr>
          <p:cNvPr id="16" name="Text 8"/>
          <p:cNvSpPr/>
          <p:nvPr/>
        </p:nvSpPr>
        <p:spPr>
          <a:xfrm>
            <a:off x="5457230" y="1869728"/>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Validé</a:t>
            </a:r>
            <a:endParaRPr lang="en-US" sz="750" dirty="0"/>
          </a:p>
        </p:txBody>
      </p:sp>
      <p:sp>
        <p:nvSpPr>
          <p:cNvPr id="17" name="Text 9"/>
          <p:cNvSpPr/>
          <p:nvPr/>
        </p:nvSpPr>
        <p:spPr>
          <a:xfrm>
            <a:off x="5457230" y="2013421"/>
            <a:ext cx="1313557"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Contrôle terminé et prêt pour l'impression du PV</a:t>
            </a:r>
            <a:endParaRPr lang="en-US" sz="600" dirty="0"/>
          </a:p>
        </p:txBody>
      </p:sp>
      <p:pic>
        <p:nvPicPr>
          <p:cNvPr id="18" name="Image 6" descr="preencoded.png">    </p:cNvPr>
          <p:cNvPicPr>
            <a:picLocks noChangeAspect="1"/>
          </p:cNvPicPr>
          <p:nvPr/>
        </p:nvPicPr>
        <p:blipFill>
          <a:blip r:embed="rId10"/>
          <a:stretch>
            <a:fillRect/>
          </a:stretch>
        </p:blipFill>
        <p:spPr>
          <a:xfrm>
            <a:off x="3802410" y="713036"/>
            <a:ext cx="1539106" cy="1539106"/>
          </a:xfrm>
          <a:prstGeom prst="rect">
            <a:avLst/>
          </a:prstGeom>
        </p:spPr>
      </p:pic>
      <p:pic>
        <p:nvPicPr>
          <p:cNvPr id="19"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90083" y="1958132"/>
            <a:ext cx="115416" cy="115416"/>
          </a:xfrm>
          <a:prstGeom prst="rect">
            <a:avLst/>
          </a:prstGeom>
        </p:spPr>
      </p:pic>
      <p:sp>
        <p:nvSpPr>
          <p:cNvPr id="20" name="Text 10"/>
          <p:cNvSpPr/>
          <p:nvPr/>
        </p:nvSpPr>
        <p:spPr>
          <a:xfrm>
            <a:off x="2722290" y="1731838"/>
            <a:ext cx="964406" cy="120551"/>
          </a:xfrm>
          <a:prstGeom prst="rect">
            <a:avLst/>
          </a:prstGeom>
          <a:noFill/>
          <a:ln/>
        </p:spPr>
        <p:txBody>
          <a:bodyPr wrap="none" lIns="0" tIns="0" rIns="0" bIns="0" rtlCol="0" anchor="t"/>
          <a:lstStyle/>
          <a:p>
            <a:pPr algn="r" indent="0" marL="0">
              <a:lnSpc>
                <a:spcPts val="900"/>
              </a:lnSpc>
              <a:buNone/>
            </a:pPr>
            <a:r>
              <a:rPr lang="en-US" sz="750" dirty="0">
                <a:solidFill>
                  <a:srgbClr val="404155"/>
                </a:solidFill>
                <a:latin typeface="Corben" pitchFamily="34" charset="0"/>
                <a:ea typeface="Corben" pitchFamily="34" charset="-122"/>
                <a:cs typeface="Corben" pitchFamily="34" charset="-120"/>
              </a:rPr>
              <a:t>Imprimé</a:t>
            </a:r>
            <a:endParaRPr lang="en-US" sz="750" dirty="0"/>
          </a:p>
        </p:txBody>
      </p:sp>
      <p:sp>
        <p:nvSpPr>
          <p:cNvPr id="21" name="Text 11"/>
          <p:cNvSpPr/>
          <p:nvPr/>
        </p:nvSpPr>
        <p:spPr>
          <a:xfrm>
            <a:off x="2373139" y="1875532"/>
            <a:ext cx="1313557" cy="185142"/>
          </a:xfrm>
          <a:prstGeom prst="rect">
            <a:avLst/>
          </a:prstGeom>
          <a:noFill/>
          <a:ln/>
        </p:spPr>
        <p:txBody>
          <a:bodyPr wrap="square" lIns="0" tIns="0" rIns="0" bIns="0" rtlCol="0" anchor="t"/>
          <a:lstStyle/>
          <a:p>
            <a:pPr algn="r" indent="0" marL="0">
              <a:lnSpc>
                <a:spcPts val="700"/>
              </a:lnSpc>
              <a:buNone/>
            </a:pPr>
            <a:r>
              <a:rPr lang="en-US" sz="600" dirty="0">
                <a:solidFill>
                  <a:srgbClr val="404155"/>
                </a:solidFill>
                <a:latin typeface="Nobile" pitchFamily="34" charset="0"/>
                <a:ea typeface="Nobile" pitchFamily="34" charset="-122"/>
                <a:cs typeface="Nobile" pitchFamily="34" charset="-120"/>
              </a:rPr>
              <a:t>PV émis, véhicule quitte le système automatiquement</a:t>
            </a:r>
            <a:endParaRPr lang="en-US" sz="600" dirty="0"/>
          </a:p>
        </p:txBody>
      </p:sp>
      <p:pic>
        <p:nvPicPr>
          <p:cNvPr id="22" name="Image 8" descr="preencoded.png">    </p:cNvPr>
          <p:cNvPicPr>
            <a:picLocks noChangeAspect="1"/>
          </p:cNvPicPr>
          <p:nvPr/>
        </p:nvPicPr>
        <p:blipFill>
          <a:blip r:embed="rId13"/>
          <a:stretch>
            <a:fillRect/>
          </a:stretch>
        </p:blipFill>
        <p:spPr>
          <a:xfrm>
            <a:off x="3802410" y="713036"/>
            <a:ext cx="1539106" cy="1539106"/>
          </a:xfrm>
          <a:prstGeom prst="rect">
            <a:avLst/>
          </a:prstGeom>
        </p:spPr>
      </p:pic>
      <p:pic>
        <p:nvPicPr>
          <p:cNvPr id="23" name="Image 9"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030414" y="1661815"/>
            <a:ext cx="115416" cy="115416"/>
          </a:xfrm>
          <a:prstGeom prst="rect">
            <a:avLst/>
          </a:prstGeom>
        </p:spPr>
      </p:pic>
      <p:sp>
        <p:nvSpPr>
          <p:cNvPr id="24" name="Text 12"/>
          <p:cNvSpPr/>
          <p:nvPr/>
        </p:nvSpPr>
        <p:spPr>
          <a:xfrm>
            <a:off x="2373139" y="2309961"/>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Interface Utilisateur</a:t>
            </a:r>
            <a:endParaRPr lang="en-US" sz="750" dirty="0"/>
          </a:p>
        </p:txBody>
      </p:sp>
      <p:sp>
        <p:nvSpPr>
          <p:cNvPr id="25" name="Text 13"/>
          <p:cNvSpPr/>
          <p:nvPr/>
        </p:nvSpPr>
        <p:spPr>
          <a:xfrm>
            <a:off x="2373139" y="2526878"/>
            <a:ext cx="1142926"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Tableau de Bord Principal</a:t>
            </a:r>
            <a:endParaRPr lang="en-US" sz="750" dirty="0"/>
          </a:p>
        </p:txBody>
      </p:sp>
      <p:sp>
        <p:nvSpPr>
          <p:cNvPr id="26" name="Text 14"/>
          <p:cNvSpPr/>
          <p:nvPr/>
        </p:nvSpPr>
        <p:spPr>
          <a:xfrm>
            <a:off x="2373139" y="2685976"/>
            <a:ext cx="1340272" cy="887016"/>
          </a:xfrm>
          <a:prstGeom prst="rect">
            <a:avLst/>
          </a:prstGeom>
          <a:noFill/>
          <a:ln/>
        </p:spPr>
        <p:txBody>
          <a:bodyPr wrap="square" lIns="0" tIns="0" rIns="0" bIns="0" rtlCol="0" anchor="t"/>
          <a:lstStyle/>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Liste paginée de tous les véhicules présents</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Informations clés : plaque, propriétaire, catégorie (VL/PL)</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Statut actuel avec code couleur</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Compteur à rebours en temps réel</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Boutons d'action pour changement de statut</a:t>
            </a:r>
            <a:endParaRPr lang="en-US" sz="600" dirty="0"/>
          </a:p>
        </p:txBody>
      </p:sp>
      <p:sp>
        <p:nvSpPr>
          <p:cNvPr id="27" name="Text 15"/>
          <p:cNvSpPr/>
          <p:nvPr/>
        </p:nvSpPr>
        <p:spPr>
          <a:xfrm>
            <a:off x="3906292" y="2526878"/>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Système de Filtres</a:t>
            </a:r>
            <a:endParaRPr lang="en-US" sz="750" dirty="0"/>
          </a:p>
        </p:txBody>
      </p:sp>
      <p:sp>
        <p:nvSpPr>
          <p:cNvPr id="28" name="Text 16"/>
          <p:cNvSpPr/>
          <p:nvPr/>
        </p:nvSpPr>
        <p:spPr>
          <a:xfrm>
            <a:off x="3906292" y="2685976"/>
            <a:ext cx="1340272" cy="595833"/>
          </a:xfrm>
          <a:prstGeom prst="rect">
            <a:avLst/>
          </a:prstGeom>
          <a:noFill/>
          <a:ln/>
        </p:spPr>
        <p:txBody>
          <a:bodyPr wrap="square" lIns="0" tIns="0" rIns="0" bIns="0" rtlCol="0" anchor="t"/>
          <a:lstStyle/>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Recherche textuelle sur plaque ou nom</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Filtrage par statut (Libre, En cours, Validé)</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Filtrage par catégorie (VL ou PL)</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Pagination pour grandes listes</a:t>
            </a:r>
            <a:endParaRPr lang="en-US" sz="600" dirty="0"/>
          </a:p>
        </p:txBody>
      </p:sp>
      <p:sp>
        <p:nvSpPr>
          <p:cNvPr id="29" name="Text 17"/>
          <p:cNvSpPr/>
          <p:nvPr/>
        </p:nvSpPr>
        <p:spPr>
          <a:xfrm>
            <a:off x="5439445" y="2526878"/>
            <a:ext cx="979512"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Compteur Temps Réel</a:t>
            </a:r>
            <a:endParaRPr lang="en-US" sz="750" dirty="0"/>
          </a:p>
        </p:txBody>
      </p:sp>
      <p:sp>
        <p:nvSpPr>
          <p:cNvPr id="30" name="Text 18"/>
          <p:cNvSpPr/>
          <p:nvPr/>
        </p:nvSpPr>
        <p:spPr>
          <a:xfrm>
            <a:off x="5439445" y="2685976"/>
            <a:ext cx="1340272" cy="887016"/>
          </a:xfrm>
          <a:prstGeom prst="rect">
            <a:avLst/>
          </a:prstGeom>
          <a:noFill/>
          <a:ln/>
        </p:spPr>
        <p:txBody>
          <a:bodyPr wrap="square" lIns="0" tIns="0" rIns="0" bIns="0" rtlCol="0" anchor="t"/>
          <a:lstStyle/>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20 minutes pour véhicules légers (VL)</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30 minutes pour poids lourds (PL)</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Calcul depuis horodatage début</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Persistance après rafraîchissement</a:t>
            </a:r>
            <a:endParaRPr lang="en-US" sz="600" dirty="0"/>
          </a:p>
          <a:p>
            <a:pPr algn="l" marL="342900" indent="-342900">
              <a:lnSpc>
                <a:spcPts val="700"/>
              </a:lnSpc>
              <a:buSzPct val="100000"/>
              <a:buChar char="•"/>
            </a:pPr>
            <a:r>
              <a:rPr lang="en-US" sz="600" dirty="0">
                <a:solidFill>
                  <a:srgbClr val="404155"/>
                </a:solidFill>
                <a:latin typeface="Nobile" pitchFamily="34" charset="0"/>
                <a:ea typeface="Nobile" pitchFamily="34" charset="-122"/>
                <a:cs typeface="Nobile" pitchFamily="34" charset="-120"/>
              </a:rPr>
              <a:t>Alerte visuelle en cas de dépassement</a:t>
            </a:r>
            <a:endParaRPr lang="en-US" sz="600" dirty="0"/>
          </a:p>
        </p:txBody>
      </p:sp>
      <p:sp>
        <p:nvSpPr>
          <p:cNvPr id="31" name="Text 19"/>
          <p:cNvSpPr/>
          <p:nvPr/>
        </p:nvSpPr>
        <p:spPr>
          <a:xfrm>
            <a:off x="2373139" y="3644280"/>
            <a:ext cx="1274564"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Sécurité et Gestion des Rôles</a:t>
            </a:r>
            <a:endParaRPr lang="en-US" sz="750" dirty="0"/>
          </a:p>
        </p:txBody>
      </p:sp>
      <p:sp>
        <p:nvSpPr>
          <p:cNvPr id="32" name="Shape 20"/>
          <p:cNvSpPr/>
          <p:nvPr/>
        </p:nvSpPr>
        <p:spPr>
          <a:xfrm>
            <a:off x="2373139" y="3822650"/>
            <a:ext cx="2179513" cy="502072"/>
          </a:xfrm>
          <a:prstGeom prst="roundRect">
            <a:avLst>
              <a:gd name="adj" fmla="val 6454"/>
            </a:avLst>
          </a:prstGeom>
          <a:solidFill>
            <a:srgbClr val="F9F9FF">
              <a:alpha val="95000"/>
            </a:srgbClr>
          </a:solidFill>
          <a:ln w="9525">
            <a:solidFill>
              <a:srgbClr val="B8BFDF"/>
            </a:solidFill>
            <a:prstDash val="solid"/>
          </a:ln>
        </p:spPr>
      </p:sp>
      <p:sp>
        <p:nvSpPr>
          <p:cNvPr id="33" name="Text 21"/>
          <p:cNvSpPr/>
          <p:nvPr/>
        </p:nvSpPr>
        <p:spPr>
          <a:xfrm>
            <a:off x="2459757" y="3909268"/>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Authentification</a:t>
            </a:r>
            <a:endParaRPr lang="en-US" sz="750" dirty="0"/>
          </a:p>
        </p:txBody>
      </p:sp>
      <p:sp>
        <p:nvSpPr>
          <p:cNvPr id="34" name="Text 22"/>
          <p:cNvSpPr/>
          <p:nvPr/>
        </p:nvSpPr>
        <p:spPr>
          <a:xfrm>
            <a:off x="2459757" y="4052962"/>
            <a:ext cx="2006278"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Page de connexion personnalisée avec vérification des identifiants via Laravel Breeze</a:t>
            </a:r>
            <a:endParaRPr lang="en-US" sz="600" dirty="0"/>
          </a:p>
        </p:txBody>
      </p:sp>
      <p:sp>
        <p:nvSpPr>
          <p:cNvPr id="35" name="Shape 23"/>
          <p:cNvSpPr/>
          <p:nvPr/>
        </p:nvSpPr>
        <p:spPr>
          <a:xfrm>
            <a:off x="4591199" y="3822650"/>
            <a:ext cx="2179588" cy="502072"/>
          </a:xfrm>
          <a:prstGeom prst="roundRect">
            <a:avLst>
              <a:gd name="adj" fmla="val 6454"/>
            </a:avLst>
          </a:prstGeom>
          <a:solidFill>
            <a:srgbClr val="F9F9FF">
              <a:alpha val="95000"/>
            </a:srgbClr>
          </a:solidFill>
          <a:ln w="9525">
            <a:solidFill>
              <a:srgbClr val="B8BFDF"/>
            </a:solidFill>
            <a:prstDash val="solid"/>
          </a:ln>
        </p:spPr>
      </p:sp>
      <p:sp>
        <p:nvSpPr>
          <p:cNvPr id="36" name="Text 24"/>
          <p:cNvSpPr/>
          <p:nvPr/>
        </p:nvSpPr>
        <p:spPr>
          <a:xfrm>
            <a:off x="4677817" y="3909268"/>
            <a:ext cx="1131317"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RBAC (Système de Rôles)</a:t>
            </a:r>
            <a:endParaRPr lang="en-US" sz="750" dirty="0"/>
          </a:p>
        </p:txBody>
      </p:sp>
      <p:sp>
        <p:nvSpPr>
          <p:cNvPr id="37" name="Text 25"/>
          <p:cNvSpPr/>
          <p:nvPr/>
        </p:nvSpPr>
        <p:spPr>
          <a:xfrm>
            <a:off x="4677817" y="4052962"/>
            <a:ext cx="2006352"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Administrateur : accès complet. Utilisateur standard : consultation uniquement</a:t>
            </a:r>
            <a:endParaRPr lang="en-US" sz="600" dirty="0"/>
          </a:p>
        </p:txBody>
      </p:sp>
      <p:sp>
        <p:nvSpPr>
          <p:cNvPr id="38" name="Shape 26"/>
          <p:cNvSpPr/>
          <p:nvPr/>
        </p:nvSpPr>
        <p:spPr>
          <a:xfrm>
            <a:off x="2373139" y="4363269"/>
            <a:ext cx="2179513" cy="502072"/>
          </a:xfrm>
          <a:prstGeom prst="roundRect">
            <a:avLst>
              <a:gd name="adj" fmla="val 6454"/>
            </a:avLst>
          </a:prstGeom>
          <a:solidFill>
            <a:srgbClr val="F9F9FF">
              <a:alpha val="95000"/>
            </a:srgbClr>
          </a:solidFill>
          <a:ln w="9525">
            <a:solidFill>
              <a:srgbClr val="B8BFDF"/>
            </a:solidFill>
            <a:prstDash val="solid"/>
          </a:ln>
        </p:spPr>
      </p:sp>
      <p:sp>
        <p:nvSpPr>
          <p:cNvPr id="39" name="Text 27"/>
          <p:cNvSpPr/>
          <p:nvPr/>
        </p:nvSpPr>
        <p:spPr>
          <a:xfrm>
            <a:off x="2459757" y="4449887"/>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Middleware</a:t>
            </a:r>
            <a:endParaRPr lang="en-US" sz="750" dirty="0"/>
          </a:p>
        </p:txBody>
      </p:sp>
      <p:sp>
        <p:nvSpPr>
          <p:cNvPr id="40" name="Text 28"/>
          <p:cNvSpPr/>
          <p:nvPr/>
        </p:nvSpPr>
        <p:spPr>
          <a:xfrm>
            <a:off x="2459757" y="4593580"/>
            <a:ext cx="2006278"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Vérification des privilèges avant accès aux routes sensibles</a:t>
            </a:r>
            <a:endParaRPr lang="en-US" sz="600" dirty="0"/>
          </a:p>
        </p:txBody>
      </p:sp>
      <p:sp>
        <p:nvSpPr>
          <p:cNvPr id="41" name="Shape 29"/>
          <p:cNvSpPr/>
          <p:nvPr/>
        </p:nvSpPr>
        <p:spPr>
          <a:xfrm>
            <a:off x="4591199" y="4363269"/>
            <a:ext cx="2179588" cy="502072"/>
          </a:xfrm>
          <a:prstGeom prst="roundRect">
            <a:avLst>
              <a:gd name="adj" fmla="val 6454"/>
            </a:avLst>
          </a:prstGeom>
          <a:solidFill>
            <a:srgbClr val="F9F9FF">
              <a:alpha val="95000"/>
            </a:srgbClr>
          </a:solidFill>
          <a:ln w="9525">
            <a:solidFill>
              <a:srgbClr val="B8BFDF"/>
            </a:solidFill>
            <a:prstDash val="solid"/>
          </a:ln>
        </p:spPr>
      </p:sp>
      <p:sp>
        <p:nvSpPr>
          <p:cNvPr id="42" name="Text 30"/>
          <p:cNvSpPr/>
          <p:nvPr/>
        </p:nvSpPr>
        <p:spPr>
          <a:xfrm>
            <a:off x="4677817" y="4449887"/>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Protection CSRF</a:t>
            </a:r>
            <a:endParaRPr lang="en-US" sz="750" dirty="0"/>
          </a:p>
        </p:txBody>
      </p:sp>
      <p:sp>
        <p:nvSpPr>
          <p:cNvPr id="43" name="Text 31"/>
          <p:cNvSpPr/>
          <p:nvPr/>
        </p:nvSpPr>
        <p:spPr>
          <a:xfrm>
            <a:off x="4677817" y="4593580"/>
            <a:ext cx="2006352"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Intégrité des actions garantie sur toutes les requêtes de modification</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373139" y="212154"/>
            <a:ext cx="2410569" cy="241102"/>
          </a:xfrm>
          <a:prstGeom prst="rect">
            <a:avLst/>
          </a:prstGeom>
          <a:noFill/>
          <a:ln/>
        </p:spPr>
        <p:txBody>
          <a:bodyPr wrap="none" lIns="0" tIns="0" rIns="0" bIns="0" rtlCol="0" anchor="t"/>
          <a:lstStyle/>
          <a:p>
            <a:pPr algn="l" indent="0" marL="0">
              <a:lnSpc>
                <a:spcPts val="1850"/>
              </a:lnSpc>
              <a:buNone/>
            </a:pPr>
            <a:r>
              <a:rPr lang="en-US" sz="1500" dirty="0">
                <a:solidFill>
                  <a:srgbClr val="1B1B27"/>
                </a:solidFill>
                <a:latin typeface="Corben" pitchFamily="34" charset="0"/>
                <a:ea typeface="Corben" pitchFamily="34" charset="-122"/>
                <a:cs typeface="Corben" pitchFamily="34" charset="-120"/>
              </a:rPr>
              <a:t>Perspectives et Conclusion</a:t>
            </a:r>
            <a:endParaRPr lang="en-US" sz="1500" dirty="0"/>
          </a:p>
        </p:txBody>
      </p:sp>
      <p:sp>
        <p:nvSpPr>
          <p:cNvPr id="3" name="Text 1"/>
          <p:cNvSpPr/>
          <p:nvPr/>
        </p:nvSpPr>
        <p:spPr>
          <a:xfrm>
            <a:off x="2373139" y="468660"/>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Avenir du Secteur</a:t>
            </a:r>
            <a:endParaRPr lang="en-US" sz="750" dirty="0"/>
          </a:p>
        </p:txBody>
      </p:sp>
      <p:sp>
        <p:nvSpPr>
          <p:cNvPr id="4" name="Text 2"/>
          <p:cNvSpPr/>
          <p:nvPr/>
        </p:nvSpPr>
        <p:spPr>
          <a:xfrm>
            <a:off x="2373139" y="604614"/>
            <a:ext cx="1423615"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Évolutions Nationales en Cours</a:t>
            </a:r>
            <a:endParaRPr lang="en-US" sz="750" dirty="0"/>
          </a:p>
        </p:txBody>
      </p:sp>
      <p:sp>
        <p:nvSpPr>
          <p:cNvPr id="5" name="Shape 3"/>
          <p:cNvSpPr/>
          <p:nvPr/>
        </p:nvSpPr>
        <p:spPr>
          <a:xfrm>
            <a:off x="2373139" y="1420416"/>
            <a:ext cx="4397648" cy="9525"/>
          </a:xfrm>
          <a:prstGeom prst="roundRect">
            <a:avLst>
              <a:gd name="adj" fmla="val 340200"/>
            </a:avLst>
          </a:prstGeom>
          <a:solidFill>
            <a:srgbClr val="B8BFDF"/>
          </a:solidFill>
          <a:ln/>
        </p:spPr>
      </p:sp>
      <p:sp>
        <p:nvSpPr>
          <p:cNvPr id="6" name="Shape 4"/>
          <p:cNvSpPr/>
          <p:nvPr/>
        </p:nvSpPr>
        <p:spPr>
          <a:xfrm>
            <a:off x="3233440" y="1188988"/>
            <a:ext cx="9525" cy="231428"/>
          </a:xfrm>
          <a:prstGeom prst="roundRect">
            <a:avLst>
              <a:gd name="adj" fmla="val 340200"/>
            </a:avLst>
          </a:prstGeom>
          <a:solidFill>
            <a:srgbClr val="B8BFDF"/>
          </a:solidFill>
          <a:ln/>
        </p:spPr>
      </p:sp>
      <p:sp>
        <p:nvSpPr>
          <p:cNvPr id="7" name="Shape 5"/>
          <p:cNvSpPr/>
          <p:nvPr/>
        </p:nvSpPr>
        <p:spPr>
          <a:xfrm>
            <a:off x="3151436" y="1333649"/>
            <a:ext cx="173534" cy="173534"/>
          </a:xfrm>
          <a:prstGeom prst="roundRect">
            <a:avLst>
              <a:gd name="adj" fmla="val 18673"/>
            </a:avLst>
          </a:prstGeom>
          <a:solidFill>
            <a:srgbClr val="D2D9F9"/>
          </a:solidFill>
          <a:ln w="4763">
            <a:solidFill>
              <a:srgbClr val="B8BFDF"/>
            </a:solidFill>
            <a:prstDash val="solid"/>
          </a:ln>
        </p:spPr>
      </p:sp>
      <p:sp>
        <p:nvSpPr>
          <p:cNvPr id="8" name="Text 6"/>
          <p:cNvSpPr/>
          <p:nvPr/>
        </p:nvSpPr>
        <p:spPr>
          <a:xfrm>
            <a:off x="3180345" y="1348085"/>
            <a:ext cx="115714" cy="144661"/>
          </a:xfrm>
          <a:prstGeom prst="rect">
            <a:avLst/>
          </a:prstGeom>
          <a:noFill/>
          <a:ln/>
        </p:spPr>
        <p:txBody>
          <a:bodyPr wrap="none" lIns="0" tIns="0" rIns="0" bIns="0" rtlCol="0" anchor="ctr"/>
          <a:lstStyle/>
          <a:p>
            <a:pPr algn="ctr" indent="0" marL="0">
              <a:lnSpc>
                <a:spcPct val="100000"/>
              </a:lnSpc>
              <a:buNone/>
            </a:pPr>
            <a:r>
              <a:rPr lang="en-US" sz="900" dirty="0">
                <a:solidFill>
                  <a:srgbClr val="404155"/>
                </a:solidFill>
                <a:latin typeface="Corben" pitchFamily="34" charset="0"/>
                <a:ea typeface="Corben" pitchFamily="34" charset="-122"/>
                <a:cs typeface="Corben" pitchFamily="34" charset="-120"/>
              </a:rPr>
              <a:t>1</a:t>
            </a:r>
            <a:endParaRPr lang="en-US" sz="900" dirty="0"/>
          </a:p>
        </p:txBody>
      </p:sp>
      <p:sp>
        <p:nvSpPr>
          <p:cNvPr id="9" name="Text 7"/>
          <p:cNvSpPr/>
          <p:nvPr/>
        </p:nvSpPr>
        <p:spPr>
          <a:xfrm>
            <a:off x="2755999" y="782985"/>
            <a:ext cx="964406" cy="120551"/>
          </a:xfrm>
          <a:prstGeom prst="rect">
            <a:avLst/>
          </a:prstGeom>
          <a:noFill/>
          <a:ln/>
        </p:spPr>
        <p:txBody>
          <a:bodyPr wrap="none" lIns="0" tIns="0" rIns="0" bIns="0" rtlCol="0" anchor="t"/>
          <a:lstStyle/>
          <a:p>
            <a:pPr algn="ctr" indent="0" marL="0">
              <a:lnSpc>
                <a:spcPts val="900"/>
              </a:lnSpc>
              <a:buNone/>
            </a:pPr>
            <a:r>
              <a:rPr lang="en-US" sz="750" dirty="0">
                <a:solidFill>
                  <a:srgbClr val="404155"/>
                </a:solidFill>
                <a:latin typeface="Corben" pitchFamily="34" charset="0"/>
                <a:ea typeface="Corben" pitchFamily="34" charset="-122"/>
                <a:cs typeface="Corben" pitchFamily="34" charset="-120"/>
              </a:rPr>
              <a:t>Extension Réseau</a:t>
            </a:r>
            <a:endParaRPr lang="en-US" sz="750" dirty="0"/>
          </a:p>
        </p:txBody>
      </p:sp>
      <p:sp>
        <p:nvSpPr>
          <p:cNvPr id="10" name="Text 8"/>
          <p:cNvSpPr/>
          <p:nvPr/>
        </p:nvSpPr>
        <p:spPr>
          <a:xfrm>
            <a:off x="2450232" y="926678"/>
            <a:ext cx="1575941" cy="185142"/>
          </a:xfrm>
          <a:prstGeom prst="rect">
            <a:avLst/>
          </a:prstGeom>
          <a:noFill/>
          <a:ln/>
        </p:spPr>
        <p:txBody>
          <a:bodyPr wrap="square" lIns="0" tIns="0" rIns="0" bIns="0" rtlCol="0" anchor="t"/>
          <a:lstStyle/>
          <a:p>
            <a:pPr algn="ctr" indent="0" marL="0">
              <a:lnSpc>
                <a:spcPts val="700"/>
              </a:lnSpc>
              <a:buNone/>
            </a:pPr>
            <a:r>
              <a:rPr lang="en-US" sz="600" dirty="0">
                <a:solidFill>
                  <a:srgbClr val="404155"/>
                </a:solidFill>
                <a:latin typeface="Nobile" pitchFamily="34" charset="0"/>
                <a:ea typeface="Nobile" pitchFamily="34" charset="-122"/>
                <a:cs typeface="Nobile" pitchFamily="34" charset="-120"/>
              </a:rPr>
              <a:t>180 nouveaux centres pour atteindre 600 centres nationaux d'ici 2026</a:t>
            </a:r>
            <a:endParaRPr lang="en-US" sz="600" dirty="0"/>
          </a:p>
        </p:txBody>
      </p:sp>
      <p:sp>
        <p:nvSpPr>
          <p:cNvPr id="11" name="Shape 9"/>
          <p:cNvSpPr/>
          <p:nvPr/>
        </p:nvSpPr>
        <p:spPr>
          <a:xfrm>
            <a:off x="4122613" y="1420416"/>
            <a:ext cx="9525" cy="231428"/>
          </a:xfrm>
          <a:prstGeom prst="roundRect">
            <a:avLst>
              <a:gd name="adj" fmla="val 340200"/>
            </a:avLst>
          </a:prstGeom>
          <a:solidFill>
            <a:srgbClr val="B8BFDF"/>
          </a:solidFill>
          <a:ln/>
        </p:spPr>
      </p:sp>
      <p:sp>
        <p:nvSpPr>
          <p:cNvPr id="12" name="Shape 10"/>
          <p:cNvSpPr/>
          <p:nvPr/>
        </p:nvSpPr>
        <p:spPr>
          <a:xfrm>
            <a:off x="4040609" y="1333649"/>
            <a:ext cx="173534" cy="173534"/>
          </a:xfrm>
          <a:prstGeom prst="roundRect">
            <a:avLst>
              <a:gd name="adj" fmla="val 18673"/>
            </a:avLst>
          </a:prstGeom>
          <a:solidFill>
            <a:srgbClr val="D2D9F9"/>
          </a:solidFill>
          <a:ln w="4763">
            <a:solidFill>
              <a:srgbClr val="B8BFDF"/>
            </a:solidFill>
            <a:prstDash val="solid"/>
          </a:ln>
        </p:spPr>
      </p:sp>
      <p:sp>
        <p:nvSpPr>
          <p:cNvPr id="13" name="Text 11"/>
          <p:cNvSpPr/>
          <p:nvPr/>
        </p:nvSpPr>
        <p:spPr>
          <a:xfrm>
            <a:off x="4069519" y="1348085"/>
            <a:ext cx="115714" cy="144661"/>
          </a:xfrm>
          <a:prstGeom prst="rect">
            <a:avLst/>
          </a:prstGeom>
          <a:noFill/>
          <a:ln/>
        </p:spPr>
        <p:txBody>
          <a:bodyPr wrap="none" lIns="0" tIns="0" rIns="0" bIns="0" rtlCol="0" anchor="ctr"/>
          <a:lstStyle/>
          <a:p>
            <a:pPr algn="ctr" indent="0" marL="0">
              <a:lnSpc>
                <a:spcPct val="100000"/>
              </a:lnSpc>
              <a:buNone/>
            </a:pPr>
            <a:r>
              <a:rPr lang="en-US" sz="900" dirty="0">
                <a:solidFill>
                  <a:srgbClr val="404155"/>
                </a:solidFill>
                <a:latin typeface="Corben" pitchFamily="34" charset="0"/>
                <a:ea typeface="Corben" pitchFamily="34" charset="-122"/>
                <a:cs typeface="Corben" pitchFamily="34" charset="-120"/>
              </a:rPr>
              <a:t>2</a:t>
            </a:r>
            <a:endParaRPr lang="en-US" sz="900" dirty="0"/>
          </a:p>
        </p:txBody>
      </p:sp>
      <p:sp>
        <p:nvSpPr>
          <p:cNvPr id="14" name="Text 12"/>
          <p:cNvSpPr/>
          <p:nvPr/>
        </p:nvSpPr>
        <p:spPr>
          <a:xfrm>
            <a:off x="3645173" y="1729011"/>
            <a:ext cx="964406" cy="120551"/>
          </a:xfrm>
          <a:prstGeom prst="rect">
            <a:avLst/>
          </a:prstGeom>
          <a:noFill/>
          <a:ln/>
        </p:spPr>
        <p:txBody>
          <a:bodyPr wrap="none" lIns="0" tIns="0" rIns="0" bIns="0" rtlCol="0" anchor="t"/>
          <a:lstStyle/>
          <a:p>
            <a:pPr algn="ctr" indent="0" marL="0">
              <a:lnSpc>
                <a:spcPts val="900"/>
              </a:lnSpc>
              <a:buNone/>
            </a:pPr>
            <a:r>
              <a:rPr lang="en-US" sz="750" dirty="0">
                <a:solidFill>
                  <a:srgbClr val="404155"/>
                </a:solidFill>
                <a:latin typeface="Corben" pitchFamily="34" charset="0"/>
                <a:ea typeface="Corben" pitchFamily="34" charset="-122"/>
                <a:cs typeface="Corben" pitchFamily="34" charset="-120"/>
              </a:rPr>
              <a:t>Portail NARSA</a:t>
            </a:r>
            <a:endParaRPr lang="en-US" sz="750" dirty="0"/>
          </a:p>
        </p:txBody>
      </p:sp>
      <p:sp>
        <p:nvSpPr>
          <p:cNvPr id="15" name="Text 13"/>
          <p:cNvSpPr/>
          <p:nvPr/>
        </p:nvSpPr>
        <p:spPr>
          <a:xfrm>
            <a:off x="3339405" y="1872704"/>
            <a:ext cx="1575941" cy="185142"/>
          </a:xfrm>
          <a:prstGeom prst="rect">
            <a:avLst/>
          </a:prstGeom>
          <a:noFill/>
          <a:ln/>
        </p:spPr>
        <p:txBody>
          <a:bodyPr wrap="square" lIns="0" tIns="0" rIns="0" bIns="0" rtlCol="0" anchor="t"/>
          <a:lstStyle/>
          <a:p>
            <a:pPr algn="ctr" indent="0" marL="0">
              <a:lnSpc>
                <a:spcPts val="700"/>
              </a:lnSpc>
              <a:buNone/>
            </a:pPr>
            <a:r>
              <a:rPr lang="en-US" sz="600" dirty="0">
                <a:solidFill>
                  <a:srgbClr val="404155"/>
                </a:solidFill>
                <a:latin typeface="Nobile" pitchFamily="34" charset="0"/>
                <a:ea typeface="Nobile" pitchFamily="34" charset="-122"/>
                <a:cs typeface="Nobile" pitchFamily="34" charset="-120"/>
              </a:rPr>
              <a:t>Rendez-vous en ligne via khadamat.narsa.gov.ma depuis 2024</a:t>
            </a:r>
            <a:endParaRPr lang="en-US" sz="600" dirty="0"/>
          </a:p>
        </p:txBody>
      </p:sp>
      <p:sp>
        <p:nvSpPr>
          <p:cNvPr id="16" name="Shape 14"/>
          <p:cNvSpPr/>
          <p:nvPr/>
        </p:nvSpPr>
        <p:spPr>
          <a:xfrm>
            <a:off x="5011787" y="1188988"/>
            <a:ext cx="9525" cy="231428"/>
          </a:xfrm>
          <a:prstGeom prst="roundRect">
            <a:avLst>
              <a:gd name="adj" fmla="val 340200"/>
            </a:avLst>
          </a:prstGeom>
          <a:solidFill>
            <a:srgbClr val="B8BFDF"/>
          </a:solidFill>
          <a:ln/>
        </p:spPr>
      </p:sp>
      <p:sp>
        <p:nvSpPr>
          <p:cNvPr id="17" name="Shape 15"/>
          <p:cNvSpPr/>
          <p:nvPr/>
        </p:nvSpPr>
        <p:spPr>
          <a:xfrm>
            <a:off x="4929783" y="1333649"/>
            <a:ext cx="173534" cy="173534"/>
          </a:xfrm>
          <a:prstGeom prst="roundRect">
            <a:avLst>
              <a:gd name="adj" fmla="val 18673"/>
            </a:avLst>
          </a:prstGeom>
          <a:solidFill>
            <a:srgbClr val="D2D9F9"/>
          </a:solidFill>
          <a:ln w="4763">
            <a:solidFill>
              <a:srgbClr val="B8BFDF"/>
            </a:solidFill>
            <a:prstDash val="solid"/>
          </a:ln>
        </p:spPr>
      </p:sp>
      <p:sp>
        <p:nvSpPr>
          <p:cNvPr id="18" name="Text 16"/>
          <p:cNvSpPr/>
          <p:nvPr/>
        </p:nvSpPr>
        <p:spPr>
          <a:xfrm>
            <a:off x="4958693" y="1348085"/>
            <a:ext cx="115714" cy="144661"/>
          </a:xfrm>
          <a:prstGeom prst="rect">
            <a:avLst/>
          </a:prstGeom>
          <a:noFill/>
          <a:ln/>
        </p:spPr>
        <p:txBody>
          <a:bodyPr wrap="none" lIns="0" tIns="0" rIns="0" bIns="0" rtlCol="0" anchor="ctr"/>
          <a:lstStyle/>
          <a:p>
            <a:pPr algn="ctr" indent="0" marL="0">
              <a:lnSpc>
                <a:spcPct val="100000"/>
              </a:lnSpc>
              <a:buNone/>
            </a:pPr>
            <a:r>
              <a:rPr lang="en-US" sz="900" dirty="0">
                <a:solidFill>
                  <a:srgbClr val="404155"/>
                </a:solidFill>
                <a:latin typeface="Corben" pitchFamily="34" charset="0"/>
                <a:ea typeface="Corben" pitchFamily="34" charset="-122"/>
                <a:cs typeface="Corben" pitchFamily="34" charset="-120"/>
              </a:rPr>
              <a:t>3</a:t>
            </a:r>
            <a:endParaRPr lang="en-US" sz="900" dirty="0"/>
          </a:p>
        </p:txBody>
      </p:sp>
      <p:sp>
        <p:nvSpPr>
          <p:cNvPr id="19" name="Text 17"/>
          <p:cNvSpPr/>
          <p:nvPr/>
        </p:nvSpPr>
        <p:spPr>
          <a:xfrm>
            <a:off x="4534346" y="782985"/>
            <a:ext cx="964406" cy="120551"/>
          </a:xfrm>
          <a:prstGeom prst="rect">
            <a:avLst/>
          </a:prstGeom>
          <a:noFill/>
          <a:ln/>
        </p:spPr>
        <p:txBody>
          <a:bodyPr wrap="none" lIns="0" tIns="0" rIns="0" bIns="0" rtlCol="0" anchor="t"/>
          <a:lstStyle/>
          <a:p>
            <a:pPr algn="ctr" indent="0" marL="0">
              <a:lnSpc>
                <a:spcPts val="900"/>
              </a:lnSpc>
              <a:buNone/>
            </a:pPr>
            <a:r>
              <a:rPr lang="en-US" sz="750" dirty="0">
                <a:solidFill>
                  <a:srgbClr val="404155"/>
                </a:solidFill>
                <a:latin typeface="Corben" pitchFamily="34" charset="0"/>
                <a:ea typeface="Corben" pitchFamily="34" charset="-122"/>
                <a:cs typeface="Corben" pitchFamily="34" charset="-120"/>
              </a:rPr>
              <a:t>Réforme Code</a:t>
            </a:r>
            <a:endParaRPr lang="en-US" sz="750" dirty="0"/>
          </a:p>
        </p:txBody>
      </p:sp>
      <p:sp>
        <p:nvSpPr>
          <p:cNvPr id="20" name="Text 18"/>
          <p:cNvSpPr/>
          <p:nvPr/>
        </p:nvSpPr>
        <p:spPr>
          <a:xfrm>
            <a:off x="4228579" y="926678"/>
            <a:ext cx="1575941" cy="185142"/>
          </a:xfrm>
          <a:prstGeom prst="rect">
            <a:avLst/>
          </a:prstGeom>
          <a:noFill/>
          <a:ln/>
        </p:spPr>
        <p:txBody>
          <a:bodyPr wrap="square" lIns="0" tIns="0" rIns="0" bIns="0" rtlCol="0" anchor="t"/>
          <a:lstStyle/>
          <a:p>
            <a:pPr algn="ctr" indent="0" marL="0">
              <a:lnSpc>
                <a:spcPts val="700"/>
              </a:lnSpc>
              <a:buNone/>
            </a:pPr>
            <a:r>
              <a:rPr lang="en-US" sz="600" dirty="0">
                <a:solidFill>
                  <a:srgbClr val="404155"/>
                </a:solidFill>
                <a:latin typeface="Nobile" pitchFamily="34" charset="0"/>
                <a:ea typeface="Nobile" pitchFamily="34" charset="-122"/>
                <a:cs typeface="Nobile" pitchFamily="34" charset="-120"/>
              </a:rPr>
              <a:t>Avent-projet de loi transmis septembre 2024, consultation février 2025</a:t>
            </a:r>
            <a:endParaRPr lang="en-US" sz="600" dirty="0"/>
          </a:p>
        </p:txBody>
      </p:sp>
      <p:sp>
        <p:nvSpPr>
          <p:cNvPr id="21" name="Shape 19"/>
          <p:cNvSpPr/>
          <p:nvPr/>
        </p:nvSpPr>
        <p:spPr>
          <a:xfrm>
            <a:off x="5900961" y="1420416"/>
            <a:ext cx="9525" cy="231428"/>
          </a:xfrm>
          <a:prstGeom prst="roundRect">
            <a:avLst>
              <a:gd name="adj" fmla="val 340200"/>
            </a:avLst>
          </a:prstGeom>
          <a:solidFill>
            <a:srgbClr val="B8BFDF"/>
          </a:solidFill>
          <a:ln/>
        </p:spPr>
      </p:sp>
      <p:sp>
        <p:nvSpPr>
          <p:cNvPr id="22" name="Shape 20"/>
          <p:cNvSpPr/>
          <p:nvPr/>
        </p:nvSpPr>
        <p:spPr>
          <a:xfrm>
            <a:off x="5818956" y="1333649"/>
            <a:ext cx="173534" cy="173534"/>
          </a:xfrm>
          <a:prstGeom prst="roundRect">
            <a:avLst>
              <a:gd name="adj" fmla="val 18673"/>
            </a:avLst>
          </a:prstGeom>
          <a:solidFill>
            <a:srgbClr val="D2D9F9"/>
          </a:solidFill>
          <a:ln w="4763">
            <a:solidFill>
              <a:srgbClr val="B8BFDF"/>
            </a:solidFill>
            <a:prstDash val="solid"/>
          </a:ln>
        </p:spPr>
      </p:sp>
      <p:sp>
        <p:nvSpPr>
          <p:cNvPr id="23" name="Text 21"/>
          <p:cNvSpPr/>
          <p:nvPr/>
        </p:nvSpPr>
        <p:spPr>
          <a:xfrm>
            <a:off x="5847866" y="1348085"/>
            <a:ext cx="115714" cy="144661"/>
          </a:xfrm>
          <a:prstGeom prst="rect">
            <a:avLst/>
          </a:prstGeom>
          <a:noFill/>
          <a:ln/>
        </p:spPr>
        <p:txBody>
          <a:bodyPr wrap="none" lIns="0" tIns="0" rIns="0" bIns="0" rtlCol="0" anchor="ctr"/>
          <a:lstStyle/>
          <a:p>
            <a:pPr algn="ctr" indent="0" marL="0">
              <a:lnSpc>
                <a:spcPct val="100000"/>
              </a:lnSpc>
              <a:buNone/>
            </a:pPr>
            <a:r>
              <a:rPr lang="en-US" sz="900" dirty="0">
                <a:solidFill>
                  <a:srgbClr val="404155"/>
                </a:solidFill>
                <a:latin typeface="Corben" pitchFamily="34" charset="0"/>
                <a:ea typeface="Corben" pitchFamily="34" charset="-122"/>
                <a:cs typeface="Corben" pitchFamily="34" charset="-120"/>
              </a:rPr>
              <a:t>4</a:t>
            </a:r>
            <a:endParaRPr lang="en-US" sz="900" dirty="0"/>
          </a:p>
        </p:txBody>
      </p:sp>
      <p:sp>
        <p:nvSpPr>
          <p:cNvPr id="24" name="Text 22"/>
          <p:cNvSpPr/>
          <p:nvPr/>
        </p:nvSpPr>
        <p:spPr>
          <a:xfrm>
            <a:off x="5423520" y="1729011"/>
            <a:ext cx="964406" cy="120551"/>
          </a:xfrm>
          <a:prstGeom prst="rect">
            <a:avLst/>
          </a:prstGeom>
          <a:noFill/>
          <a:ln/>
        </p:spPr>
        <p:txBody>
          <a:bodyPr wrap="none" lIns="0" tIns="0" rIns="0" bIns="0" rtlCol="0" anchor="t"/>
          <a:lstStyle/>
          <a:p>
            <a:pPr algn="ctr" indent="0" marL="0">
              <a:lnSpc>
                <a:spcPts val="900"/>
              </a:lnSpc>
              <a:buNone/>
            </a:pPr>
            <a:r>
              <a:rPr lang="en-US" sz="750" dirty="0">
                <a:solidFill>
                  <a:srgbClr val="404155"/>
                </a:solidFill>
                <a:latin typeface="Corben" pitchFamily="34" charset="0"/>
                <a:ea typeface="Corben" pitchFamily="34" charset="-122"/>
                <a:cs typeface="Corben" pitchFamily="34" charset="-120"/>
              </a:rPr>
              <a:t>ISO 17020</a:t>
            </a:r>
            <a:endParaRPr lang="en-US" sz="750" dirty="0"/>
          </a:p>
        </p:txBody>
      </p:sp>
      <p:sp>
        <p:nvSpPr>
          <p:cNvPr id="25" name="Text 23"/>
          <p:cNvSpPr/>
          <p:nvPr/>
        </p:nvSpPr>
        <p:spPr>
          <a:xfrm>
            <a:off x="5117753" y="1872704"/>
            <a:ext cx="1575941" cy="185142"/>
          </a:xfrm>
          <a:prstGeom prst="rect">
            <a:avLst/>
          </a:prstGeom>
          <a:noFill/>
          <a:ln/>
        </p:spPr>
        <p:txBody>
          <a:bodyPr wrap="square" lIns="0" tIns="0" rIns="0" bIns="0" rtlCol="0" anchor="t"/>
          <a:lstStyle/>
          <a:p>
            <a:pPr algn="ctr" indent="0" marL="0">
              <a:lnSpc>
                <a:spcPts val="700"/>
              </a:lnSpc>
              <a:buNone/>
            </a:pPr>
            <a:r>
              <a:rPr lang="en-US" sz="600" dirty="0">
                <a:solidFill>
                  <a:srgbClr val="404155"/>
                </a:solidFill>
                <a:latin typeface="Nobile" pitchFamily="34" charset="0"/>
                <a:ea typeface="Nobile" pitchFamily="34" charset="-122"/>
                <a:cs typeface="Nobile" pitchFamily="34" charset="-120"/>
              </a:rPr>
              <a:t>Accréditation complète aux normes internationales de qualité</a:t>
            </a:r>
            <a:endParaRPr lang="en-US" sz="600" dirty="0"/>
          </a:p>
        </p:txBody>
      </p:sp>
      <p:sp>
        <p:nvSpPr>
          <p:cNvPr id="26" name="Text 24"/>
          <p:cNvSpPr/>
          <p:nvPr/>
        </p:nvSpPr>
        <p:spPr>
          <a:xfrm>
            <a:off x="2373139" y="2115666"/>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Innovations Futures</a:t>
            </a:r>
            <a:endParaRPr lang="en-US" sz="750" dirty="0"/>
          </a:p>
        </p:txBody>
      </p:sp>
      <p:sp>
        <p:nvSpPr>
          <p:cNvPr id="27" name="Shape 25"/>
          <p:cNvSpPr/>
          <p:nvPr/>
        </p:nvSpPr>
        <p:spPr>
          <a:xfrm>
            <a:off x="2373139" y="2294037"/>
            <a:ext cx="2179513" cy="855092"/>
          </a:xfrm>
          <a:prstGeom prst="roundRect">
            <a:avLst>
              <a:gd name="adj" fmla="val 3790"/>
            </a:avLst>
          </a:prstGeom>
          <a:solidFill>
            <a:srgbClr val="D2D9F9"/>
          </a:solidFill>
          <a:ln w="4763">
            <a:solidFill>
              <a:srgbClr val="B8BFDF"/>
            </a:solidFill>
            <a:prstDash val="solid"/>
          </a:ln>
        </p:spPr>
      </p:sp>
      <p:sp>
        <p:nvSpPr>
          <p:cNvPr id="28" name="Shape 26"/>
          <p:cNvSpPr/>
          <p:nvPr/>
        </p:nvSpPr>
        <p:spPr>
          <a:xfrm>
            <a:off x="2454994" y="2375892"/>
            <a:ext cx="231428" cy="231428"/>
          </a:xfrm>
          <a:prstGeom prst="roundRect">
            <a:avLst>
              <a:gd name="adj" fmla="val 24692036"/>
            </a:avLst>
          </a:prstGeom>
          <a:solidFill>
            <a:srgbClr val="4967E9"/>
          </a:solidFill>
          <a:ln/>
        </p:spPr>
      </p:sp>
      <p:pic>
        <p:nvPicPr>
          <p:cNvPr id="2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518618" y="2439516"/>
            <a:ext cx="104105" cy="104105"/>
          </a:xfrm>
          <a:prstGeom prst="rect">
            <a:avLst/>
          </a:prstGeom>
        </p:spPr>
      </p:pic>
      <p:sp>
        <p:nvSpPr>
          <p:cNvPr id="30" name="Text 27"/>
          <p:cNvSpPr/>
          <p:nvPr/>
        </p:nvSpPr>
        <p:spPr>
          <a:xfrm>
            <a:off x="2454994" y="2645866"/>
            <a:ext cx="1017315"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Intelligence Artificielle</a:t>
            </a:r>
            <a:endParaRPr lang="en-US" sz="750" dirty="0"/>
          </a:p>
        </p:txBody>
      </p:sp>
      <p:sp>
        <p:nvSpPr>
          <p:cNvPr id="31" name="Text 28"/>
          <p:cNvSpPr/>
          <p:nvPr/>
        </p:nvSpPr>
        <p:spPr>
          <a:xfrm>
            <a:off x="2454994" y="2789560"/>
            <a:ext cx="2015803" cy="277713"/>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Analyse d'image pour détection automatique des défauts, prédiction des défaillances, optimisation des files d'attente</a:t>
            </a:r>
            <a:endParaRPr lang="en-US" sz="600" dirty="0"/>
          </a:p>
        </p:txBody>
      </p:sp>
      <p:sp>
        <p:nvSpPr>
          <p:cNvPr id="32" name="Shape 29"/>
          <p:cNvSpPr/>
          <p:nvPr/>
        </p:nvSpPr>
        <p:spPr>
          <a:xfrm>
            <a:off x="4591199" y="2294037"/>
            <a:ext cx="2179588" cy="855092"/>
          </a:xfrm>
          <a:prstGeom prst="roundRect">
            <a:avLst>
              <a:gd name="adj" fmla="val 3790"/>
            </a:avLst>
          </a:prstGeom>
          <a:solidFill>
            <a:srgbClr val="D2D9F9"/>
          </a:solidFill>
          <a:ln w="4763">
            <a:solidFill>
              <a:srgbClr val="B8BFDF"/>
            </a:solidFill>
            <a:prstDash val="solid"/>
          </a:ln>
        </p:spPr>
      </p:sp>
      <p:sp>
        <p:nvSpPr>
          <p:cNvPr id="33" name="Shape 30"/>
          <p:cNvSpPr/>
          <p:nvPr/>
        </p:nvSpPr>
        <p:spPr>
          <a:xfrm>
            <a:off x="4673054" y="2375892"/>
            <a:ext cx="231428" cy="231428"/>
          </a:xfrm>
          <a:prstGeom prst="roundRect">
            <a:avLst>
              <a:gd name="adj" fmla="val 24692036"/>
            </a:avLst>
          </a:prstGeom>
          <a:solidFill>
            <a:srgbClr val="4967E9"/>
          </a:solidFill>
          <a:ln/>
        </p:spPr>
      </p:sp>
      <p:pic>
        <p:nvPicPr>
          <p:cNvPr id="3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36678" y="2439516"/>
            <a:ext cx="104105" cy="104105"/>
          </a:xfrm>
          <a:prstGeom prst="rect">
            <a:avLst/>
          </a:prstGeom>
        </p:spPr>
      </p:pic>
      <p:sp>
        <p:nvSpPr>
          <p:cNvPr id="35" name="Text 31"/>
          <p:cNvSpPr/>
          <p:nvPr/>
        </p:nvSpPr>
        <p:spPr>
          <a:xfrm>
            <a:off x="4673054" y="2645866"/>
            <a:ext cx="999679"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Plateforme Hive Mind</a:t>
            </a:r>
            <a:endParaRPr lang="en-US" sz="750" dirty="0"/>
          </a:p>
        </p:txBody>
      </p:sp>
      <p:sp>
        <p:nvSpPr>
          <p:cNvPr id="36" name="Text 32"/>
          <p:cNvSpPr/>
          <p:nvPr/>
        </p:nvSpPr>
        <p:spPr>
          <a:xfrm>
            <a:off x="4673054" y="2789560"/>
            <a:ext cx="2015877" cy="277713"/>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Interconnexion de tous les centres pour centralisation des données, détection de fraudes, alertes en temps réel</a:t>
            </a:r>
            <a:endParaRPr lang="en-US" sz="600" dirty="0"/>
          </a:p>
        </p:txBody>
      </p:sp>
      <p:sp>
        <p:nvSpPr>
          <p:cNvPr id="37" name="Shape 33"/>
          <p:cNvSpPr/>
          <p:nvPr/>
        </p:nvSpPr>
        <p:spPr>
          <a:xfrm>
            <a:off x="2373139" y="3187675"/>
            <a:ext cx="2179513" cy="762521"/>
          </a:xfrm>
          <a:prstGeom prst="roundRect">
            <a:avLst>
              <a:gd name="adj" fmla="val 4250"/>
            </a:avLst>
          </a:prstGeom>
          <a:solidFill>
            <a:srgbClr val="D2D9F9"/>
          </a:solidFill>
          <a:ln w="4763">
            <a:solidFill>
              <a:srgbClr val="B8BFDF"/>
            </a:solidFill>
            <a:prstDash val="solid"/>
          </a:ln>
        </p:spPr>
      </p:sp>
      <p:sp>
        <p:nvSpPr>
          <p:cNvPr id="38" name="Shape 34"/>
          <p:cNvSpPr/>
          <p:nvPr/>
        </p:nvSpPr>
        <p:spPr>
          <a:xfrm>
            <a:off x="2454994" y="3269531"/>
            <a:ext cx="231428" cy="231428"/>
          </a:xfrm>
          <a:prstGeom prst="roundRect">
            <a:avLst>
              <a:gd name="adj" fmla="val 24692036"/>
            </a:avLst>
          </a:prstGeom>
          <a:solidFill>
            <a:srgbClr val="4967E9"/>
          </a:solidFill>
          <a:ln/>
        </p:spPr>
      </p:sp>
      <p:pic>
        <p:nvPicPr>
          <p:cNvPr id="3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18618" y="3333155"/>
            <a:ext cx="104105" cy="104105"/>
          </a:xfrm>
          <a:prstGeom prst="rect">
            <a:avLst/>
          </a:prstGeom>
        </p:spPr>
      </p:pic>
      <p:sp>
        <p:nvSpPr>
          <p:cNvPr id="40" name="Text 35"/>
          <p:cNvSpPr/>
          <p:nvPr/>
        </p:nvSpPr>
        <p:spPr>
          <a:xfrm>
            <a:off x="2454994" y="3539505"/>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Afficheurs LED</a:t>
            </a:r>
            <a:endParaRPr lang="en-US" sz="750" dirty="0"/>
          </a:p>
        </p:txBody>
      </p:sp>
      <p:sp>
        <p:nvSpPr>
          <p:cNvPr id="41" name="Text 36"/>
          <p:cNvSpPr/>
          <p:nvPr/>
        </p:nvSpPr>
        <p:spPr>
          <a:xfrm>
            <a:off x="2454994" y="3683198"/>
            <a:ext cx="2015803"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Signalisation extérieure avec numéros de plaque en temps réel pour fluidifier le flux client</a:t>
            </a:r>
            <a:endParaRPr lang="en-US" sz="600" dirty="0"/>
          </a:p>
        </p:txBody>
      </p:sp>
      <p:sp>
        <p:nvSpPr>
          <p:cNvPr id="42" name="Shape 37"/>
          <p:cNvSpPr/>
          <p:nvPr/>
        </p:nvSpPr>
        <p:spPr>
          <a:xfrm>
            <a:off x="4591199" y="3187675"/>
            <a:ext cx="2179588" cy="762521"/>
          </a:xfrm>
          <a:prstGeom prst="roundRect">
            <a:avLst>
              <a:gd name="adj" fmla="val 4250"/>
            </a:avLst>
          </a:prstGeom>
          <a:solidFill>
            <a:srgbClr val="D2D9F9"/>
          </a:solidFill>
          <a:ln w="4763">
            <a:solidFill>
              <a:srgbClr val="B8BFDF"/>
            </a:solidFill>
            <a:prstDash val="solid"/>
          </a:ln>
        </p:spPr>
      </p:sp>
      <p:sp>
        <p:nvSpPr>
          <p:cNvPr id="43" name="Shape 38"/>
          <p:cNvSpPr/>
          <p:nvPr/>
        </p:nvSpPr>
        <p:spPr>
          <a:xfrm>
            <a:off x="4673054" y="3269531"/>
            <a:ext cx="231428" cy="231428"/>
          </a:xfrm>
          <a:prstGeom prst="roundRect">
            <a:avLst>
              <a:gd name="adj" fmla="val 24692036"/>
            </a:avLst>
          </a:prstGeom>
          <a:solidFill>
            <a:srgbClr val="4967E9"/>
          </a:solidFill>
          <a:ln/>
        </p:spPr>
      </p:sp>
      <p:pic>
        <p:nvPicPr>
          <p:cNvPr id="4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36678" y="3333155"/>
            <a:ext cx="104105" cy="104105"/>
          </a:xfrm>
          <a:prstGeom prst="rect">
            <a:avLst/>
          </a:prstGeom>
        </p:spPr>
      </p:pic>
      <p:sp>
        <p:nvSpPr>
          <p:cNvPr id="45" name="Text 39"/>
          <p:cNvSpPr/>
          <p:nvPr/>
        </p:nvSpPr>
        <p:spPr>
          <a:xfrm>
            <a:off x="4673054" y="3539505"/>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404155"/>
                </a:solidFill>
                <a:latin typeface="Corben" pitchFamily="34" charset="0"/>
                <a:ea typeface="Corben" pitchFamily="34" charset="-122"/>
                <a:cs typeface="Corben" pitchFamily="34" charset="-120"/>
              </a:rPr>
              <a:t>Notifications SMS</a:t>
            </a:r>
            <a:endParaRPr lang="en-US" sz="750" dirty="0"/>
          </a:p>
        </p:txBody>
      </p:sp>
      <p:sp>
        <p:nvSpPr>
          <p:cNvPr id="46" name="Text 40"/>
          <p:cNvSpPr/>
          <p:nvPr/>
        </p:nvSpPr>
        <p:spPr>
          <a:xfrm>
            <a:off x="4673054" y="3683198"/>
            <a:ext cx="2015877" cy="185142"/>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Application mobile pour consultation de la file d'attente et mise à jour des statuts</a:t>
            </a:r>
            <a:endParaRPr lang="en-US" sz="600" dirty="0"/>
          </a:p>
        </p:txBody>
      </p:sp>
      <p:sp>
        <p:nvSpPr>
          <p:cNvPr id="47" name="Shape 41"/>
          <p:cNvSpPr/>
          <p:nvPr/>
        </p:nvSpPr>
        <p:spPr>
          <a:xfrm>
            <a:off x="2373139" y="4012853"/>
            <a:ext cx="4397648" cy="5730"/>
          </a:xfrm>
          <a:prstGeom prst="rect">
            <a:avLst/>
          </a:prstGeom>
          <a:solidFill>
            <a:srgbClr val="404155">
              <a:alpha val="50000"/>
            </a:srgbClr>
          </a:solidFill>
          <a:ln/>
        </p:spPr>
      </p:sp>
      <p:sp>
        <p:nvSpPr>
          <p:cNvPr id="48" name="Text 42"/>
          <p:cNvSpPr/>
          <p:nvPr/>
        </p:nvSpPr>
        <p:spPr>
          <a:xfrm>
            <a:off x="2373139" y="4095676"/>
            <a:ext cx="964406" cy="120551"/>
          </a:xfrm>
          <a:prstGeom prst="rect">
            <a:avLst/>
          </a:prstGeom>
          <a:noFill/>
          <a:ln/>
        </p:spPr>
        <p:txBody>
          <a:bodyPr wrap="none" lIns="0" tIns="0" rIns="0" bIns="0" rtlCol="0" anchor="t"/>
          <a:lstStyle/>
          <a:p>
            <a:pPr algn="l" indent="0" marL="0">
              <a:lnSpc>
                <a:spcPts val="900"/>
              </a:lnSpc>
              <a:buNone/>
            </a:pPr>
            <a:r>
              <a:rPr lang="en-US" sz="750" dirty="0">
                <a:solidFill>
                  <a:srgbClr val="1B1B27"/>
                </a:solidFill>
                <a:latin typeface="Corben" pitchFamily="34" charset="0"/>
                <a:ea typeface="Corben" pitchFamily="34" charset="-122"/>
                <a:cs typeface="Corben" pitchFamily="34" charset="-120"/>
              </a:rPr>
              <a:t>Conclusion</a:t>
            </a:r>
            <a:endParaRPr lang="en-US" sz="750" dirty="0"/>
          </a:p>
        </p:txBody>
      </p:sp>
      <p:sp>
        <p:nvSpPr>
          <p:cNvPr id="49" name="Text 43"/>
          <p:cNvSpPr/>
          <p:nvPr/>
        </p:nvSpPr>
        <p:spPr>
          <a:xfrm>
            <a:off x="2373139" y="4274046"/>
            <a:ext cx="4397648" cy="370284"/>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Ce stage au sein du centre de visite technique VITECMA d'Ait Melloul a été une expérience d'une richesse exceptionnelle, tant sur le plan professionnel que personnel. J'ai eu l'opportunité de découvrir un secteur essentiel de la sécurité routière, d'en comprendre les mécanismes opérationnels dans leur intégralité, et d'apporter une contribution concrète sous la forme d'un outil numérique directement utilisable par l'équipe du centre.</a:t>
            </a:r>
            <a:endParaRPr lang="en-US" sz="600" dirty="0"/>
          </a:p>
        </p:txBody>
      </p:sp>
      <p:sp>
        <p:nvSpPr>
          <p:cNvPr id="50" name="Text 44"/>
          <p:cNvSpPr/>
          <p:nvPr/>
        </p:nvSpPr>
        <p:spPr>
          <a:xfrm>
            <a:off x="2373139" y="4687714"/>
            <a:ext cx="4397648" cy="462855"/>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Le développement du tableau de bord de gestion m'a permis de mobiliser et d'approfondir mes compétences en développement web Full Stack - Laravel, Tailwind CSS, Alpine.js - dans un contexte professionnel réel, avec des contraintes et des exigences bien différentes de celles d'un exercice académique. Au-delà de la mission confiée, cette expérience m'a conforté dans mon orientation professionnelle vers le développement d'applications métier, un domaine où la technologie se met au service des processus réels pour générer une valeur tangible.</a:t>
            </a:r>
            <a:endParaRPr lang="en-US" sz="600" dirty="0"/>
          </a:p>
        </p:txBody>
      </p:sp>
      <p:sp>
        <p:nvSpPr>
          <p:cNvPr id="51" name="Text 45"/>
          <p:cNvSpPr/>
          <p:nvPr/>
        </p:nvSpPr>
        <p:spPr>
          <a:xfrm>
            <a:off x="2373139" y="5193953"/>
            <a:ext cx="4397648" cy="370284"/>
          </a:xfrm>
          <a:prstGeom prst="rect">
            <a:avLst/>
          </a:prstGeom>
          <a:noFill/>
          <a:ln/>
        </p:spPr>
        <p:txBody>
          <a:bodyPr wrap="square" lIns="0" tIns="0" rIns="0" bIns="0" rtlCol="0" anchor="t"/>
          <a:lstStyle/>
          <a:p>
            <a:pPr algn="l" indent="0" marL="0">
              <a:lnSpc>
                <a:spcPts val="700"/>
              </a:lnSpc>
              <a:buNone/>
            </a:pPr>
            <a:r>
              <a:rPr lang="en-US" sz="600" dirty="0">
                <a:solidFill>
                  <a:srgbClr val="404155"/>
                </a:solidFill>
                <a:latin typeface="Nobile" pitchFamily="34" charset="0"/>
                <a:ea typeface="Nobile" pitchFamily="34" charset="-122"/>
                <a:cs typeface="Nobile" pitchFamily="34" charset="-120"/>
              </a:rPr>
              <a:t>Ce stage m'a également ouvert les yeux sur l'immense chantier de transformation numérique qui attend le secteur de la visite technique au Maroc, avec des projets ambitieux comme la plateforme nationale interconnectée en cours de conception par le Ministère du Transport. Il est stimulant de penser que des outils comme celui que j'ai développé pourraient, à une échelle plus grande, contribuer à rendre les routes marocaines plus sûres.</a:t>
            </a:r>
            <a:endParaRPr lang="en-US" sz="600" dirty="0"/>
          </a:p>
        </p:txBody>
      </p:sp>
      <p:sp>
        <p:nvSpPr>
          <p:cNvPr id="52" name="Text 46"/>
          <p:cNvSpPr/>
          <p:nvPr/>
        </p:nvSpPr>
        <p:spPr>
          <a:xfrm>
            <a:off x="2488853" y="5651004"/>
            <a:ext cx="4281934" cy="185142"/>
          </a:xfrm>
          <a:prstGeom prst="rect">
            <a:avLst/>
          </a:prstGeom>
          <a:noFill/>
          <a:ln/>
        </p:spPr>
        <p:txBody>
          <a:bodyPr wrap="square" lIns="0" tIns="0" rIns="0" bIns="0" rtlCol="0" anchor="t"/>
          <a:lstStyle/>
          <a:p>
            <a:pPr algn="l" indent="0" marL="0">
              <a:lnSpc>
                <a:spcPts val="700"/>
              </a:lnSpc>
              <a:buNone/>
            </a:pPr>
            <a:r>
              <a:rPr lang="en-US" sz="600" i="1" dirty="0">
                <a:solidFill>
                  <a:srgbClr val="404155"/>
                </a:solidFill>
                <a:latin typeface="Nobile" pitchFamily="34" charset="0"/>
                <a:ea typeface="Nobile" pitchFamily="34" charset="-122"/>
                <a:cs typeface="Nobile" pitchFamily="34" charset="-120"/>
              </a:rPr>
              <a:t>« Un stage qui a permis de transformer un problème opérationnel concret en une solution numérique innovante, tout en apportant une contribution directe à l'efficacité du centre VITECMA. »</a:t>
            </a:r>
            <a:endParaRPr lang="en-US" sz="600" dirty="0"/>
          </a:p>
        </p:txBody>
      </p:sp>
      <p:sp>
        <p:nvSpPr>
          <p:cNvPr id="53" name="Shape 47"/>
          <p:cNvSpPr/>
          <p:nvPr/>
        </p:nvSpPr>
        <p:spPr>
          <a:xfrm>
            <a:off x="2373139" y="5607621"/>
            <a:ext cx="9525" cy="271909"/>
          </a:xfrm>
          <a:prstGeom prst="rect">
            <a:avLst/>
          </a:prstGeom>
          <a:solidFill>
            <a:srgbClr val="4967E9"/>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2026-05-10T22:22:58Z</dcterms:created>
  <dcterms:modified xsi:type="dcterms:W3CDTF">2026-05-10T22:22:58Z</dcterms:modified>
</cp:coreProperties>
</file>