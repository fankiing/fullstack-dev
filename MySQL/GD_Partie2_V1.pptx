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ar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5785630-33FB-41E3-9897-C05F60298EF0}" type="datetimeFigureOut">
              <a:rPr lang="ar-MA" smtClean="0"/>
              <a:t>16-06-1447</a:t>
            </a:fld>
            <a:endParaRPr lang="ar-M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M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ar-M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M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C71C5EE-DD7B-4B12-956E-AE7EE002C8DE}" type="slidenum">
              <a:rPr lang="ar-MA" smtClean="0"/>
              <a:t>‹#›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164977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6E6CEE-3F83-41AD-9476-EFCA13E64197}" type="slidenum">
              <a:rPr kumimoji="0" lang="ar-MA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ar-MA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195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47412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40498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45393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52592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20653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8" y="17"/>
            <a:ext cx="12185903" cy="6855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6447" y="1461515"/>
            <a:ext cx="11119485" cy="5146675"/>
          </a:xfrm>
          <a:custGeom>
            <a:avLst/>
            <a:gdLst/>
            <a:ahLst/>
            <a:cxnLst/>
            <a:rect l="l" t="t" r="r" b="b"/>
            <a:pathLst>
              <a:path w="11119485" h="5146675">
                <a:moveTo>
                  <a:pt x="11119104" y="0"/>
                </a:moveTo>
                <a:lnTo>
                  <a:pt x="0" y="0"/>
                </a:lnTo>
                <a:lnTo>
                  <a:pt x="0" y="5146548"/>
                </a:lnTo>
                <a:lnTo>
                  <a:pt x="11119104" y="5146548"/>
                </a:lnTo>
                <a:lnTo>
                  <a:pt x="111191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447" y="1461515"/>
            <a:ext cx="11119485" cy="5146675"/>
          </a:xfrm>
          <a:custGeom>
            <a:avLst/>
            <a:gdLst/>
            <a:ahLst/>
            <a:cxnLst/>
            <a:rect l="l" t="t" r="r" b="b"/>
            <a:pathLst>
              <a:path w="11119485" h="5146675">
                <a:moveTo>
                  <a:pt x="0" y="5146548"/>
                </a:moveTo>
                <a:lnTo>
                  <a:pt x="11119104" y="5146548"/>
                </a:lnTo>
                <a:lnTo>
                  <a:pt x="11119104" y="0"/>
                </a:lnTo>
                <a:lnTo>
                  <a:pt x="0" y="0"/>
                </a:lnTo>
                <a:lnTo>
                  <a:pt x="0" y="5146548"/>
                </a:lnTo>
                <a:close/>
              </a:path>
            </a:pathLst>
          </a:custGeom>
          <a:ln w="9525">
            <a:solidFill>
              <a:srgbClr val="F8CC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868923"/>
            <a:ext cx="536575" cy="536575"/>
          </a:xfrm>
          <a:custGeom>
            <a:avLst/>
            <a:gdLst/>
            <a:ahLst/>
            <a:cxnLst/>
            <a:rect l="l" t="t" r="r" b="b"/>
            <a:pathLst>
              <a:path w="536575" h="536575">
                <a:moveTo>
                  <a:pt x="268224" y="0"/>
                </a:moveTo>
                <a:lnTo>
                  <a:pt x="220010" y="4321"/>
                </a:lnTo>
                <a:lnTo>
                  <a:pt x="174631" y="16781"/>
                </a:lnTo>
                <a:lnTo>
                  <a:pt x="132845" y="36621"/>
                </a:lnTo>
                <a:lnTo>
                  <a:pt x="95410" y="63083"/>
                </a:lnTo>
                <a:lnTo>
                  <a:pt x="63082" y="95412"/>
                </a:lnTo>
                <a:lnTo>
                  <a:pt x="36620" y="132847"/>
                </a:lnTo>
                <a:lnTo>
                  <a:pt x="16780" y="174633"/>
                </a:lnTo>
                <a:lnTo>
                  <a:pt x="4321" y="220011"/>
                </a:lnTo>
                <a:lnTo>
                  <a:pt x="0" y="268223"/>
                </a:lnTo>
                <a:lnTo>
                  <a:pt x="4321" y="316436"/>
                </a:lnTo>
                <a:lnTo>
                  <a:pt x="16780" y="361814"/>
                </a:lnTo>
                <a:lnTo>
                  <a:pt x="36620" y="403600"/>
                </a:lnTo>
                <a:lnTo>
                  <a:pt x="63082" y="441035"/>
                </a:lnTo>
                <a:lnTo>
                  <a:pt x="95410" y="473364"/>
                </a:lnTo>
                <a:lnTo>
                  <a:pt x="132845" y="499826"/>
                </a:lnTo>
                <a:lnTo>
                  <a:pt x="174631" y="519666"/>
                </a:lnTo>
                <a:lnTo>
                  <a:pt x="220010" y="532126"/>
                </a:lnTo>
                <a:lnTo>
                  <a:pt x="268224" y="536447"/>
                </a:lnTo>
                <a:lnTo>
                  <a:pt x="536448" y="536447"/>
                </a:lnTo>
                <a:lnTo>
                  <a:pt x="536448" y="268223"/>
                </a:lnTo>
                <a:lnTo>
                  <a:pt x="532126" y="220011"/>
                </a:lnTo>
                <a:lnTo>
                  <a:pt x="519666" y="174633"/>
                </a:lnTo>
                <a:lnTo>
                  <a:pt x="499826" y="132847"/>
                </a:lnTo>
                <a:lnTo>
                  <a:pt x="473364" y="95412"/>
                </a:lnTo>
                <a:lnTo>
                  <a:pt x="441036" y="63083"/>
                </a:lnTo>
                <a:lnTo>
                  <a:pt x="403600" y="36621"/>
                </a:lnTo>
                <a:lnTo>
                  <a:pt x="361814" y="16781"/>
                </a:lnTo>
                <a:lnTo>
                  <a:pt x="316436" y="4321"/>
                </a:lnTo>
                <a:lnTo>
                  <a:pt x="268224" y="0"/>
                </a:lnTo>
                <a:close/>
              </a:path>
            </a:pathLst>
          </a:custGeom>
          <a:solidFill>
            <a:srgbClr val="FF7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876" y="305561"/>
            <a:ext cx="11674246" cy="77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982" y="1599387"/>
            <a:ext cx="10558145" cy="4020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4638" y="6672402"/>
            <a:ext cx="198310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10" dirty="0"/>
              <a:t> </a:t>
            </a:r>
            <a:r>
              <a:rPr dirty="0"/>
              <a:t>-</a:t>
            </a:r>
            <a:r>
              <a:rPr spc="-35" dirty="0"/>
              <a:t> </a:t>
            </a:r>
            <a:r>
              <a:rPr spc="-1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44273" y="6669049"/>
            <a:ext cx="281304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3990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47632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9908" y="165555"/>
            <a:ext cx="1181099" cy="11673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88388" y="4985969"/>
            <a:ext cx="8738870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9245" marR="5080" lvl="0" indent="-2836545" defTabSz="914400" eaLnBrk="1" fontAlgn="auto" latinLnBrk="0" hangingPunct="1">
              <a:lnSpc>
                <a:spcPct val="1215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RÉSUMÉ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THÉORIQUE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FILIÈRE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DÉVELOPPEMENT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DIGITAL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OPTION</a:t>
            </a:r>
            <a:r>
              <a:rPr kumimoji="0" sz="2000" b="1" i="0" u="none" strike="noStrike" kern="0" cap="none" spc="-7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WEB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FULL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STACK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M111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GÉRER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802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1999" cy="68549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7647" y="1129410"/>
            <a:ext cx="2230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SOMMAIRE</a:t>
            </a:r>
            <a:endParaRPr kumimoji="0" sz="3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747" y="242315"/>
            <a:ext cx="728472" cy="7193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26502" y="1056258"/>
            <a:ext cx="32435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1.</a:t>
            </a:r>
            <a:r>
              <a:rPr sz="2000" spc="229" dirty="0"/>
              <a:t> </a:t>
            </a:r>
            <a:r>
              <a:rPr sz="2000" dirty="0">
                <a:solidFill>
                  <a:srgbClr val="0058A0"/>
                </a:solidFill>
              </a:rPr>
              <a:t>Exploiter</a:t>
            </a:r>
            <a:r>
              <a:rPr sz="2000" spc="-35" dirty="0">
                <a:solidFill>
                  <a:srgbClr val="0058A0"/>
                </a:solidFill>
              </a:rPr>
              <a:t> </a:t>
            </a:r>
            <a:r>
              <a:rPr sz="2000" dirty="0">
                <a:solidFill>
                  <a:srgbClr val="0058A0"/>
                </a:solidFill>
              </a:rPr>
              <a:t>les</a:t>
            </a:r>
            <a:r>
              <a:rPr sz="2000" spc="-15" dirty="0">
                <a:solidFill>
                  <a:srgbClr val="0058A0"/>
                </a:solidFill>
              </a:rPr>
              <a:t> </a:t>
            </a:r>
            <a:r>
              <a:rPr sz="2000" spc="-10" dirty="0">
                <a:solidFill>
                  <a:srgbClr val="0058A0"/>
                </a:solidFill>
              </a:rPr>
              <a:t>fonctionnalités</a:t>
            </a:r>
            <a:endParaRPr sz="2000" dirty="0"/>
          </a:p>
        </p:txBody>
      </p:sp>
      <p:sp>
        <p:nvSpPr>
          <p:cNvPr id="6" name="object 6"/>
          <p:cNvSpPr txBox="1"/>
          <p:nvPr/>
        </p:nvSpPr>
        <p:spPr>
          <a:xfrm>
            <a:off x="7443978" y="1449162"/>
            <a:ext cx="4010025" cy="411987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635" marR="0" lvl="0" indent="0" algn="ctr" defTabSz="91440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avancées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d’un</a:t>
            </a:r>
            <a:r>
              <a:rPr kumimoji="0" sz="2000" b="1" i="0" u="none" strike="noStrike" kern="0" cap="none" spc="-6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SGBD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relationnel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Maitriser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langage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programmation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procédurale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sous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MySQL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84175" marR="377825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Optimiser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MySQL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Protéger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MySQL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8270" marR="121285" lvl="0" indent="55880" defTabSz="914400" eaLnBrk="1" fontAlgn="auto" latinLnBrk="0" hangingPunct="1">
              <a:lnSpc>
                <a:spcPct val="1501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2.</a:t>
            </a:r>
            <a:r>
              <a:rPr kumimoji="0" sz="2000" b="1" i="0" u="none" strike="noStrike" kern="0" cap="none" spc="254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Exploiter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les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fonctionnalités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des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2000" b="1" i="0" u="none" strike="noStrike" kern="0" cap="none" spc="-4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000" b="1" i="0" u="none" strike="noStrike" kern="0" cap="none" spc="-3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2000" b="1" i="0" u="none" strike="noStrike" kern="0" cap="none" spc="-5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0058A0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394335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 Mettre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Modéliser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documents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0485" marR="61594" lvl="0" indent="127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Manipuler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Effectuer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requêtes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depuis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programmes Python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Sécuriser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235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0"/>
            <a:ext cx="6483078" cy="6857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79590" y="2358390"/>
            <a:ext cx="2675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Dans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ce</a:t>
            </a:r>
            <a:r>
              <a:rPr kumimoji="0" sz="18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module,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vous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allez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12" y="195071"/>
            <a:ext cx="1027176" cy="101498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8764" rIns="0" bIns="0" rtlCol="0">
            <a:spAutoFit/>
          </a:bodyPr>
          <a:lstStyle/>
          <a:p>
            <a:pPr marL="818959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PARTIE</a:t>
            </a:r>
            <a:r>
              <a:rPr spc="-125" dirty="0"/>
              <a:t> </a:t>
            </a:r>
            <a:r>
              <a:rPr spc="-50" dirty="0"/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95435" y="6337198"/>
            <a:ext cx="12623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50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heures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07885" y="1108075"/>
            <a:ext cx="4763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4005" marR="5080" lvl="0" indent="-155194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Exploiter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fonctionnalités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9590" y="2660396"/>
            <a:ext cx="4517010" cy="153759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Mettre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place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Modéliser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documents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Manipuler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Effectuer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4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requêtes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depuis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programmes Python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Sécuriser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MongoDB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899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" y="0"/>
            <a:ext cx="6483985" cy="6858000"/>
            <a:chOff x="4572" y="0"/>
            <a:chExt cx="64839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6483889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2" y="195071"/>
              <a:ext cx="1027176" cy="101498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379590" y="2358390"/>
            <a:ext cx="5332095" cy="223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vous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allez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apprendre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dans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chapitre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178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Définir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concept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traditionnelles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caractéristiques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5600" marR="5080" lvl="0" indent="-342900" defTabSz="91440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5600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(document,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clé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/ 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valeur,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colonne,</a:t>
            </a:r>
            <a:r>
              <a:rPr kumimoji="0" sz="15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graphe)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54965" algn="l"/>
              </a:tabLst>
              <a:defRPr/>
            </a:pP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5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différents</a:t>
            </a:r>
            <a:r>
              <a:rPr kumimoji="0" sz="15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5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5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5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5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411" rIns="0" bIns="0" rtlCol="0">
            <a:spAutoFit/>
          </a:bodyPr>
          <a:lstStyle/>
          <a:p>
            <a:pPr marL="7970520">
              <a:lnSpc>
                <a:spcPct val="100000"/>
              </a:lnSpc>
              <a:spcBef>
                <a:spcPts val="95"/>
              </a:spcBef>
            </a:pPr>
            <a:r>
              <a:rPr dirty="0"/>
              <a:t>CHAPITRE</a:t>
            </a:r>
            <a:r>
              <a:rPr spc="-105" dirty="0"/>
              <a:t> </a:t>
            </a:r>
            <a:r>
              <a:rPr spc="-50" dirty="0"/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95435" y="6337198"/>
            <a:ext cx="12623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05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heures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33209" y="1103503"/>
            <a:ext cx="491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017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" y="0"/>
            <a:ext cx="6489700" cy="6858000"/>
            <a:chOff x="3048" y="0"/>
            <a:chExt cx="64897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" y="0"/>
              <a:ext cx="648942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1" y="195071"/>
              <a:ext cx="1027176" cy="10149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411" rIns="0" bIns="0" rtlCol="0">
            <a:spAutoFit/>
          </a:bodyPr>
          <a:lstStyle/>
          <a:p>
            <a:pPr marL="7970520">
              <a:lnSpc>
                <a:spcPct val="100000"/>
              </a:lnSpc>
              <a:spcBef>
                <a:spcPts val="95"/>
              </a:spcBef>
            </a:pPr>
            <a:r>
              <a:rPr dirty="0"/>
              <a:t>CHAPITRE</a:t>
            </a:r>
            <a:r>
              <a:rPr spc="-105" dirty="0"/>
              <a:t> </a:t>
            </a:r>
            <a:r>
              <a:rPr spc="-5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33209" y="1103503"/>
            <a:ext cx="491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824251"/>
            <a:ext cx="5262245" cy="17240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Définir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concept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traditionnelles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caractéristiques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5600" marR="5080" lvl="0" indent="-342900" defTabSz="914400" eaLnBrk="1" fontAlgn="auto" latinLnBrk="0" hangingPunct="1">
              <a:lnSpc>
                <a:spcPts val="173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56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(document,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clé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valeur,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colonne,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BEBEBE"/>
                </a:solidFill>
                <a:effectLst/>
                <a:uLnTx/>
                <a:uFillTx/>
                <a:latin typeface="Calibri"/>
                <a:cs typeface="Calibri"/>
              </a:rPr>
              <a:t>graphe),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différents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35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4230" y="345947"/>
            <a:ext cx="9799955" cy="4711065"/>
            <a:chOff x="824230" y="345947"/>
            <a:chExt cx="9799955" cy="4711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0580" y="4084319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1609344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09344" y="966215"/>
                  </a:lnTo>
                  <a:lnTo>
                    <a:pt x="1609344" y="0"/>
                  </a:lnTo>
                  <a:close/>
                </a:path>
              </a:pathLst>
            </a:custGeom>
            <a:solidFill>
              <a:srgbClr val="AD5A2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30580" y="4084319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0" y="966215"/>
                  </a:moveTo>
                  <a:lnTo>
                    <a:pt x="1609344" y="966215"/>
                  </a:lnTo>
                  <a:lnTo>
                    <a:pt x="1609344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90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600" spc="-10" dirty="0"/>
              <a:t>C’est</a:t>
            </a:r>
            <a:r>
              <a:rPr sz="1600" spc="-35" dirty="0"/>
              <a:t> </a:t>
            </a:r>
            <a:r>
              <a:rPr sz="1600" dirty="0"/>
              <a:t>quoi</a:t>
            </a:r>
            <a:r>
              <a:rPr sz="1600" spc="-25" dirty="0"/>
              <a:t> </a:t>
            </a:r>
            <a:r>
              <a:rPr sz="1600" dirty="0"/>
              <a:t>une</a:t>
            </a:r>
            <a:r>
              <a:rPr sz="1600" spc="-30" dirty="0"/>
              <a:t> </a:t>
            </a:r>
            <a:r>
              <a:rPr sz="1600" dirty="0"/>
              <a:t>BD</a:t>
            </a:r>
            <a:r>
              <a:rPr sz="1600" spc="-25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8" name="object 8"/>
          <p:cNvSpPr txBox="1"/>
          <p:nvPr/>
        </p:nvSpPr>
        <p:spPr>
          <a:xfrm>
            <a:off x="798982" y="1599387"/>
            <a:ext cx="10587355" cy="1967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SGBD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Relationnels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…..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défis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majeurs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SGBDs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étaient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toujours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stockage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recherche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080" lvl="0" indent="-287020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SGBDR</a:t>
            </a:r>
            <a:r>
              <a:rPr kumimoji="0" sz="1600" b="1" i="0" u="none" strike="noStrike" kern="0" cap="none" spc="30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adaptés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gérer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2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bien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structurées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2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2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simples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(chaines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2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caractères,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entier,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…)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représentables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sous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forme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tables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(colonnes</a:t>
            </a:r>
            <a:r>
              <a:rPr kumimoji="0" sz="1600" b="0" i="0" u="none" strike="noStrike" kern="0" cap="none" spc="3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=&gt;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lignes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=&gt;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données),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Ils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reposent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sur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modèle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relationnelle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d’Edgard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Codd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ont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prouvé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leur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efficacité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décennies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grâce</a:t>
            </a:r>
            <a:r>
              <a:rPr kumimoji="0" sz="1600" b="0" i="0" u="none" strike="noStrike" kern="0" cap="none" spc="-25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à</a:t>
            </a:r>
            <a:r>
              <a:rPr kumimoji="0" lang="fr-FR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580" y="4084320"/>
            <a:ext cx="1609725" cy="825803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46405" marR="61594" lvl="0" indent="-378460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400" b="0" i="0" u="none" strike="noStrike" kern="0" cap="none" spc="2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séparation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logique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physique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95117" y="4077970"/>
            <a:ext cx="1623695" cy="979169"/>
            <a:chOff x="2595117" y="4077970"/>
            <a:chExt cx="1623695" cy="979169"/>
          </a:xfrm>
        </p:grpSpPr>
        <p:sp>
          <p:nvSpPr>
            <p:cNvPr id="11" name="object 11"/>
            <p:cNvSpPr/>
            <p:nvPr/>
          </p:nvSpPr>
          <p:spPr>
            <a:xfrm>
              <a:off x="2601467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1610868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10868" y="966215"/>
                  </a:lnTo>
                  <a:lnTo>
                    <a:pt x="1610868" y="0"/>
                  </a:lnTo>
                  <a:close/>
                </a:path>
              </a:pathLst>
            </a:custGeom>
            <a:solidFill>
              <a:srgbClr val="DE774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01467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0" y="966215"/>
                  </a:moveTo>
                  <a:lnTo>
                    <a:pt x="1610868" y="966215"/>
                  </a:lnTo>
                  <a:lnTo>
                    <a:pt x="1610868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01467" y="4084320"/>
            <a:ext cx="1610995" cy="907877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70485" marR="64135" lvl="0" indent="0" algn="ctr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400" b="0" i="0" u="none" strike="noStrike" kern="0" cap="none" spc="2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forte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structuration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fort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typage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366005" y="4077970"/>
            <a:ext cx="1623695" cy="979169"/>
            <a:chOff x="4366005" y="4077970"/>
            <a:chExt cx="1623695" cy="979169"/>
          </a:xfrm>
        </p:grpSpPr>
        <p:sp>
          <p:nvSpPr>
            <p:cNvPr id="15" name="object 15"/>
            <p:cNvSpPr/>
            <p:nvPr/>
          </p:nvSpPr>
          <p:spPr>
            <a:xfrm>
              <a:off x="4372355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1610868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10868" y="966215"/>
                  </a:lnTo>
                  <a:lnTo>
                    <a:pt x="1610868" y="0"/>
                  </a:lnTo>
                  <a:close/>
                </a:path>
              </a:pathLst>
            </a:custGeom>
            <a:solidFill>
              <a:srgbClr val="EBA08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72355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0" y="966215"/>
                  </a:moveTo>
                  <a:lnTo>
                    <a:pt x="1610868" y="966215"/>
                  </a:lnTo>
                  <a:lnTo>
                    <a:pt x="1610868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67200" y="4084319"/>
            <a:ext cx="1952245" cy="65338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528320" marR="193675" lvl="0" indent="-326390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lang="fr-FR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représentation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tabulaire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38417" y="4077970"/>
            <a:ext cx="1622425" cy="979169"/>
            <a:chOff x="6138417" y="4077970"/>
            <a:chExt cx="1622425" cy="979169"/>
          </a:xfrm>
        </p:grpSpPr>
        <p:sp>
          <p:nvSpPr>
            <p:cNvPr id="19" name="object 19"/>
            <p:cNvSpPr/>
            <p:nvPr/>
          </p:nvSpPr>
          <p:spPr>
            <a:xfrm>
              <a:off x="6144767" y="4084320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1609343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09343" y="966215"/>
                  </a:lnTo>
                  <a:lnTo>
                    <a:pt x="1609343" y="0"/>
                  </a:lnTo>
                  <a:close/>
                </a:path>
              </a:pathLst>
            </a:custGeom>
            <a:solidFill>
              <a:srgbClr val="F7D2C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144767" y="4084320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0" y="966215"/>
                  </a:moveTo>
                  <a:lnTo>
                    <a:pt x="1609343" y="966215"/>
                  </a:lnTo>
                  <a:lnTo>
                    <a:pt x="1609343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51420" y="4084319"/>
            <a:ext cx="1901573" cy="65338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41350" marR="144145" lvl="0" indent="-490855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langage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déclaratif (SQL)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909306" y="4077970"/>
            <a:ext cx="1622425" cy="979169"/>
            <a:chOff x="7909306" y="4077970"/>
            <a:chExt cx="1622425" cy="979169"/>
          </a:xfrm>
        </p:grpSpPr>
        <p:sp>
          <p:nvSpPr>
            <p:cNvPr id="23" name="object 23"/>
            <p:cNvSpPr/>
            <p:nvPr/>
          </p:nvSpPr>
          <p:spPr>
            <a:xfrm>
              <a:off x="7915656" y="4084320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1609344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09344" y="966215"/>
                  </a:lnTo>
                  <a:lnTo>
                    <a:pt x="1609344" y="0"/>
                  </a:lnTo>
                  <a:close/>
                </a:path>
              </a:pathLst>
            </a:custGeom>
            <a:solidFill>
              <a:srgbClr val="EBA08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915656" y="4084320"/>
              <a:ext cx="1609725" cy="966469"/>
            </a:xfrm>
            <a:custGeom>
              <a:avLst/>
              <a:gdLst/>
              <a:ahLst/>
              <a:cxnLst/>
              <a:rect l="l" t="t" r="r" b="b"/>
              <a:pathLst>
                <a:path w="1609725" h="966470">
                  <a:moveTo>
                    <a:pt x="0" y="966215"/>
                  </a:moveTo>
                  <a:lnTo>
                    <a:pt x="1609344" y="966215"/>
                  </a:lnTo>
                  <a:lnTo>
                    <a:pt x="1609344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918003" y="3931841"/>
            <a:ext cx="1609725" cy="113075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84455" marR="74295" lvl="0" indent="-635" algn="ctr" defTabSz="914400" eaLnBrk="1" fontAlgn="auto" latinLnBrk="0" hangingPunct="1">
              <a:lnSpc>
                <a:spcPct val="91700"/>
              </a:lnSpc>
              <a:spcBef>
                <a:spcPts val="10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ensemble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contraintes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permettant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d’assurer</a:t>
            </a:r>
            <a:r>
              <a:rPr kumimoji="0" sz="1400" b="0" i="0" u="none" strike="noStrike" kern="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l’intégrité</a:t>
            </a:r>
            <a:r>
              <a:rPr kumimoji="0" sz="1400" b="0" i="0" u="none" strike="noStrike" kern="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des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680193" y="4077970"/>
            <a:ext cx="1623695" cy="979169"/>
            <a:chOff x="9680193" y="4077970"/>
            <a:chExt cx="1623695" cy="979169"/>
          </a:xfrm>
        </p:grpSpPr>
        <p:sp>
          <p:nvSpPr>
            <p:cNvPr id="27" name="object 27"/>
            <p:cNvSpPr/>
            <p:nvPr/>
          </p:nvSpPr>
          <p:spPr>
            <a:xfrm>
              <a:off x="9686543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1610868" y="0"/>
                  </a:moveTo>
                  <a:lnTo>
                    <a:pt x="0" y="0"/>
                  </a:lnTo>
                  <a:lnTo>
                    <a:pt x="0" y="966215"/>
                  </a:lnTo>
                  <a:lnTo>
                    <a:pt x="1610868" y="966215"/>
                  </a:lnTo>
                  <a:lnTo>
                    <a:pt x="1610868" y="0"/>
                  </a:lnTo>
                  <a:close/>
                </a:path>
              </a:pathLst>
            </a:custGeom>
            <a:solidFill>
              <a:srgbClr val="DE774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9686543" y="4084320"/>
              <a:ext cx="1610995" cy="966469"/>
            </a:xfrm>
            <a:custGeom>
              <a:avLst/>
              <a:gdLst/>
              <a:ahLst/>
              <a:cxnLst/>
              <a:rect l="l" t="t" r="r" b="b"/>
              <a:pathLst>
                <a:path w="1610995" h="966470">
                  <a:moveTo>
                    <a:pt x="0" y="966215"/>
                  </a:moveTo>
                  <a:lnTo>
                    <a:pt x="1610868" y="966215"/>
                  </a:lnTo>
                  <a:lnTo>
                    <a:pt x="1610868" y="0"/>
                  </a:lnTo>
                  <a:lnTo>
                    <a:pt x="0" y="0"/>
                  </a:lnTo>
                  <a:lnTo>
                    <a:pt x="0" y="9662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552686" y="3982720"/>
            <a:ext cx="1907347" cy="856581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04800" marR="90805" lvl="0" indent="-205740" algn="ctr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400" b="0" i="0" u="none" strike="noStrike" kern="0" cap="none" spc="-4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forte</a:t>
            </a:r>
            <a:r>
              <a:rPr kumimoji="0" sz="1400" b="0" i="0" u="none" strike="noStrike" kern="0" cap="none" spc="-35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endParaRPr kumimoji="0" lang="fr-FR" sz="1400" b="0" i="0" u="none" strike="noStrike" kern="0" cap="none" spc="-3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90805" lvl="0" indent="-205740" algn="ctr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ohérence</a:t>
            </a:r>
            <a:endParaRPr kumimoji="0" lang="fr-FR" sz="1400" b="0" i="0" u="none" strike="noStrike" kern="0" cap="none" spc="-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90805" lvl="0" indent="-205740" algn="ctr" defTabSz="914400" eaLnBrk="1" fontAlgn="auto" latinLnBrk="0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transactionnelle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13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31510" y="345947"/>
            <a:ext cx="5392420" cy="4604385"/>
            <a:chOff x="5231510" y="345947"/>
            <a:chExt cx="5392420" cy="4604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37860" y="2813177"/>
              <a:ext cx="2000250" cy="2131060"/>
            </a:xfrm>
            <a:custGeom>
              <a:avLst/>
              <a:gdLst/>
              <a:ahLst/>
              <a:cxnLst/>
              <a:rect l="l" t="t" r="r" b="b"/>
              <a:pathLst>
                <a:path w="2000250" h="2131060">
                  <a:moveTo>
                    <a:pt x="999871" y="0"/>
                  </a:moveTo>
                  <a:lnTo>
                    <a:pt x="951427" y="1152"/>
                  </a:lnTo>
                  <a:lnTo>
                    <a:pt x="903579" y="4573"/>
                  </a:lnTo>
                  <a:lnTo>
                    <a:pt x="856378" y="10211"/>
                  </a:lnTo>
                  <a:lnTo>
                    <a:pt x="809877" y="18014"/>
                  </a:lnTo>
                  <a:lnTo>
                    <a:pt x="764127" y="27929"/>
                  </a:lnTo>
                  <a:lnTo>
                    <a:pt x="719182" y="39904"/>
                  </a:lnTo>
                  <a:lnTo>
                    <a:pt x="675094" y="53887"/>
                  </a:lnTo>
                  <a:lnTo>
                    <a:pt x="631915" y="69825"/>
                  </a:lnTo>
                  <a:lnTo>
                    <a:pt x="589698" y="87666"/>
                  </a:lnTo>
                  <a:lnTo>
                    <a:pt x="548494" y="107358"/>
                  </a:lnTo>
                  <a:lnTo>
                    <a:pt x="508357" y="128848"/>
                  </a:lnTo>
                  <a:lnTo>
                    <a:pt x="469339" y="152084"/>
                  </a:lnTo>
                  <a:lnTo>
                    <a:pt x="431492" y="177014"/>
                  </a:lnTo>
                  <a:lnTo>
                    <a:pt x="394868" y="203585"/>
                  </a:lnTo>
                  <a:lnTo>
                    <a:pt x="359520" y="231745"/>
                  </a:lnTo>
                  <a:lnTo>
                    <a:pt x="325500" y="261442"/>
                  </a:lnTo>
                  <a:lnTo>
                    <a:pt x="292862" y="292623"/>
                  </a:lnTo>
                  <a:lnTo>
                    <a:pt x="261656" y="325237"/>
                  </a:lnTo>
                  <a:lnTo>
                    <a:pt x="231935" y="359230"/>
                  </a:lnTo>
                  <a:lnTo>
                    <a:pt x="203752" y="394550"/>
                  </a:lnTo>
                  <a:lnTo>
                    <a:pt x="177160" y="431145"/>
                  </a:lnTo>
                  <a:lnTo>
                    <a:pt x="152210" y="468964"/>
                  </a:lnTo>
                  <a:lnTo>
                    <a:pt x="128955" y="507952"/>
                  </a:lnTo>
                  <a:lnTo>
                    <a:pt x="107447" y="548059"/>
                  </a:lnTo>
                  <a:lnTo>
                    <a:pt x="87739" y="589231"/>
                  </a:lnTo>
                  <a:lnTo>
                    <a:pt x="69884" y="631417"/>
                  </a:lnTo>
                  <a:lnTo>
                    <a:pt x="53932" y="674564"/>
                  </a:lnTo>
                  <a:lnTo>
                    <a:pt x="39938" y="718620"/>
                  </a:lnTo>
                  <a:lnTo>
                    <a:pt x="27953" y="763532"/>
                  </a:lnTo>
                  <a:lnTo>
                    <a:pt x="18029" y="809248"/>
                  </a:lnTo>
                  <a:lnTo>
                    <a:pt x="10220" y="855717"/>
                  </a:lnTo>
                  <a:lnTo>
                    <a:pt x="4577" y="902884"/>
                  </a:lnTo>
                  <a:lnTo>
                    <a:pt x="1153" y="950699"/>
                  </a:lnTo>
                  <a:lnTo>
                    <a:pt x="0" y="999109"/>
                  </a:lnTo>
                  <a:lnTo>
                    <a:pt x="255142" y="999109"/>
                  </a:lnTo>
                  <a:lnTo>
                    <a:pt x="256668" y="951352"/>
                  </a:lnTo>
                  <a:lnTo>
                    <a:pt x="261193" y="904246"/>
                  </a:lnTo>
                  <a:lnTo>
                    <a:pt x="268637" y="857899"/>
                  </a:lnTo>
                  <a:lnTo>
                    <a:pt x="278921" y="812423"/>
                  </a:lnTo>
                  <a:lnTo>
                    <a:pt x="291965" y="767927"/>
                  </a:lnTo>
                  <a:lnTo>
                    <a:pt x="307688" y="724522"/>
                  </a:lnTo>
                  <a:lnTo>
                    <a:pt x="326013" y="682319"/>
                  </a:lnTo>
                  <a:lnTo>
                    <a:pt x="346859" y="641428"/>
                  </a:lnTo>
                  <a:lnTo>
                    <a:pt x="370146" y="601959"/>
                  </a:lnTo>
                  <a:lnTo>
                    <a:pt x="395795" y="564022"/>
                  </a:lnTo>
                  <a:lnTo>
                    <a:pt x="423726" y="527729"/>
                  </a:lnTo>
                  <a:lnTo>
                    <a:pt x="453860" y="493189"/>
                  </a:lnTo>
                  <a:lnTo>
                    <a:pt x="486117" y="460513"/>
                  </a:lnTo>
                  <a:lnTo>
                    <a:pt x="520417" y="429812"/>
                  </a:lnTo>
                  <a:lnTo>
                    <a:pt x="556680" y="401194"/>
                  </a:lnTo>
                  <a:lnTo>
                    <a:pt x="594828" y="374772"/>
                  </a:lnTo>
                  <a:lnTo>
                    <a:pt x="634780" y="350656"/>
                  </a:lnTo>
                  <a:lnTo>
                    <a:pt x="676457" y="328955"/>
                  </a:lnTo>
                  <a:lnTo>
                    <a:pt x="719779" y="309780"/>
                  </a:lnTo>
                  <a:lnTo>
                    <a:pt x="764666" y="293243"/>
                  </a:lnTo>
                  <a:lnTo>
                    <a:pt x="811629" y="279292"/>
                  </a:lnTo>
                  <a:lnTo>
                    <a:pt x="858768" y="268549"/>
                  </a:lnTo>
                  <a:lnTo>
                    <a:pt x="905961" y="260952"/>
                  </a:lnTo>
                  <a:lnTo>
                    <a:pt x="953082" y="256439"/>
                  </a:lnTo>
                  <a:lnTo>
                    <a:pt x="1000009" y="254947"/>
                  </a:lnTo>
                  <a:lnTo>
                    <a:pt x="1046616" y="256416"/>
                  </a:lnTo>
                  <a:lnTo>
                    <a:pt x="1092780" y="260782"/>
                  </a:lnTo>
                  <a:lnTo>
                    <a:pt x="1138376" y="267983"/>
                  </a:lnTo>
                  <a:lnTo>
                    <a:pt x="1183281" y="277959"/>
                  </a:lnTo>
                  <a:lnTo>
                    <a:pt x="1227371" y="290646"/>
                  </a:lnTo>
                  <a:lnTo>
                    <a:pt x="1270521" y="305982"/>
                  </a:lnTo>
                  <a:lnTo>
                    <a:pt x="1312608" y="323906"/>
                  </a:lnTo>
                  <a:lnTo>
                    <a:pt x="1353507" y="344356"/>
                  </a:lnTo>
                  <a:lnTo>
                    <a:pt x="1393094" y="367269"/>
                  </a:lnTo>
                  <a:lnTo>
                    <a:pt x="1431246" y="392583"/>
                  </a:lnTo>
                  <a:lnTo>
                    <a:pt x="1467837" y="420237"/>
                  </a:lnTo>
                  <a:lnTo>
                    <a:pt x="1502745" y="450168"/>
                  </a:lnTo>
                  <a:lnTo>
                    <a:pt x="1535845" y="482314"/>
                  </a:lnTo>
                  <a:lnTo>
                    <a:pt x="1567013" y="516614"/>
                  </a:lnTo>
                  <a:lnTo>
                    <a:pt x="1596124" y="553005"/>
                  </a:lnTo>
                  <a:lnTo>
                    <a:pt x="1623056" y="591426"/>
                  </a:lnTo>
                  <a:lnTo>
                    <a:pt x="1647683" y="631813"/>
                  </a:lnTo>
                  <a:lnTo>
                    <a:pt x="1669882" y="674106"/>
                  </a:lnTo>
                  <a:lnTo>
                    <a:pt x="1689528" y="718242"/>
                  </a:lnTo>
                  <a:lnTo>
                    <a:pt x="1706498" y="764159"/>
                  </a:lnTo>
                  <a:lnTo>
                    <a:pt x="1720449" y="811075"/>
                  </a:lnTo>
                  <a:lnTo>
                    <a:pt x="1731189" y="858167"/>
                  </a:lnTo>
                  <a:lnTo>
                    <a:pt x="1738783" y="905311"/>
                  </a:lnTo>
                  <a:lnTo>
                    <a:pt x="1743292" y="952384"/>
                  </a:lnTo>
                  <a:lnTo>
                    <a:pt x="1744777" y="999261"/>
                  </a:lnTo>
                  <a:lnTo>
                    <a:pt x="1743302" y="1045819"/>
                  </a:lnTo>
                  <a:lnTo>
                    <a:pt x="1738927" y="1091933"/>
                  </a:lnTo>
                  <a:lnTo>
                    <a:pt x="1731714" y="1137480"/>
                  </a:lnTo>
                  <a:lnTo>
                    <a:pt x="1721727" y="1182336"/>
                  </a:lnTo>
                  <a:lnTo>
                    <a:pt x="1709026" y="1226378"/>
                  </a:lnTo>
                  <a:lnTo>
                    <a:pt x="1693674" y="1269480"/>
                  </a:lnTo>
                  <a:lnTo>
                    <a:pt x="1675733" y="1311520"/>
                  </a:lnTo>
                  <a:lnTo>
                    <a:pt x="1655265" y="1352373"/>
                  </a:lnTo>
                  <a:lnTo>
                    <a:pt x="1632331" y="1391916"/>
                  </a:lnTo>
                  <a:lnTo>
                    <a:pt x="1606993" y="1430025"/>
                  </a:lnTo>
                  <a:lnTo>
                    <a:pt x="1579315" y="1466575"/>
                  </a:lnTo>
                  <a:lnTo>
                    <a:pt x="1549357" y="1501444"/>
                  </a:lnTo>
                  <a:lnTo>
                    <a:pt x="1517182" y="1534506"/>
                  </a:lnTo>
                  <a:lnTo>
                    <a:pt x="1482851" y="1565639"/>
                  </a:lnTo>
                  <a:lnTo>
                    <a:pt x="1446427" y="1594718"/>
                  </a:lnTo>
                  <a:lnTo>
                    <a:pt x="1407971" y="1621620"/>
                  </a:lnTo>
                  <a:lnTo>
                    <a:pt x="1367546" y="1646220"/>
                  </a:lnTo>
                  <a:lnTo>
                    <a:pt x="1325214" y="1668395"/>
                  </a:lnTo>
                  <a:lnTo>
                    <a:pt x="1281036" y="1688021"/>
                  </a:lnTo>
                  <a:lnTo>
                    <a:pt x="1235075" y="1704975"/>
                  </a:lnTo>
                  <a:lnTo>
                    <a:pt x="1245869" y="1551178"/>
                  </a:lnTo>
                  <a:lnTo>
                    <a:pt x="938529" y="1868424"/>
                  </a:lnTo>
                  <a:lnTo>
                    <a:pt x="1204976" y="2130806"/>
                  </a:lnTo>
                  <a:lnTo>
                    <a:pt x="1216025" y="1974596"/>
                  </a:lnTo>
                  <a:lnTo>
                    <a:pt x="1262908" y="1963049"/>
                  </a:lnTo>
                  <a:lnTo>
                    <a:pt x="1308803" y="1949389"/>
                  </a:lnTo>
                  <a:lnTo>
                    <a:pt x="1353660" y="1933677"/>
                  </a:lnTo>
                  <a:lnTo>
                    <a:pt x="1397433" y="1915971"/>
                  </a:lnTo>
                  <a:lnTo>
                    <a:pt x="1440074" y="1896330"/>
                  </a:lnTo>
                  <a:lnTo>
                    <a:pt x="1481535" y="1874815"/>
                  </a:lnTo>
                  <a:lnTo>
                    <a:pt x="1521769" y="1851484"/>
                  </a:lnTo>
                  <a:lnTo>
                    <a:pt x="1560726" y="1826398"/>
                  </a:lnTo>
                  <a:lnTo>
                    <a:pt x="1598361" y="1799614"/>
                  </a:lnTo>
                  <a:lnTo>
                    <a:pt x="1634625" y="1771193"/>
                  </a:lnTo>
                  <a:lnTo>
                    <a:pt x="1669471" y="1741195"/>
                  </a:lnTo>
                  <a:lnTo>
                    <a:pt x="1702850" y="1709678"/>
                  </a:lnTo>
                  <a:lnTo>
                    <a:pt x="1734716" y="1676701"/>
                  </a:lnTo>
                  <a:lnTo>
                    <a:pt x="1765020" y="1642325"/>
                  </a:lnTo>
                  <a:lnTo>
                    <a:pt x="1793714" y="1606609"/>
                  </a:lnTo>
                  <a:lnTo>
                    <a:pt x="1820752" y="1569612"/>
                  </a:lnTo>
                  <a:lnTo>
                    <a:pt x="1846085" y="1531393"/>
                  </a:lnTo>
                  <a:lnTo>
                    <a:pt x="1869665" y="1492012"/>
                  </a:lnTo>
                  <a:lnTo>
                    <a:pt x="1891445" y="1451529"/>
                  </a:lnTo>
                  <a:lnTo>
                    <a:pt x="1911377" y="1410002"/>
                  </a:lnTo>
                  <a:lnTo>
                    <a:pt x="1929414" y="1367491"/>
                  </a:lnTo>
                  <a:lnTo>
                    <a:pt x="1945507" y="1324055"/>
                  </a:lnTo>
                  <a:lnTo>
                    <a:pt x="1959610" y="1279755"/>
                  </a:lnTo>
                  <a:lnTo>
                    <a:pt x="1971673" y="1234648"/>
                  </a:lnTo>
                  <a:lnTo>
                    <a:pt x="1981651" y="1188796"/>
                  </a:lnTo>
                  <a:lnTo>
                    <a:pt x="1989494" y="1142256"/>
                  </a:lnTo>
                  <a:lnTo>
                    <a:pt x="1995155" y="1095088"/>
                  </a:lnTo>
                  <a:lnTo>
                    <a:pt x="1998587" y="1047353"/>
                  </a:lnTo>
                  <a:lnTo>
                    <a:pt x="1999741" y="999109"/>
                  </a:lnTo>
                  <a:lnTo>
                    <a:pt x="1998588" y="950699"/>
                  </a:lnTo>
                  <a:lnTo>
                    <a:pt x="1995164" y="902884"/>
                  </a:lnTo>
                  <a:lnTo>
                    <a:pt x="1989521" y="855717"/>
                  </a:lnTo>
                  <a:lnTo>
                    <a:pt x="1981712" y="809248"/>
                  </a:lnTo>
                  <a:lnTo>
                    <a:pt x="1971788" y="763532"/>
                  </a:lnTo>
                  <a:lnTo>
                    <a:pt x="1959803" y="718620"/>
                  </a:lnTo>
                  <a:lnTo>
                    <a:pt x="1945809" y="674564"/>
                  </a:lnTo>
                  <a:lnTo>
                    <a:pt x="1929857" y="631417"/>
                  </a:lnTo>
                  <a:lnTo>
                    <a:pt x="1912002" y="589231"/>
                  </a:lnTo>
                  <a:lnTo>
                    <a:pt x="1892294" y="548059"/>
                  </a:lnTo>
                  <a:lnTo>
                    <a:pt x="1870786" y="507952"/>
                  </a:lnTo>
                  <a:lnTo>
                    <a:pt x="1847531" y="468964"/>
                  </a:lnTo>
                  <a:lnTo>
                    <a:pt x="1822581" y="431145"/>
                  </a:lnTo>
                  <a:lnTo>
                    <a:pt x="1795989" y="394550"/>
                  </a:lnTo>
                  <a:lnTo>
                    <a:pt x="1767806" y="359230"/>
                  </a:lnTo>
                  <a:lnTo>
                    <a:pt x="1738085" y="325237"/>
                  </a:lnTo>
                  <a:lnTo>
                    <a:pt x="1706880" y="292623"/>
                  </a:lnTo>
                  <a:lnTo>
                    <a:pt x="1674241" y="261442"/>
                  </a:lnTo>
                  <a:lnTo>
                    <a:pt x="1640221" y="231745"/>
                  </a:lnTo>
                  <a:lnTo>
                    <a:pt x="1604873" y="203585"/>
                  </a:lnTo>
                  <a:lnTo>
                    <a:pt x="1568249" y="177014"/>
                  </a:lnTo>
                  <a:lnTo>
                    <a:pt x="1530402" y="152084"/>
                  </a:lnTo>
                  <a:lnTo>
                    <a:pt x="1491384" y="128848"/>
                  </a:lnTo>
                  <a:lnTo>
                    <a:pt x="1451247" y="107358"/>
                  </a:lnTo>
                  <a:lnTo>
                    <a:pt x="1410043" y="87666"/>
                  </a:lnTo>
                  <a:lnTo>
                    <a:pt x="1367826" y="69825"/>
                  </a:lnTo>
                  <a:lnTo>
                    <a:pt x="1324647" y="53887"/>
                  </a:lnTo>
                  <a:lnTo>
                    <a:pt x="1280559" y="39904"/>
                  </a:lnTo>
                  <a:lnTo>
                    <a:pt x="1235614" y="27929"/>
                  </a:lnTo>
                  <a:lnTo>
                    <a:pt x="1189864" y="18014"/>
                  </a:lnTo>
                  <a:lnTo>
                    <a:pt x="1143363" y="10211"/>
                  </a:lnTo>
                  <a:lnTo>
                    <a:pt x="1096162" y="4573"/>
                  </a:lnTo>
                  <a:lnTo>
                    <a:pt x="1048314" y="1152"/>
                  </a:lnTo>
                  <a:lnTo>
                    <a:pt x="999871" y="0"/>
                  </a:lnTo>
                  <a:close/>
                </a:path>
              </a:pathLst>
            </a:custGeom>
            <a:solidFill>
              <a:srgbClr val="AD5A2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237860" y="2813177"/>
              <a:ext cx="2000250" cy="2131060"/>
            </a:xfrm>
            <a:custGeom>
              <a:avLst/>
              <a:gdLst/>
              <a:ahLst/>
              <a:cxnLst/>
              <a:rect l="l" t="t" r="r" b="b"/>
              <a:pathLst>
                <a:path w="2000250" h="2131060">
                  <a:moveTo>
                    <a:pt x="0" y="999109"/>
                  </a:moveTo>
                  <a:lnTo>
                    <a:pt x="1153" y="950699"/>
                  </a:lnTo>
                  <a:lnTo>
                    <a:pt x="4577" y="902884"/>
                  </a:lnTo>
                  <a:lnTo>
                    <a:pt x="10220" y="855717"/>
                  </a:lnTo>
                  <a:lnTo>
                    <a:pt x="18029" y="809248"/>
                  </a:lnTo>
                  <a:lnTo>
                    <a:pt x="27953" y="763532"/>
                  </a:lnTo>
                  <a:lnTo>
                    <a:pt x="39938" y="718620"/>
                  </a:lnTo>
                  <a:lnTo>
                    <a:pt x="53932" y="674564"/>
                  </a:lnTo>
                  <a:lnTo>
                    <a:pt x="69884" y="631417"/>
                  </a:lnTo>
                  <a:lnTo>
                    <a:pt x="87739" y="589231"/>
                  </a:lnTo>
                  <a:lnTo>
                    <a:pt x="107447" y="548059"/>
                  </a:lnTo>
                  <a:lnTo>
                    <a:pt x="128955" y="507952"/>
                  </a:lnTo>
                  <a:lnTo>
                    <a:pt x="152210" y="468964"/>
                  </a:lnTo>
                  <a:lnTo>
                    <a:pt x="177160" y="431145"/>
                  </a:lnTo>
                  <a:lnTo>
                    <a:pt x="203752" y="394550"/>
                  </a:lnTo>
                  <a:lnTo>
                    <a:pt x="231935" y="359230"/>
                  </a:lnTo>
                  <a:lnTo>
                    <a:pt x="261656" y="325237"/>
                  </a:lnTo>
                  <a:lnTo>
                    <a:pt x="292862" y="292623"/>
                  </a:lnTo>
                  <a:lnTo>
                    <a:pt x="325500" y="261442"/>
                  </a:lnTo>
                  <a:lnTo>
                    <a:pt x="359520" y="231745"/>
                  </a:lnTo>
                  <a:lnTo>
                    <a:pt x="394868" y="203585"/>
                  </a:lnTo>
                  <a:lnTo>
                    <a:pt x="431492" y="177014"/>
                  </a:lnTo>
                  <a:lnTo>
                    <a:pt x="469339" y="152084"/>
                  </a:lnTo>
                  <a:lnTo>
                    <a:pt x="508357" y="128848"/>
                  </a:lnTo>
                  <a:lnTo>
                    <a:pt x="548494" y="107358"/>
                  </a:lnTo>
                  <a:lnTo>
                    <a:pt x="589698" y="87666"/>
                  </a:lnTo>
                  <a:lnTo>
                    <a:pt x="631915" y="69825"/>
                  </a:lnTo>
                  <a:lnTo>
                    <a:pt x="675094" y="53887"/>
                  </a:lnTo>
                  <a:lnTo>
                    <a:pt x="719182" y="39904"/>
                  </a:lnTo>
                  <a:lnTo>
                    <a:pt x="764127" y="27929"/>
                  </a:lnTo>
                  <a:lnTo>
                    <a:pt x="809877" y="18014"/>
                  </a:lnTo>
                  <a:lnTo>
                    <a:pt x="856378" y="10211"/>
                  </a:lnTo>
                  <a:lnTo>
                    <a:pt x="903579" y="4573"/>
                  </a:lnTo>
                  <a:lnTo>
                    <a:pt x="951427" y="1152"/>
                  </a:lnTo>
                  <a:lnTo>
                    <a:pt x="999871" y="0"/>
                  </a:lnTo>
                  <a:lnTo>
                    <a:pt x="1048314" y="1152"/>
                  </a:lnTo>
                  <a:lnTo>
                    <a:pt x="1096162" y="4573"/>
                  </a:lnTo>
                  <a:lnTo>
                    <a:pt x="1143363" y="10211"/>
                  </a:lnTo>
                  <a:lnTo>
                    <a:pt x="1189864" y="18014"/>
                  </a:lnTo>
                  <a:lnTo>
                    <a:pt x="1235614" y="27929"/>
                  </a:lnTo>
                  <a:lnTo>
                    <a:pt x="1280559" y="39904"/>
                  </a:lnTo>
                  <a:lnTo>
                    <a:pt x="1324647" y="53887"/>
                  </a:lnTo>
                  <a:lnTo>
                    <a:pt x="1367826" y="69825"/>
                  </a:lnTo>
                  <a:lnTo>
                    <a:pt x="1410043" y="87666"/>
                  </a:lnTo>
                  <a:lnTo>
                    <a:pt x="1451247" y="107358"/>
                  </a:lnTo>
                  <a:lnTo>
                    <a:pt x="1491384" y="128848"/>
                  </a:lnTo>
                  <a:lnTo>
                    <a:pt x="1530402" y="152084"/>
                  </a:lnTo>
                  <a:lnTo>
                    <a:pt x="1568249" y="177014"/>
                  </a:lnTo>
                  <a:lnTo>
                    <a:pt x="1604873" y="203585"/>
                  </a:lnTo>
                  <a:lnTo>
                    <a:pt x="1640221" y="231745"/>
                  </a:lnTo>
                  <a:lnTo>
                    <a:pt x="1674241" y="261442"/>
                  </a:lnTo>
                  <a:lnTo>
                    <a:pt x="1706880" y="292623"/>
                  </a:lnTo>
                  <a:lnTo>
                    <a:pt x="1738085" y="325237"/>
                  </a:lnTo>
                  <a:lnTo>
                    <a:pt x="1767806" y="359230"/>
                  </a:lnTo>
                  <a:lnTo>
                    <a:pt x="1795989" y="394550"/>
                  </a:lnTo>
                  <a:lnTo>
                    <a:pt x="1822581" y="431145"/>
                  </a:lnTo>
                  <a:lnTo>
                    <a:pt x="1847531" y="468964"/>
                  </a:lnTo>
                  <a:lnTo>
                    <a:pt x="1870786" y="507952"/>
                  </a:lnTo>
                  <a:lnTo>
                    <a:pt x="1892294" y="548059"/>
                  </a:lnTo>
                  <a:lnTo>
                    <a:pt x="1912002" y="589231"/>
                  </a:lnTo>
                  <a:lnTo>
                    <a:pt x="1929857" y="631417"/>
                  </a:lnTo>
                  <a:lnTo>
                    <a:pt x="1945809" y="674564"/>
                  </a:lnTo>
                  <a:lnTo>
                    <a:pt x="1959803" y="718620"/>
                  </a:lnTo>
                  <a:lnTo>
                    <a:pt x="1971788" y="763532"/>
                  </a:lnTo>
                  <a:lnTo>
                    <a:pt x="1981712" y="809248"/>
                  </a:lnTo>
                  <a:lnTo>
                    <a:pt x="1989521" y="855717"/>
                  </a:lnTo>
                  <a:lnTo>
                    <a:pt x="1995164" y="902884"/>
                  </a:lnTo>
                  <a:lnTo>
                    <a:pt x="1998588" y="950699"/>
                  </a:lnTo>
                  <a:lnTo>
                    <a:pt x="1999741" y="999109"/>
                  </a:lnTo>
                  <a:lnTo>
                    <a:pt x="1998587" y="1047353"/>
                  </a:lnTo>
                  <a:lnTo>
                    <a:pt x="1995155" y="1095088"/>
                  </a:lnTo>
                  <a:lnTo>
                    <a:pt x="1989494" y="1142256"/>
                  </a:lnTo>
                  <a:lnTo>
                    <a:pt x="1981651" y="1188796"/>
                  </a:lnTo>
                  <a:lnTo>
                    <a:pt x="1971673" y="1234648"/>
                  </a:lnTo>
                  <a:lnTo>
                    <a:pt x="1959610" y="1279755"/>
                  </a:lnTo>
                  <a:lnTo>
                    <a:pt x="1945507" y="1324055"/>
                  </a:lnTo>
                  <a:lnTo>
                    <a:pt x="1929414" y="1367491"/>
                  </a:lnTo>
                  <a:lnTo>
                    <a:pt x="1911377" y="1410002"/>
                  </a:lnTo>
                  <a:lnTo>
                    <a:pt x="1891445" y="1451529"/>
                  </a:lnTo>
                  <a:lnTo>
                    <a:pt x="1869665" y="1492012"/>
                  </a:lnTo>
                  <a:lnTo>
                    <a:pt x="1846085" y="1531393"/>
                  </a:lnTo>
                  <a:lnTo>
                    <a:pt x="1820752" y="1569612"/>
                  </a:lnTo>
                  <a:lnTo>
                    <a:pt x="1793714" y="1606609"/>
                  </a:lnTo>
                  <a:lnTo>
                    <a:pt x="1765020" y="1642325"/>
                  </a:lnTo>
                  <a:lnTo>
                    <a:pt x="1734716" y="1676701"/>
                  </a:lnTo>
                  <a:lnTo>
                    <a:pt x="1702850" y="1709678"/>
                  </a:lnTo>
                  <a:lnTo>
                    <a:pt x="1669471" y="1741195"/>
                  </a:lnTo>
                  <a:lnTo>
                    <a:pt x="1634625" y="1771193"/>
                  </a:lnTo>
                  <a:lnTo>
                    <a:pt x="1598361" y="1799614"/>
                  </a:lnTo>
                  <a:lnTo>
                    <a:pt x="1560726" y="1826398"/>
                  </a:lnTo>
                  <a:lnTo>
                    <a:pt x="1521769" y="1851484"/>
                  </a:lnTo>
                  <a:lnTo>
                    <a:pt x="1481535" y="1874815"/>
                  </a:lnTo>
                  <a:lnTo>
                    <a:pt x="1440074" y="1896330"/>
                  </a:lnTo>
                  <a:lnTo>
                    <a:pt x="1397433" y="1915971"/>
                  </a:lnTo>
                  <a:lnTo>
                    <a:pt x="1353660" y="1933677"/>
                  </a:lnTo>
                  <a:lnTo>
                    <a:pt x="1308803" y="1949389"/>
                  </a:lnTo>
                  <a:lnTo>
                    <a:pt x="1262908" y="1963049"/>
                  </a:lnTo>
                  <a:lnTo>
                    <a:pt x="1216025" y="1974596"/>
                  </a:lnTo>
                  <a:lnTo>
                    <a:pt x="1204976" y="2130806"/>
                  </a:lnTo>
                  <a:lnTo>
                    <a:pt x="938529" y="1868424"/>
                  </a:lnTo>
                  <a:lnTo>
                    <a:pt x="1245869" y="1551178"/>
                  </a:lnTo>
                  <a:lnTo>
                    <a:pt x="1235075" y="1704975"/>
                  </a:lnTo>
                  <a:lnTo>
                    <a:pt x="1281036" y="1688021"/>
                  </a:lnTo>
                  <a:lnTo>
                    <a:pt x="1325214" y="1668395"/>
                  </a:lnTo>
                  <a:lnTo>
                    <a:pt x="1367546" y="1646220"/>
                  </a:lnTo>
                  <a:lnTo>
                    <a:pt x="1407971" y="1621620"/>
                  </a:lnTo>
                  <a:lnTo>
                    <a:pt x="1446427" y="1594718"/>
                  </a:lnTo>
                  <a:lnTo>
                    <a:pt x="1482851" y="1565639"/>
                  </a:lnTo>
                  <a:lnTo>
                    <a:pt x="1517182" y="1534506"/>
                  </a:lnTo>
                  <a:lnTo>
                    <a:pt x="1549357" y="1501444"/>
                  </a:lnTo>
                  <a:lnTo>
                    <a:pt x="1579315" y="1466575"/>
                  </a:lnTo>
                  <a:lnTo>
                    <a:pt x="1606993" y="1430025"/>
                  </a:lnTo>
                  <a:lnTo>
                    <a:pt x="1632331" y="1391916"/>
                  </a:lnTo>
                  <a:lnTo>
                    <a:pt x="1655265" y="1352373"/>
                  </a:lnTo>
                  <a:lnTo>
                    <a:pt x="1675733" y="1311520"/>
                  </a:lnTo>
                  <a:lnTo>
                    <a:pt x="1693674" y="1269480"/>
                  </a:lnTo>
                  <a:lnTo>
                    <a:pt x="1709026" y="1226378"/>
                  </a:lnTo>
                  <a:lnTo>
                    <a:pt x="1721727" y="1182336"/>
                  </a:lnTo>
                  <a:lnTo>
                    <a:pt x="1731714" y="1137480"/>
                  </a:lnTo>
                  <a:lnTo>
                    <a:pt x="1738927" y="1091933"/>
                  </a:lnTo>
                  <a:lnTo>
                    <a:pt x="1743302" y="1045819"/>
                  </a:lnTo>
                  <a:lnTo>
                    <a:pt x="1744777" y="999261"/>
                  </a:lnTo>
                  <a:lnTo>
                    <a:pt x="1743292" y="952384"/>
                  </a:lnTo>
                  <a:lnTo>
                    <a:pt x="1738783" y="905311"/>
                  </a:lnTo>
                  <a:lnTo>
                    <a:pt x="1731189" y="858167"/>
                  </a:lnTo>
                  <a:lnTo>
                    <a:pt x="1720449" y="811075"/>
                  </a:lnTo>
                  <a:lnTo>
                    <a:pt x="1706498" y="764159"/>
                  </a:lnTo>
                  <a:lnTo>
                    <a:pt x="1689528" y="718242"/>
                  </a:lnTo>
                  <a:lnTo>
                    <a:pt x="1669882" y="674106"/>
                  </a:lnTo>
                  <a:lnTo>
                    <a:pt x="1647683" y="631813"/>
                  </a:lnTo>
                  <a:lnTo>
                    <a:pt x="1623056" y="591426"/>
                  </a:lnTo>
                  <a:lnTo>
                    <a:pt x="1596124" y="553005"/>
                  </a:lnTo>
                  <a:lnTo>
                    <a:pt x="1567013" y="516614"/>
                  </a:lnTo>
                  <a:lnTo>
                    <a:pt x="1535845" y="482314"/>
                  </a:lnTo>
                  <a:lnTo>
                    <a:pt x="1502745" y="450168"/>
                  </a:lnTo>
                  <a:lnTo>
                    <a:pt x="1467837" y="420237"/>
                  </a:lnTo>
                  <a:lnTo>
                    <a:pt x="1431246" y="392583"/>
                  </a:lnTo>
                  <a:lnTo>
                    <a:pt x="1393094" y="367269"/>
                  </a:lnTo>
                  <a:lnTo>
                    <a:pt x="1353507" y="344356"/>
                  </a:lnTo>
                  <a:lnTo>
                    <a:pt x="1312608" y="323906"/>
                  </a:lnTo>
                  <a:lnTo>
                    <a:pt x="1270521" y="305982"/>
                  </a:lnTo>
                  <a:lnTo>
                    <a:pt x="1227371" y="290646"/>
                  </a:lnTo>
                  <a:lnTo>
                    <a:pt x="1183281" y="277959"/>
                  </a:lnTo>
                  <a:lnTo>
                    <a:pt x="1138376" y="267983"/>
                  </a:lnTo>
                  <a:lnTo>
                    <a:pt x="1092780" y="260782"/>
                  </a:lnTo>
                  <a:lnTo>
                    <a:pt x="1046616" y="256416"/>
                  </a:lnTo>
                  <a:lnTo>
                    <a:pt x="1000009" y="254947"/>
                  </a:lnTo>
                  <a:lnTo>
                    <a:pt x="953082" y="256439"/>
                  </a:lnTo>
                  <a:lnTo>
                    <a:pt x="905961" y="260952"/>
                  </a:lnTo>
                  <a:lnTo>
                    <a:pt x="858768" y="268549"/>
                  </a:lnTo>
                  <a:lnTo>
                    <a:pt x="811629" y="279292"/>
                  </a:lnTo>
                  <a:lnTo>
                    <a:pt x="764666" y="293243"/>
                  </a:lnTo>
                  <a:lnTo>
                    <a:pt x="719779" y="309780"/>
                  </a:lnTo>
                  <a:lnTo>
                    <a:pt x="676457" y="328955"/>
                  </a:lnTo>
                  <a:lnTo>
                    <a:pt x="634780" y="350656"/>
                  </a:lnTo>
                  <a:lnTo>
                    <a:pt x="594828" y="374772"/>
                  </a:lnTo>
                  <a:lnTo>
                    <a:pt x="556680" y="401194"/>
                  </a:lnTo>
                  <a:lnTo>
                    <a:pt x="520417" y="429812"/>
                  </a:lnTo>
                  <a:lnTo>
                    <a:pt x="486117" y="460513"/>
                  </a:lnTo>
                  <a:lnTo>
                    <a:pt x="453860" y="493189"/>
                  </a:lnTo>
                  <a:lnTo>
                    <a:pt x="423726" y="527729"/>
                  </a:lnTo>
                  <a:lnTo>
                    <a:pt x="395795" y="564022"/>
                  </a:lnTo>
                  <a:lnTo>
                    <a:pt x="370146" y="601959"/>
                  </a:lnTo>
                  <a:lnTo>
                    <a:pt x="346859" y="641428"/>
                  </a:lnTo>
                  <a:lnTo>
                    <a:pt x="326013" y="682319"/>
                  </a:lnTo>
                  <a:lnTo>
                    <a:pt x="307688" y="724522"/>
                  </a:lnTo>
                  <a:lnTo>
                    <a:pt x="291965" y="767927"/>
                  </a:lnTo>
                  <a:lnTo>
                    <a:pt x="278921" y="812423"/>
                  </a:lnTo>
                  <a:lnTo>
                    <a:pt x="268637" y="857899"/>
                  </a:lnTo>
                  <a:lnTo>
                    <a:pt x="261193" y="904246"/>
                  </a:lnTo>
                  <a:lnTo>
                    <a:pt x="256668" y="951352"/>
                  </a:lnTo>
                  <a:lnTo>
                    <a:pt x="255142" y="999109"/>
                  </a:lnTo>
                  <a:lnTo>
                    <a:pt x="0" y="99910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spc="-10" dirty="0"/>
              <a:t>C’est</a:t>
            </a:r>
            <a:r>
              <a:rPr sz="1600" spc="-35" dirty="0"/>
              <a:t> </a:t>
            </a:r>
            <a:r>
              <a:rPr sz="1600" dirty="0"/>
              <a:t>quoi</a:t>
            </a:r>
            <a:r>
              <a:rPr sz="1600" spc="-25" dirty="0"/>
              <a:t> </a:t>
            </a:r>
            <a:r>
              <a:rPr sz="1600" dirty="0"/>
              <a:t>une</a:t>
            </a:r>
            <a:r>
              <a:rPr sz="1600" spc="-30" dirty="0"/>
              <a:t> </a:t>
            </a:r>
            <a:r>
              <a:rPr sz="1600" dirty="0"/>
              <a:t>BD</a:t>
            </a:r>
            <a:r>
              <a:rPr sz="1600" spc="-25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8" name="object 8"/>
          <p:cNvSpPr txBox="1"/>
          <p:nvPr/>
        </p:nvSpPr>
        <p:spPr>
          <a:xfrm>
            <a:off x="798982" y="1599387"/>
            <a:ext cx="10589260" cy="1083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SGBD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Relationnels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…..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Mais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SGBDR</a:t>
            </a:r>
            <a:r>
              <a:rPr kumimoji="0" sz="1600" b="1" i="0" u="none" strike="noStrike" kern="0" cap="none" spc="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ont</a:t>
            </a:r>
            <a:r>
              <a:rPr kumimoji="0" sz="1600" b="0" i="0" u="none" strike="noStrike" kern="0" cap="none" spc="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montré</a:t>
            </a:r>
            <a:r>
              <a:rPr kumimoji="0" sz="1600" b="0" i="0" u="none" strike="noStrike" kern="0" cap="none" spc="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leur</a:t>
            </a:r>
            <a:r>
              <a:rPr kumimoji="0" sz="1600" b="0" i="0" u="none" strike="noStrike" kern="0" cap="none" spc="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limite</a:t>
            </a:r>
            <a:r>
              <a:rPr kumimoji="0" sz="1600" b="0" i="0" u="none" strike="noStrike" kern="0" cap="none" spc="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face</a:t>
            </a:r>
            <a:r>
              <a:rPr kumimoji="0" sz="1600" b="0" i="0" u="none" strike="noStrike" kern="0" cap="none" spc="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aux</a:t>
            </a:r>
            <a:r>
              <a:rPr kumimoji="0" sz="1600" b="1" i="0" u="none" strike="noStrike" kern="0" cap="none" spc="3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3V</a:t>
            </a:r>
            <a:r>
              <a:rPr kumimoji="0" sz="1600" b="1" i="0" u="none" strike="noStrike" kern="0" cap="none" spc="3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Volume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1" i="0" u="none" strike="noStrike" kern="0" cap="none" spc="4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Velocity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1" i="0" u="none" strike="noStrike" kern="0" cap="none" spc="3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1" u="none" strike="noStrike" kern="0" cap="none" spc="-1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Veracity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r>
              <a:rPr kumimoji="0" sz="1600" b="1" i="0" u="none" strike="noStrike" kern="0" cap="none" spc="2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600" b="1" i="0" u="none" strike="noStrike" kern="0" cap="none" spc="4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caractérisent</a:t>
            </a:r>
            <a:r>
              <a:rPr kumimoji="0" sz="1600" b="1" i="0" u="none" strike="noStrike" kern="0" cap="none" spc="2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l’ére</a:t>
            </a:r>
            <a:r>
              <a:rPr kumimoji="0" sz="1600" b="1" i="0" u="none" strike="noStrike" kern="0" cap="none" spc="3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actuelle</a:t>
            </a:r>
            <a:r>
              <a:rPr kumimoji="0" sz="1600" b="1" i="0" u="none" strike="noStrike" kern="0" cap="none" spc="3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1" i="0" u="none" strike="noStrike" kern="0" cap="none" spc="3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données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Big</a:t>
            </a:r>
            <a:r>
              <a:rPr kumimoji="0" sz="1600" b="1" i="0" u="none" strike="noStrike" kern="0" cap="none" spc="-25" normalizeH="0" baseline="0" noProof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Data)</a:t>
            </a:r>
            <a:r>
              <a:rPr kumimoji="0" lang="fr-FR" sz="1600" b="1" i="0" u="none" strike="noStrike" kern="0" cap="none" spc="-10" normalizeH="0" baseline="0" noProof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4952" y="3506851"/>
            <a:ext cx="1306830" cy="59499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lvl="0" indent="0" algn="ctr" defTabSz="914400" eaLnBrk="1" fontAlgn="auto" latinLnBrk="0" hangingPunct="1">
              <a:lnSpc>
                <a:spcPct val="916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relationnel,</a:t>
            </a: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étant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fortement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transactionnel,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peut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lutter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efficacement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volumes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très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importants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88509" y="4134358"/>
            <a:ext cx="2011045" cy="2011045"/>
            <a:chOff x="4588509" y="4134358"/>
            <a:chExt cx="2011045" cy="2011045"/>
          </a:xfrm>
        </p:grpSpPr>
        <p:sp>
          <p:nvSpPr>
            <p:cNvPr id="11" name="object 11"/>
            <p:cNvSpPr/>
            <p:nvPr/>
          </p:nvSpPr>
          <p:spPr>
            <a:xfrm>
              <a:off x="4594859" y="4140708"/>
              <a:ext cx="1998345" cy="1998345"/>
            </a:xfrm>
            <a:custGeom>
              <a:avLst/>
              <a:gdLst/>
              <a:ahLst/>
              <a:cxnLst/>
              <a:rect l="l" t="t" r="r" b="b"/>
              <a:pathLst>
                <a:path w="1998345" h="1998345">
                  <a:moveTo>
                    <a:pt x="998981" y="0"/>
                  </a:moveTo>
                  <a:lnTo>
                    <a:pt x="950583" y="1152"/>
                  </a:lnTo>
                  <a:lnTo>
                    <a:pt x="902778" y="4573"/>
                  </a:lnTo>
                  <a:lnTo>
                    <a:pt x="855620" y="10211"/>
                  </a:lnTo>
                  <a:lnTo>
                    <a:pt x="809161" y="18014"/>
                  </a:lnTo>
                  <a:lnTo>
                    <a:pt x="763453" y="27929"/>
                  </a:lnTo>
                  <a:lnTo>
                    <a:pt x="718549" y="39904"/>
                  </a:lnTo>
                  <a:lnTo>
                    <a:pt x="674500" y="53886"/>
                  </a:lnTo>
                  <a:lnTo>
                    <a:pt x="631360" y="69824"/>
                  </a:lnTo>
                  <a:lnTo>
                    <a:pt x="589181" y="87664"/>
                  </a:lnTo>
                  <a:lnTo>
                    <a:pt x="548014" y="107355"/>
                  </a:lnTo>
                  <a:lnTo>
                    <a:pt x="507913" y="128844"/>
                  </a:lnTo>
                  <a:lnTo>
                    <a:pt x="468929" y="152079"/>
                  </a:lnTo>
                  <a:lnTo>
                    <a:pt x="431115" y="177007"/>
                  </a:lnTo>
                  <a:lnTo>
                    <a:pt x="394524" y="203576"/>
                  </a:lnTo>
                  <a:lnTo>
                    <a:pt x="359207" y="231734"/>
                  </a:lnTo>
                  <a:lnTo>
                    <a:pt x="325218" y="261429"/>
                  </a:lnTo>
                  <a:lnTo>
                    <a:pt x="292608" y="292608"/>
                  </a:lnTo>
                  <a:lnTo>
                    <a:pt x="261429" y="325218"/>
                  </a:lnTo>
                  <a:lnTo>
                    <a:pt x="231734" y="359207"/>
                  </a:lnTo>
                  <a:lnTo>
                    <a:pt x="203576" y="394524"/>
                  </a:lnTo>
                  <a:lnTo>
                    <a:pt x="177007" y="431115"/>
                  </a:lnTo>
                  <a:lnTo>
                    <a:pt x="152079" y="468929"/>
                  </a:lnTo>
                  <a:lnTo>
                    <a:pt x="128844" y="507913"/>
                  </a:lnTo>
                  <a:lnTo>
                    <a:pt x="107355" y="548014"/>
                  </a:lnTo>
                  <a:lnTo>
                    <a:pt x="87664" y="589181"/>
                  </a:lnTo>
                  <a:lnTo>
                    <a:pt x="69824" y="631360"/>
                  </a:lnTo>
                  <a:lnTo>
                    <a:pt x="53886" y="674500"/>
                  </a:lnTo>
                  <a:lnTo>
                    <a:pt x="39904" y="718549"/>
                  </a:lnTo>
                  <a:lnTo>
                    <a:pt x="27929" y="763453"/>
                  </a:lnTo>
                  <a:lnTo>
                    <a:pt x="18014" y="809161"/>
                  </a:lnTo>
                  <a:lnTo>
                    <a:pt x="10211" y="855620"/>
                  </a:lnTo>
                  <a:lnTo>
                    <a:pt x="4573" y="902778"/>
                  </a:lnTo>
                  <a:lnTo>
                    <a:pt x="1152" y="950583"/>
                  </a:lnTo>
                  <a:lnTo>
                    <a:pt x="0" y="998982"/>
                  </a:lnTo>
                  <a:lnTo>
                    <a:pt x="1152" y="1047383"/>
                  </a:lnTo>
                  <a:lnTo>
                    <a:pt x="4573" y="1095191"/>
                  </a:lnTo>
                  <a:lnTo>
                    <a:pt x="10211" y="1142351"/>
                  </a:lnTo>
                  <a:lnTo>
                    <a:pt x="18014" y="1188812"/>
                  </a:lnTo>
                  <a:lnTo>
                    <a:pt x="27929" y="1234522"/>
                  </a:lnTo>
                  <a:lnTo>
                    <a:pt x="39904" y="1279428"/>
                  </a:lnTo>
                  <a:lnTo>
                    <a:pt x="53886" y="1323477"/>
                  </a:lnTo>
                  <a:lnTo>
                    <a:pt x="69824" y="1366618"/>
                  </a:lnTo>
                  <a:lnTo>
                    <a:pt x="87664" y="1408799"/>
                  </a:lnTo>
                  <a:lnTo>
                    <a:pt x="107355" y="1449966"/>
                  </a:lnTo>
                  <a:lnTo>
                    <a:pt x="128844" y="1490067"/>
                  </a:lnTo>
                  <a:lnTo>
                    <a:pt x="152079" y="1529051"/>
                  </a:lnTo>
                  <a:lnTo>
                    <a:pt x="177007" y="1566864"/>
                  </a:lnTo>
                  <a:lnTo>
                    <a:pt x="203576" y="1603455"/>
                  </a:lnTo>
                  <a:lnTo>
                    <a:pt x="231734" y="1638771"/>
                  </a:lnTo>
                  <a:lnTo>
                    <a:pt x="261429" y="1672760"/>
                  </a:lnTo>
                  <a:lnTo>
                    <a:pt x="292607" y="1705370"/>
                  </a:lnTo>
                  <a:lnTo>
                    <a:pt x="325218" y="1736547"/>
                  </a:lnTo>
                  <a:lnTo>
                    <a:pt x="359207" y="1766241"/>
                  </a:lnTo>
                  <a:lnTo>
                    <a:pt x="394524" y="1794398"/>
                  </a:lnTo>
                  <a:lnTo>
                    <a:pt x="431115" y="1820966"/>
                  </a:lnTo>
                  <a:lnTo>
                    <a:pt x="468929" y="1845893"/>
                  </a:lnTo>
                  <a:lnTo>
                    <a:pt x="507913" y="1869127"/>
                  </a:lnTo>
                  <a:lnTo>
                    <a:pt x="548014" y="1890615"/>
                  </a:lnTo>
                  <a:lnTo>
                    <a:pt x="589181" y="1910305"/>
                  </a:lnTo>
                  <a:lnTo>
                    <a:pt x="631360" y="1928144"/>
                  </a:lnTo>
                  <a:lnTo>
                    <a:pt x="674500" y="1944081"/>
                  </a:lnTo>
                  <a:lnTo>
                    <a:pt x="718549" y="1958062"/>
                  </a:lnTo>
                  <a:lnTo>
                    <a:pt x="763453" y="1970036"/>
                  </a:lnTo>
                  <a:lnTo>
                    <a:pt x="809161" y="1979950"/>
                  </a:lnTo>
                  <a:lnTo>
                    <a:pt x="855620" y="1987753"/>
                  </a:lnTo>
                  <a:lnTo>
                    <a:pt x="902778" y="1993390"/>
                  </a:lnTo>
                  <a:lnTo>
                    <a:pt x="950583" y="1996812"/>
                  </a:lnTo>
                  <a:lnTo>
                    <a:pt x="998981" y="1997964"/>
                  </a:lnTo>
                  <a:lnTo>
                    <a:pt x="1047380" y="1996812"/>
                  </a:lnTo>
                  <a:lnTo>
                    <a:pt x="1095185" y="1993390"/>
                  </a:lnTo>
                  <a:lnTo>
                    <a:pt x="1142343" y="1987753"/>
                  </a:lnTo>
                  <a:lnTo>
                    <a:pt x="1188802" y="1979950"/>
                  </a:lnTo>
                  <a:lnTo>
                    <a:pt x="1234510" y="1970036"/>
                  </a:lnTo>
                  <a:lnTo>
                    <a:pt x="1279414" y="1958062"/>
                  </a:lnTo>
                  <a:lnTo>
                    <a:pt x="1323463" y="1944081"/>
                  </a:lnTo>
                  <a:lnTo>
                    <a:pt x="1366603" y="1928144"/>
                  </a:lnTo>
                  <a:lnTo>
                    <a:pt x="1408782" y="1910305"/>
                  </a:lnTo>
                  <a:lnTo>
                    <a:pt x="1449949" y="1890615"/>
                  </a:lnTo>
                  <a:lnTo>
                    <a:pt x="1490050" y="1869127"/>
                  </a:lnTo>
                  <a:lnTo>
                    <a:pt x="1529034" y="1845893"/>
                  </a:lnTo>
                  <a:lnTo>
                    <a:pt x="1566848" y="1820966"/>
                  </a:lnTo>
                  <a:lnTo>
                    <a:pt x="1603439" y="1794398"/>
                  </a:lnTo>
                  <a:lnTo>
                    <a:pt x="1638756" y="1766241"/>
                  </a:lnTo>
                  <a:lnTo>
                    <a:pt x="1672745" y="1736547"/>
                  </a:lnTo>
                  <a:lnTo>
                    <a:pt x="1705356" y="1705370"/>
                  </a:lnTo>
                  <a:lnTo>
                    <a:pt x="1736534" y="1672760"/>
                  </a:lnTo>
                  <a:lnTo>
                    <a:pt x="1766229" y="1638771"/>
                  </a:lnTo>
                  <a:lnTo>
                    <a:pt x="1794387" y="1603455"/>
                  </a:lnTo>
                  <a:lnTo>
                    <a:pt x="1820956" y="1566864"/>
                  </a:lnTo>
                  <a:lnTo>
                    <a:pt x="1845884" y="1529051"/>
                  </a:lnTo>
                  <a:lnTo>
                    <a:pt x="1869119" y="1490067"/>
                  </a:lnTo>
                  <a:lnTo>
                    <a:pt x="1890608" y="1449966"/>
                  </a:lnTo>
                  <a:lnTo>
                    <a:pt x="1910299" y="1408799"/>
                  </a:lnTo>
                  <a:lnTo>
                    <a:pt x="1928139" y="1366618"/>
                  </a:lnTo>
                  <a:lnTo>
                    <a:pt x="1944077" y="1323477"/>
                  </a:lnTo>
                  <a:lnTo>
                    <a:pt x="1958059" y="1279428"/>
                  </a:lnTo>
                  <a:lnTo>
                    <a:pt x="1970034" y="1234522"/>
                  </a:lnTo>
                  <a:lnTo>
                    <a:pt x="1979949" y="1188812"/>
                  </a:lnTo>
                  <a:lnTo>
                    <a:pt x="1987752" y="1142351"/>
                  </a:lnTo>
                  <a:lnTo>
                    <a:pt x="1993390" y="1095191"/>
                  </a:lnTo>
                  <a:lnTo>
                    <a:pt x="1996811" y="1047383"/>
                  </a:lnTo>
                  <a:lnTo>
                    <a:pt x="1997964" y="998982"/>
                  </a:lnTo>
                  <a:lnTo>
                    <a:pt x="1743455" y="998982"/>
                  </a:lnTo>
                  <a:lnTo>
                    <a:pt x="1741830" y="1048159"/>
                  </a:lnTo>
                  <a:lnTo>
                    <a:pt x="1736996" y="1096854"/>
                  </a:lnTo>
                  <a:lnTo>
                    <a:pt x="1729011" y="1144920"/>
                  </a:lnTo>
                  <a:lnTo>
                    <a:pt x="1717938" y="1192214"/>
                  </a:lnTo>
                  <a:lnTo>
                    <a:pt x="1703836" y="1238590"/>
                  </a:lnTo>
                  <a:lnTo>
                    <a:pt x="1686766" y="1283904"/>
                  </a:lnTo>
                  <a:lnTo>
                    <a:pt x="1666788" y="1328012"/>
                  </a:lnTo>
                  <a:lnTo>
                    <a:pt x="1643963" y="1370768"/>
                  </a:lnTo>
                  <a:lnTo>
                    <a:pt x="1618351" y="1412028"/>
                  </a:lnTo>
                  <a:lnTo>
                    <a:pt x="1590012" y="1451647"/>
                  </a:lnTo>
                  <a:lnTo>
                    <a:pt x="1559007" y="1489480"/>
                  </a:lnTo>
                  <a:lnTo>
                    <a:pt x="1525397" y="1525384"/>
                  </a:lnTo>
                  <a:lnTo>
                    <a:pt x="1489668" y="1558874"/>
                  </a:lnTo>
                  <a:lnTo>
                    <a:pt x="1452343" y="1589574"/>
                  </a:lnTo>
                  <a:lnTo>
                    <a:pt x="1413561" y="1617483"/>
                  </a:lnTo>
                  <a:lnTo>
                    <a:pt x="1373460" y="1642600"/>
                  </a:lnTo>
                  <a:lnTo>
                    <a:pt x="1332180" y="1664927"/>
                  </a:lnTo>
                  <a:lnTo>
                    <a:pt x="1289858" y="1684463"/>
                  </a:lnTo>
                  <a:lnTo>
                    <a:pt x="1246635" y="1701209"/>
                  </a:lnTo>
                  <a:lnTo>
                    <a:pt x="1202648" y="1715163"/>
                  </a:lnTo>
                  <a:lnTo>
                    <a:pt x="1158036" y="1726326"/>
                  </a:lnTo>
                  <a:lnTo>
                    <a:pt x="1112939" y="1734699"/>
                  </a:lnTo>
                  <a:lnTo>
                    <a:pt x="1067495" y="1740281"/>
                  </a:lnTo>
                  <a:lnTo>
                    <a:pt x="1021842" y="1743072"/>
                  </a:lnTo>
                  <a:lnTo>
                    <a:pt x="976121" y="1743072"/>
                  </a:lnTo>
                  <a:lnTo>
                    <a:pt x="930468" y="1740281"/>
                  </a:lnTo>
                  <a:lnTo>
                    <a:pt x="885024" y="1734699"/>
                  </a:lnTo>
                  <a:lnTo>
                    <a:pt x="839927" y="1726326"/>
                  </a:lnTo>
                  <a:lnTo>
                    <a:pt x="795315" y="1715163"/>
                  </a:lnTo>
                  <a:lnTo>
                    <a:pt x="751328" y="1701209"/>
                  </a:lnTo>
                  <a:lnTo>
                    <a:pt x="708105" y="1684463"/>
                  </a:lnTo>
                  <a:lnTo>
                    <a:pt x="665783" y="1664927"/>
                  </a:lnTo>
                  <a:lnTo>
                    <a:pt x="624503" y="1642600"/>
                  </a:lnTo>
                  <a:lnTo>
                    <a:pt x="584402" y="1617483"/>
                  </a:lnTo>
                  <a:lnTo>
                    <a:pt x="545620" y="1589574"/>
                  </a:lnTo>
                  <a:lnTo>
                    <a:pt x="508295" y="1558874"/>
                  </a:lnTo>
                  <a:lnTo>
                    <a:pt x="472566" y="1525384"/>
                  </a:lnTo>
                  <a:lnTo>
                    <a:pt x="439078" y="1489657"/>
                  </a:lnTo>
                  <a:lnTo>
                    <a:pt x="408379" y="1452333"/>
                  </a:lnTo>
                  <a:lnTo>
                    <a:pt x="380472" y="1413552"/>
                  </a:lnTo>
                  <a:lnTo>
                    <a:pt x="355355" y="1373453"/>
                  </a:lnTo>
                  <a:lnTo>
                    <a:pt x="333029" y="1332173"/>
                  </a:lnTo>
                  <a:lnTo>
                    <a:pt x="313494" y="1289853"/>
                  </a:lnTo>
                  <a:lnTo>
                    <a:pt x="296749" y="1246630"/>
                  </a:lnTo>
                  <a:lnTo>
                    <a:pt x="282796" y="1202644"/>
                  </a:lnTo>
                  <a:lnTo>
                    <a:pt x="271633" y="1158033"/>
                  </a:lnTo>
                  <a:lnTo>
                    <a:pt x="263260" y="1112936"/>
                  </a:lnTo>
                  <a:lnTo>
                    <a:pt x="257679" y="1067493"/>
                  </a:lnTo>
                  <a:lnTo>
                    <a:pt x="254888" y="1021841"/>
                  </a:lnTo>
                  <a:lnTo>
                    <a:pt x="254888" y="976119"/>
                  </a:lnTo>
                  <a:lnTo>
                    <a:pt x="257679" y="930467"/>
                  </a:lnTo>
                  <a:lnTo>
                    <a:pt x="263260" y="885023"/>
                  </a:lnTo>
                  <a:lnTo>
                    <a:pt x="271633" y="839926"/>
                  </a:lnTo>
                  <a:lnTo>
                    <a:pt x="282796" y="795315"/>
                  </a:lnTo>
                  <a:lnTo>
                    <a:pt x="296749" y="751328"/>
                  </a:lnTo>
                  <a:lnTo>
                    <a:pt x="313494" y="708104"/>
                  </a:lnTo>
                  <a:lnTo>
                    <a:pt x="333029" y="665783"/>
                  </a:lnTo>
                  <a:lnTo>
                    <a:pt x="355355" y="624503"/>
                  </a:lnTo>
                  <a:lnTo>
                    <a:pt x="380472" y="584402"/>
                  </a:lnTo>
                  <a:lnTo>
                    <a:pt x="408379" y="545620"/>
                  </a:lnTo>
                  <a:lnTo>
                    <a:pt x="439078" y="508295"/>
                  </a:lnTo>
                  <a:lnTo>
                    <a:pt x="472566" y="472567"/>
                  </a:lnTo>
                  <a:lnTo>
                    <a:pt x="508295" y="439078"/>
                  </a:lnTo>
                  <a:lnTo>
                    <a:pt x="545620" y="408379"/>
                  </a:lnTo>
                  <a:lnTo>
                    <a:pt x="584402" y="380472"/>
                  </a:lnTo>
                  <a:lnTo>
                    <a:pt x="624503" y="355355"/>
                  </a:lnTo>
                  <a:lnTo>
                    <a:pt x="665783" y="333029"/>
                  </a:lnTo>
                  <a:lnTo>
                    <a:pt x="708105" y="313494"/>
                  </a:lnTo>
                  <a:lnTo>
                    <a:pt x="751328" y="296749"/>
                  </a:lnTo>
                  <a:lnTo>
                    <a:pt x="795315" y="282796"/>
                  </a:lnTo>
                  <a:lnTo>
                    <a:pt x="839927" y="271633"/>
                  </a:lnTo>
                  <a:lnTo>
                    <a:pt x="885024" y="263260"/>
                  </a:lnTo>
                  <a:lnTo>
                    <a:pt x="930468" y="257679"/>
                  </a:lnTo>
                  <a:lnTo>
                    <a:pt x="976121" y="254888"/>
                  </a:lnTo>
                  <a:lnTo>
                    <a:pt x="1021842" y="254888"/>
                  </a:lnTo>
                  <a:lnTo>
                    <a:pt x="1067495" y="257679"/>
                  </a:lnTo>
                  <a:lnTo>
                    <a:pt x="1112939" y="263260"/>
                  </a:lnTo>
                  <a:lnTo>
                    <a:pt x="1158036" y="271633"/>
                  </a:lnTo>
                  <a:lnTo>
                    <a:pt x="1202648" y="282796"/>
                  </a:lnTo>
                  <a:lnTo>
                    <a:pt x="1246635" y="296749"/>
                  </a:lnTo>
                  <a:lnTo>
                    <a:pt x="1289858" y="313494"/>
                  </a:lnTo>
                  <a:lnTo>
                    <a:pt x="1332180" y="333029"/>
                  </a:lnTo>
                  <a:lnTo>
                    <a:pt x="1373460" y="355355"/>
                  </a:lnTo>
                  <a:lnTo>
                    <a:pt x="1413561" y="380472"/>
                  </a:lnTo>
                  <a:lnTo>
                    <a:pt x="1452343" y="408379"/>
                  </a:lnTo>
                  <a:lnTo>
                    <a:pt x="1489668" y="439078"/>
                  </a:lnTo>
                  <a:lnTo>
                    <a:pt x="1525397" y="472567"/>
                  </a:lnTo>
                  <a:lnTo>
                    <a:pt x="1705355" y="292608"/>
                  </a:lnTo>
                  <a:lnTo>
                    <a:pt x="1669463" y="258451"/>
                  </a:lnTo>
                  <a:lnTo>
                    <a:pt x="1632087" y="226252"/>
                  </a:lnTo>
                  <a:lnTo>
                    <a:pt x="1593309" y="196043"/>
                  </a:lnTo>
                  <a:lnTo>
                    <a:pt x="1553211" y="167860"/>
                  </a:lnTo>
                  <a:lnTo>
                    <a:pt x="1511877" y="141735"/>
                  </a:lnTo>
                  <a:lnTo>
                    <a:pt x="1469386" y="117704"/>
                  </a:lnTo>
                  <a:lnTo>
                    <a:pt x="1425823" y="95800"/>
                  </a:lnTo>
                  <a:lnTo>
                    <a:pt x="1381267" y="76057"/>
                  </a:lnTo>
                  <a:lnTo>
                    <a:pt x="1335803" y="58509"/>
                  </a:lnTo>
                  <a:lnTo>
                    <a:pt x="1289511" y="43190"/>
                  </a:lnTo>
                  <a:lnTo>
                    <a:pt x="1242474" y="30135"/>
                  </a:lnTo>
                  <a:lnTo>
                    <a:pt x="1194774" y="19377"/>
                  </a:lnTo>
                  <a:lnTo>
                    <a:pt x="1146492" y="10950"/>
                  </a:lnTo>
                  <a:lnTo>
                    <a:pt x="1097712" y="4889"/>
                  </a:lnTo>
                  <a:lnTo>
                    <a:pt x="1048514" y="1228"/>
                  </a:lnTo>
                  <a:lnTo>
                    <a:pt x="998981" y="0"/>
                  </a:lnTo>
                  <a:close/>
                </a:path>
              </a:pathLst>
            </a:custGeom>
            <a:solidFill>
              <a:srgbClr val="F7D2C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594859" y="4140708"/>
              <a:ext cx="1998345" cy="1998345"/>
            </a:xfrm>
            <a:custGeom>
              <a:avLst/>
              <a:gdLst/>
              <a:ahLst/>
              <a:cxnLst/>
              <a:rect l="l" t="t" r="r" b="b"/>
              <a:pathLst>
                <a:path w="1998345" h="1998345">
                  <a:moveTo>
                    <a:pt x="1997964" y="998982"/>
                  </a:moveTo>
                  <a:lnTo>
                    <a:pt x="1996811" y="1047383"/>
                  </a:lnTo>
                  <a:lnTo>
                    <a:pt x="1993390" y="1095191"/>
                  </a:lnTo>
                  <a:lnTo>
                    <a:pt x="1987752" y="1142351"/>
                  </a:lnTo>
                  <a:lnTo>
                    <a:pt x="1979949" y="1188812"/>
                  </a:lnTo>
                  <a:lnTo>
                    <a:pt x="1970034" y="1234522"/>
                  </a:lnTo>
                  <a:lnTo>
                    <a:pt x="1958059" y="1279428"/>
                  </a:lnTo>
                  <a:lnTo>
                    <a:pt x="1944077" y="1323477"/>
                  </a:lnTo>
                  <a:lnTo>
                    <a:pt x="1928139" y="1366618"/>
                  </a:lnTo>
                  <a:lnTo>
                    <a:pt x="1910299" y="1408799"/>
                  </a:lnTo>
                  <a:lnTo>
                    <a:pt x="1890608" y="1449966"/>
                  </a:lnTo>
                  <a:lnTo>
                    <a:pt x="1869119" y="1490067"/>
                  </a:lnTo>
                  <a:lnTo>
                    <a:pt x="1845884" y="1529051"/>
                  </a:lnTo>
                  <a:lnTo>
                    <a:pt x="1820956" y="1566864"/>
                  </a:lnTo>
                  <a:lnTo>
                    <a:pt x="1794387" y="1603455"/>
                  </a:lnTo>
                  <a:lnTo>
                    <a:pt x="1766229" y="1638771"/>
                  </a:lnTo>
                  <a:lnTo>
                    <a:pt x="1736534" y="1672760"/>
                  </a:lnTo>
                  <a:lnTo>
                    <a:pt x="1705356" y="1705370"/>
                  </a:lnTo>
                  <a:lnTo>
                    <a:pt x="1672745" y="1736547"/>
                  </a:lnTo>
                  <a:lnTo>
                    <a:pt x="1638756" y="1766241"/>
                  </a:lnTo>
                  <a:lnTo>
                    <a:pt x="1603439" y="1794398"/>
                  </a:lnTo>
                  <a:lnTo>
                    <a:pt x="1566848" y="1820966"/>
                  </a:lnTo>
                  <a:lnTo>
                    <a:pt x="1529034" y="1845893"/>
                  </a:lnTo>
                  <a:lnTo>
                    <a:pt x="1490050" y="1869127"/>
                  </a:lnTo>
                  <a:lnTo>
                    <a:pt x="1449949" y="1890615"/>
                  </a:lnTo>
                  <a:lnTo>
                    <a:pt x="1408782" y="1910305"/>
                  </a:lnTo>
                  <a:lnTo>
                    <a:pt x="1366603" y="1928144"/>
                  </a:lnTo>
                  <a:lnTo>
                    <a:pt x="1323463" y="1944081"/>
                  </a:lnTo>
                  <a:lnTo>
                    <a:pt x="1279414" y="1958062"/>
                  </a:lnTo>
                  <a:lnTo>
                    <a:pt x="1234510" y="1970036"/>
                  </a:lnTo>
                  <a:lnTo>
                    <a:pt x="1188802" y="1979950"/>
                  </a:lnTo>
                  <a:lnTo>
                    <a:pt x="1142343" y="1987753"/>
                  </a:lnTo>
                  <a:lnTo>
                    <a:pt x="1095185" y="1993390"/>
                  </a:lnTo>
                  <a:lnTo>
                    <a:pt x="1047380" y="1996812"/>
                  </a:lnTo>
                  <a:lnTo>
                    <a:pt x="998981" y="1997964"/>
                  </a:lnTo>
                  <a:lnTo>
                    <a:pt x="950583" y="1996812"/>
                  </a:lnTo>
                  <a:lnTo>
                    <a:pt x="902778" y="1993390"/>
                  </a:lnTo>
                  <a:lnTo>
                    <a:pt x="855620" y="1987753"/>
                  </a:lnTo>
                  <a:lnTo>
                    <a:pt x="809161" y="1979950"/>
                  </a:lnTo>
                  <a:lnTo>
                    <a:pt x="763453" y="1970036"/>
                  </a:lnTo>
                  <a:lnTo>
                    <a:pt x="718549" y="1958062"/>
                  </a:lnTo>
                  <a:lnTo>
                    <a:pt x="674500" y="1944081"/>
                  </a:lnTo>
                  <a:lnTo>
                    <a:pt x="631360" y="1928144"/>
                  </a:lnTo>
                  <a:lnTo>
                    <a:pt x="589181" y="1910305"/>
                  </a:lnTo>
                  <a:lnTo>
                    <a:pt x="548014" y="1890615"/>
                  </a:lnTo>
                  <a:lnTo>
                    <a:pt x="507913" y="1869127"/>
                  </a:lnTo>
                  <a:lnTo>
                    <a:pt x="468929" y="1845893"/>
                  </a:lnTo>
                  <a:lnTo>
                    <a:pt x="431115" y="1820966"/>
                  </a:lnTo>
                  <a:lnTo>
                    <a:pt x="394524" y="1794398"/>
                  </a:lnTo>
                  <a:lnTo>
                    <a:pt x="359207" y="1766241"/>
                  </a:lnTo>
                  <a:lnTo>
                    <a:pt x="325218" y="1736547"/>
                  </a:lnTo>
                  <a:lnTo>
                    <a:pt x="292607" y="1705370"/>
                  </a:lnTo>
                  <a:lnTo>
                    <a:pt x="261429" y="1672760"/>
                  </a:lnTo>
                  <a:lnTo>
                    <a:pt x="231734" y="1638771"/>
                  </a:lnTo>
                  <a:lnTo>
                    <a:pt x="203576" y="1603455"/>
                  </a:lnTo>
                  <a:lnTo>
                    <a:pt x="177007" y="1566864"/>
                  </a:lnTo>
                  <a:lnTo>
                    <a:pt x="152079" y="1529051"/>
                  </a:lnTo>
                  <a:lnTo>
                    <a:pt x="128844" y="1490067"/>
                  </a:lnTo>
                  <a:lnTo>
                    <a:pt x="107355" y="1449966"/>
                  </a:lnTo>
                  <a:lnTo>
                    <a:pt x="87664" y="1408799"/>
                  </a:lnTo>
                  <a:lnTo>
                    <a:pt x="69824" y="1366618"/>
                  </a:lnTo>
                  <a:lnTo>
                    <a:pt x="53886" y="1323477"/>
                  </a:lnTo>
                  <a:lnTo>
                    <a:pt x="39904" y="1279428"/>
                  </a:lnTo>
                  <a:lnTo>
                    <a:pt x="27929" y="1234522"/>
                  </a:lnTo>
                  <a:lnTo>
                    <a:pt x="18014" y="1188812"/>
                  </a:lnTo>
                  <a:lnTo>
                    <a:pt x="10211" y="1142351"/>
                  </a:lnTo>
                  <a:lnTo>
                    <a:pt x="4573" y="1095191"/>
                  </a:lnTo>
                  <a:lnTo>
                    <a:pt x="1152" y="1047383"/>
                  </a:lnTo>
                  <a:lnTo>
                    <a:pt x="0" y="998982"/>
                  </a:lnTo>
                  <a:lnTo>
                    <a:pt x="1152" y="950583"/>
                  </a:lnTo>
                  <a:lnTo>
                    <a:pt x="4573" y="902778"/>
                  </a:lnTo>
                  <a:lnTo>
                    <a:pt x="10211" y="855620"/>
                  </a:lnTo>
                  <a:lnTo>
                    <a:pt x="18014" y="809161"/>
                  </a:lnTo>
                  <a:lnTo>
                    <a:pt x="27929" y="763453"/>
                  </a:lnTo>
                  <a:lnTo>
                    <a:pt x="39904" y="718549"/>
                  </a:lnTo>
                  <a:lnTo>
                    <a:pt x="53886" y="674500"/>
                  </a:lnTo>
                  <a:lnTo>
                    <a:pt x="69824" y="631360"/>
                  </a:lnTo>
                  <a:lnTo>
                    <a:pt x="87664" y="589181"/>
                  </a:lnTo>
                  <a:lnTo>
                    <a:pt x="107355" y="548014"/>
                  </a:lnTo>
                  <a:lnTo>
                    <a:pt x="128844" y="507913"/>
                  </a:lnTo>
                  <a:lnTo>
                    <a:pt x="152079" y="468929"/>
                  </a:lnTo>
                  <a:lnTo>
                    <a:pt x="177007" y="431115"/>
                  </a:lnTo>
                  <a:lnTo>
                    <a:pt x="203576" y="394524"/>
                  </a:lnTo>
                  <a:lnTo>
                    <a:pt x="231734" y="359207"/>
                  </a:lnTo>
                  <a:lnTo>
                    <a:pt x="261429" y="325218"/>
                  </a:lnTo>
                  <a:lnTo>
                    <a:pt x="292608" y="292608"/>
                  </a:lnTo>
                  <a:lnTo>
                    <a:pt x="325218" y="261429"/>
                  </a:lnTo>
                  <a:lnTo>
                    <a:pt x="359207" y="231734"/>
                  </a:lnTo>
                  <a:lnTo>
                    <a:pt x="394524" y="203576"/>
                  </a:lnTo>
                  <a:lnTo>
                    <a:pt x="431115" y="177007"/>
                  </a:lnTo>
                  <a:lnTo>
                    <a:pt x="468929" y="152079"/>
                  </a:lnTo>
                  <a:lnTo>
                    <a:pt x="507913" y="128844"/>
                  </a:lnTo>
                  <a:lnTo>
                    <a:pt x="548014" y="107355"/>
                  </a:lnTo>
                  <a:lnTo>
                    <a:pt x="589181" y="87664"/>
                  </a:lnTo>
                  <a:lnTo>
                    <a:pt x="631360" y="69824"/>
                  </a:lnTo>
                  <a:lnTo>
                    <a:pt x="674500" y="53886"/>
                  </a:lnTo>
                  <a:lnTo>
                    <a:pt x="718549" y="39904"/>
                  </a:lnTo>
                  <a:lnTo>
                    <a:pt x="763453" y="27929"/>
                  </a:lnTo>
                  <a:lnTo>
                    <a:pt x="809161" y="18014"/>
                  </a:lnTo>
                  <a:lnTo>
                    <a:pt x="855620" y="10211"/>
                  </a:lnTo>
                  <a:lnTo>
                    <a:pt x="902778" y="4573"/>
                  </a:lnTo>
                  <a:lnTo>
                    <a:pt x="950583" y="1152"/>
                  </a:lnTo>
                  <a:lnTo>
                    <a:pt x="998981" y="0"/>
                  </a:lnTo>
                  <a:lnTo>
                    <a:pt x="1048514" y="1228"/>
                  </a:lnTo>
                  <a:lnTo>
                    <a:pt x="1097712" y="4889"/>
                  </a:lnTo>
                  <a:lnTo>
                    <a:pt x="1146492" y="10950"/>
                  </a:lnTo>
                  <a:lnTo>
                    <a:pt x="1194774" y="19377"/>
                  </a:lnTo>
                  <a:lnTo>
                    <a:pt x="1242474" y="30135"/>
                  </a:lnTo>
                  <a:lnTo>
                    <a:pt x="1289511" y="43190"/>
                  </a:lnTo>
                  <a:lnTo>
                    <a:pt x="1335803" y="58509"/>
                  </a:lnTo>
                  <a:lnTo>
                    <a:pt x="1381267" y="76057"/>
                  </a:lnTo>
                  <a:lnTo>
                    <a:pt x="1425823" y="95800"/>
                  </a:lnTo>
                  <a:lnTo>
                    <a:pt x="1469386" y="117704"/>
                  </a:lnTo>
                  <a:lnTo>
                    <a:pt x="1511877" y="141735"/>
                  </a:lnTo>
                  <a:lnTo>
                    <a:pt x="1553211" y="167860"/>
                  </a:lnTo>
                  <a:lnTo>
                    <a:pt x="1593309" y="196043"/>
                  </a:lnTo>
                  <a:lnTo>
                    <a:pt x="1632087" y="226252"/>
                  </a:lnTo>
                  <a:lnTo>
                    <a:pt x="1669463" y="258451"/>
                  </a:lnTo>
                  <a:lnTo>
                    <a:pt x="1705355" y="292608"/>
                  </a:lnTo>
                  <a:lnTo>
                    <a:pt x="1525397" y="472567"/>
                  </a:lnTo>
                  <a:lnTo>
                    <a:pt x="1489668" y="439078"/>
                  </a:lnTo>
                  <a:lnTo>
                    <a:pt x="1452343" y="408379"/>
                  </a:lnTo>
                  <a:lnTo>
                    <a:pt x="1413561" y="380472"/>
                  </a:lnTo>
                  <a:lnTo>
                    <a:pt x="1373460" y="355355"/>
                  </a:lnTo>
                  <a:lnTo>
                    <a:pt x="1332180" y="333029"/>
                  </a:lnTo>
                  <a:lnTo>
                    <a:pt x="1289858" y="313494"/>
                  </a:lnTo>
                  <a:lnTo>
                    <a:pt x="1246635" y="296749"/>
                  </a:lnTo>
                  <a:lnTo>
                    <a:pt x="1202648" y="282796"/>
                  </a:lnTo>
                  <a:lnTo>
                    <a:pt x="1158036" y="271633"/>
                  </a:lnTo>
                  <a:lnTo>
                    <a:pt x="1112939" y="263260"/>
                  </a:lnTo>
                  <a:lnTo>
                    <a:pt x="1067495" y="257679"/>
                  </a:lnTo>
                  <a:lnTo>
                    <a:pt x="1021842" y="254888"/>
                  </a:lnTo>
                  <a:lnTo>
                    <a:pt x="976121" y="254888"/>
                  </a:lnTo>
                  <a:lnTo>
                    <a:pt x="930468" y="257679"/>
                  </a:lnTo>
                  <a:lnTo>
                    <a:pt x="885024" y="263260"/>
                  </a:lnTo>
                  <a:lnTo>
                    <a:pt x="839927" y="271633"/>
                  </a:lnTo>
                  <a:lnTo>
                    <a:pt x="795315" y="282796"/>
                  </a:lnTo>
                  <a:lnTo>
                    <a:pt x="751328" y="296749"/>
                  </a:lnTo>
                  <a:lnTo>
                    <a:pt x="708105" y="313494"/>
                  </a:lnTo>
                  <a:lnTo>
                    <a:pt x="665783" y="333029"/>
                  </a:lnTo>
                  <a:lnTo>
                    <a:pt x="624503" y="355355"/>
                  </a:lnTo>
                  <a:lnTo>
                    <a:pt x="584402" y="380472"/>
                  </a:lnTo>
                  <a:lnTo>
                    <a:pt x="545620" y="408379"/>
                  </a:lnTo>
                  <a:lnTo>
                    <a:pt x="508295" y="439078"/>
                  </a:lnTo>
                  <a:lnTo>
                    <a:pt x="472566" y="472567"/>
                  </a:lnTo>
                  <a:lnTo>
                    <a:pt x="439078" y="508295"/>
                  </a:lnTo>
                  <a:lnTo>
                    <a:pt x="408379" y="545620"/>
                  </a:lnTo>
                  <a:lnTo>
                    <a:pt x="380472" y="584402"/>
                  </a:lnTo>
                  <a:lnTo>
                    <a:pt x="355355" y="624503"/>
                  </a:lnTo>
                  <a:lnTo>
                    <a:pt x="333029" y="665783"/>
                  </a:lnTo>
                  <a:lnTo>
                    <a:pt x="313494" y="708104"/>
                  </a:lnTo>
                  <a:lnTo>
                    <a:pt x="296749" y="751328"/>
                  </a:lnTo>
                  <a:lnTo>
                    <a:pt x="282796" y="795315"/>
                  </a:lnTo>
                  <a:lnTo>
                    <a:pt x="271633" y="839926"/>
                  </a:lnTo>
                  <a:lnTo>
                    <a:pt x="263260" y="885023"/>
                  </a:lnTo>
                  <a:lnTo>
                    <a:pt x="257679" y="930467"/>
                  </a:lnTo>
                  <a:lnTo>
                    <a:pt x="254888" y="976119"/>
                  </a:lnTo>
                  <a:lnTo>
                    <a:pt x="254888" y="1021841"/>
                  </a:lnTo>
                  <a:lnTo>
                    <a:pt x="257679" y="1067493"/>
                  </a:lnTo>
                  <a:lnTo>
                    <a:pt x="263260" y="1112936"/>
                  </a:lnTo>
                  <a:lnTo>
                    <a:pt x="271633" y="1158033"/>
                  </a:lnTo>
                  <a:lnTo>
                    <a:pt x="282796" y="1202644"/>
                  </a:lnTo>
                  <a:lnTo>
                    <a:pt x="296749" y="1246630"/>
                  </a:lnTo>
                  <a:lnTo>
                    <a:pt x="313494" y="1289853"/>
                  </a:lnTo>
                  <a:lnTo>
                    <a:pt x="333029" y="1332173"/>
                  </a:lnTo>
                  <a:lnTo>
                    <a:pt x="355355" y="1373453"/>
                  </a:lnTo>
                  <a:lnTo>
                    <a:pt x="380472" y="1413552"/>
                  </a:lnTo>
                  <a:lnTo>
                    <a:pt x="408379" y="1452333"/>
                  </a:lnTo>
                  <a:lnTo>
                    <a:pt x="439078" y="1489657"/>
                  </a:lnTo>
                  <a:lnTo>
                    <a:pt x="472566" y="1525384"/>
                  </a:lnTo>
                  <a:lnTo>
                    <a:pt x="508295" y="1558874"/>
                  </a:lnTo>
                  <a:lnTo>
                    <a:pt x="545620" y="1589574"/>
                  </a:lnTo>
                  <a:lnTo>
                    <a:pt x="584402" y="1617483"/>
                  </a:lnTo>
                  <a:lnTo>
                    <a:pt x="624503" y="1642600"/>
                  </a:lnTo>
                  <a:lnTo>
                    <a:pt x="665783" y="1664927"/>
                  </a:lnTo>
                  <a:lnTo>
                    <a:pt x="708105" y="1684463"/>
                  </a:lnTo>
                  <a:lnTo>
                    <a:pt x="751328" y="1701209"/>
                  </a:lnTo>
                  <a:lnTo>
                    <a:pt x="795315" y="1715163"/>
                  </a:lnTo>
                  <a:lnTo>
                    <a:pt x="839927" y="1726326"/>
                  </a:lnTo>
                  <a:lnTo>
                    <a:pt x="885024" y="1734699"/>
                  </a:lnTo>
                  <a:lnTo>
                    <a:pt x="930468" y="1740281"/>
                  </a:lnTo>
                  <a:lnTo>
                    <a:pt x="976121" y="1743072"/>
                  </a:lnTo>
                  <a:lnTo>
                    <a:pt x="1021842" y="1743072"/>
                  </a:lnTo>
                  <a:lnTo>
                    <a:pt x="1067495" y="1740281"/>
                  </a:lnTo>
                  <a:lnTo>
                    <a:pt x="1112939" y="1734699"/>
                  </a:lnTo>
                  <a:lnTo>
                    <a:pt x="1158036" y="1726326"/>
                  </a:lnTo>
                  <a:lnTo>
                    <a:pt x="1202648" y="1715163"/>
                  </a:lnTo>
                  <a:lnTo>
                    <a:pt x="1246635" y="1701209"/>
                  </a:lnTo>
                  <a:lnTo>
                    <a:pt x="1289858" y="1684463"/>
                  </a:lnTo>
                  <a:lnTo>
                    <a:pt x="1332180" y="1664927"/>
                  </a:lnTo>
                  <a:lnTo>
                    <a:pt x="1373460" y="1642600"/>
                  </a:lnTo>
                  <a:lnTo>
                    <a:pt x="1413561" y="1617483"/>
                  </a:lnTo>
                  <a:lnTo>
                    <a:pt x="1452343" y="1589574"/>
                  </a:lnTo>
                  <a:lnTo>
                    <a:pt x="1489668" y="1558874"/>
                  </a:lnTo>
                  <a:lnTo>
                    <a:pt x="1525397" y="1525384"/>
                  </a:lnTo>
                  <a:lnTo>
                    <a:pt x="1559007" y="1489480"/>
                  </a:lnTo>
                  <a:lnTo>
                    <a:pt x="1590012" y="1451647"/>
                  </a:lnTo>
                  <a:lnTo>
                    <a:pt x="1618351" y="1412028"/>
                  </a:lnTo>
                  <a:lnTo>
                    <a:pt x="1643963" y="1370768"/>
                  </a:lnTo>
                  <a:lnTo>
                    <a:pt x="1666788" y="1328012"/>
                  </a:lnTo>
                  <a:lnTo>
                    <a:pt x="1686766" y="1283904"/>
                  </a:lnTo>
                  <a:lnTo>
                    <a:pt x="1703836" y="1238590"/>
                  </a:lnTo>
                  <a:lnTo>
                    <a:pt x="1717938" y="1192214"/>
                  </a:lnTo>
                  <a:lnTo>
                    <a:pt x="1729011" y="1144920"/>
                  </a:lnTo>
                  <a:lnTo>
                    <a:pt x="1736996" y="1096854"/>
                  </a:lnTo>
                  <a:lnTo>
                    <a:pt x="1741830" y="1048159"/>
                  </a:lnTo>
                  <a:lnTo>
                    <a:pt x="1743455" y="998982"/>
                  </a:lnTo>
                  <a:lnTo>
                    <a:pt x="1997964" y="99898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48554" y="4845811"/>
            <a:ext cx="1280160" cy="59499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lvl="0" indent="1270" algn="ctr" defTabSz="914400" eaLnBrk="1" fontAlgn="auto" latinLnBrk="0" hangingPunct="1">
              <a:lnSpc>
                <a:spcPct val="916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données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sont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types,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éventuellement,</a:t>
            </a:r>
            <a:r>
              <a:rPr kumimoji="0" sz="8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non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compatibles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avec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 rigidité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schéma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relationnel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et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ses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contraintes,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2382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3911" y="345947"/>
            <a:ext cx="659892" cy="650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spc="-10" dirty="0"/>
              <a:t>C’est</a:t>
            </a:r>
            <a:r>
              <a:rPr sz="1600" spc="-35" dirty="0"/>
              <a:t> </a:t>
            </a:r>
            <a:r>
              <a:rPr sz="1600" dirty="0"/>
              <a:t>quoi</a:t>
            </a:r>
            <a:r>
              <a:rPr sz="1600" spc="-25" dirty="0"/>
              <a:t> </a:t>
            </a:r>
            <a:r>
              <a:rPr sz="1600" dirty="0"/>
              <a:t>une</a:t>
            </a:r>
            <a:r>
              <a:rPr sz="1600" spc="-30" dirty="0"/>
              <a:t> </a:t>
            </a:r>
            <a:r>
              <a:rPr sz="1600" dirty="0"/>
              <a:t>BD</a:t>
            </a:r>
            <a:r>
              <a:rPr sz="1600" spc="-25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98982" y="1599387"/>
            <a:ext cx="10558145" cy="3169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Des</a:t>
            </a:r>
            <a:r>
              <a:rPr spc="-25" dirty="0"/>
              <a:t> </a:t>
            </a:r>
            <a:r>
              <a:rPr dirty="0"/>
              <a:t>SGBD</a:t>
            </a:r>
            <a:r>
              <a:rPr spc="5" dirty="0"/>
              <a:t> </a:t>
            </a:r>
            <a:r>
              <a:rPr spc="-10" dirty="0"/>
              <a:t>Relationnels</a:t>
            </a:r>
            <a:r>
              <a:rPr spc="-35" dirty="0"/>
              <a:t> </a:t>
            </a:r>
            <a:r>
              <a:rPr dirty="0"/>
              <a:t>…..</a:t>
            </a:r>
            <a:r>
              <a:rPr spc="-25" dirty="0"/>
              <a:t> </a:t>
            </a:r>
            <a:r>
              <a:rPr dirty="0"/>
              <a:t>au</a:t>
            </a:r>
            <a:r>
              <a:rPr spc="-15" dirty="0"/>
              <a:t> </a:t>
            </a:r>
            <a:r>
              <a:rPr spc="-20" dirty="0"/>
              <a:t>NoSQL</a:t>
            </a:r>
          </a:p>
          <a:p>
            <a:pPr marL="299085" marR="8255" indent="-287020">
              <a:lnSpc>
                <a:spcPct val="150000"/>
              </a:lnSpc>
              <a:spcBef>
                <a:spcPts val="655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</a:rPr>
              <a:t>NoSQL</a:t>
            </a:r>
            <a:r>
              <a:rPr spc="215" dirty="0">
                <a:solidFill>
                  <a:srgbClr val="555555"/>
                </a:solidFill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(Not</a:t>
            </a:r>
            <a:r>
              <a:rPr b="0" spc="2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Only</a:t>
            </a:r>
            <a:r>
              <a:rPr b="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SQL)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propose</a:t>
            </a:r>
            <a:r>
              <a:rPr b="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b="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nouvelle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manière</a:t>
            </a:r>
            <a:r>
              <a:rPr b="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gérer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b="0" spc="229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données,</a:t>
            </a:r>
            <a:r>
              <a:rPr b="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sans</a:t>
            </a:r>
            <a:r>
              <a:rPr b="0" spc="2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respecter</a:t>
            </a:r>
            <a:r>
              <a:rPr b="0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i="1" dirty="0">
                <a:solidFill>
                  <a:srgbClr val="555555"/>
                </a:solidFill>
                <a:latin typeface="Calibri"/>
                <a:cs typeface="Calibri"/>
              </a:rPr>
              <a:t>forcement</a:t>
            </a:r>
            <a:r>
              <a:rPr i="1" spc="2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b="0" spc="2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paradigme relationnel,</a:t>
            </a: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</a:rPr>
              <a:t>NoSQL</a:t>
            </a:r>
            <a:r>
              <a:rPr spc="-35" dirty="0">
                <a:solidFill>
                  <a:srgbClr val="555555"/>
                </a:solidFill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supporte</a:t>
            </a:r>
            <a:r>
              <a:rPr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nouveaux</a:t>
            </a:r>
            <a:r>
              <a:rPr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types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b="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(xml,</a:t>
            </a:r>
            <a:r>
              <a:rPr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collections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 err="1">
                <a:solidFill>
                  <a:srgbClr val="555555"/>
                </a:solidFill>
                <a:latin typeface="Calibri"/>
                <a:cs typeface="Calibri"/>
              </a:rPr>
              <a:t>d’objets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,…</a:t>
            </a:r>
            <a:r>
              <a:rPr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)</a:t>
            </a:r>
            <a:r>
              <a:rPr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5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</a:p>
          <a:p>
            <a:pPr marL="299085" marR="5080" indent="-287020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Cette</a:t>
            </a:r>
            <a:r>
              <a:rPr b="0" spc="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approche</a:t>
            </a:r>
            <a:r>
              <a:rPr b="0" spc="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propose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relâcher</a:t>
            </a:r>
            <a:r>
              <a:rPr b="0" spc="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certaines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contraintes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lourdes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relationnel</a:t>
            </a:r>
            <a:r>
              <a:rPr b="0" spc="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(structure</a:t>
            </a:r>
            <a:r>
              <a:rPr b="0" spc="8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b="0" spc="85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données,</a:t>
            </a:r>
            <a:r>
              <a:rPr b="0" spc="90" dirty="0">
                <a:solidFill>
                  <a:srgbClr val="555555"/>
                </a:solidFill>
                <a:latin typeface="Calibri"/>
                <a:cs typeface="Calibri"/>
              </a:rPr>
              <a:t> 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langage d'interrogation</a:t>
            </a:r>
            <a:r>
              <a:rPr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b="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cohérence)</a:t>
            </a:r>
            <a:r>
              <a:rPr b="0" spc="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favoriser</a:t>
            </a:r>
            <a:r>
              <a:rPr b="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distribution,</a:t>
            </a:r>
          </a:p>
          <a:p>
            <a:pPr marL="299085" marR="5080" indent="-287020">
              <a:lnSpc>
                <a:spcPct val="1502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</a:t>
            </a:r>
            <a:r>
              <a:rPr b="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</a:rPr>
              <a:t>NoSQL</a:t>
            </a:r>
            <a:r>
              <a:rPr spc="175" dirty="0">
                <a:solidFill>
                  <a:srgbClr val="555555"/>
                </a:solidFill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b="0" spc="204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remplace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b="0" spc="1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b="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bases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</a:rPr>
              <a:t>SQL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b="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complète</a:t>
            </a:r>
            <a:r>
              <a:rPr b="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apportant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avantages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terme</a:t>
            </a:r>
            <a:r>
              <a:rPr b="0" spc="17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1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stockage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réparti</a:t>
            </a:r>
            <a:r>
              <a:rPr b="0" spc="18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555555"/>
                </a:solidFill>
                <a:latin typeface="Calibri"/>
                <a:cs typeface="Calibri"/>
              </a:rPr>
              <a:t>par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exemple.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8320" y="4506467"/>
            <a:ext cx="6033516" cy="20894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561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31950" y="345947"/>
            <a:ext cx="8992235" cy="4531360"/>
            <a:chOff x="1631950" y="345947"/>
            <a:chExt cx="8992235" cy="4531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38300" y="3738371"/>
              <a:ext cx="1889760" cy="1132840"/>
            </a:xfrm>
            <a:custGeom>
              <a:avLst/>
              <a:gdLst/>
              <a:ahLst/>
              <a:cxnLst/>
              <a:rect l="l" t="t" r="r" b="b"/>
              <a:pathLst>
                <a:path w="1889760" h="1132839">
                  <a:moveTo>
                    <a:pt x="1889760" y="0"/>
                  </a:moveTo>
                  <a:lnTo>
                    <a:pt x="0" y="0"/>
                  </a:lnTo>
                  <a:lnTo>
                    <a:pt x="0" y="1132332"/>
                  </a:lnTo>
                  <a:lnTo>
                    <a:pt x="1889760" y="1132332"/>
                  </a:lnTo>
                  <a:lnTo>
                    <a:pt x="1889760" y="0"/>
                  </a:lnTo>
                  <a:close/>
                </a:path>
              </a:pathLst>
            </a:custGeom>
            <a:solidFill>
              <a:srgbClr val="D6702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638300" y="3738371"/>
              <a:ext cx="1889760" cy="1132840"/>
            </a:xfrm>
            <a:custGeom>
              <a:avLst/>
              <a:gdLst/>
              <a:ahLst/>
              <a:cxnLst/>
              <a:rect l="l" t="t" r="r" b="b"/>
              <a:pathLst>
                <a:path w="1889760" h="1132839">
                  <a:moveTo>
                    <a:pt x="0" y="1132332"/>
                  </a:moveTo>
                  <a:lnTo>
                    <a:pt x="1889760" y="1132332"/>
                  </a:lnTo>
                  <a:lnTo>
                    <a:pt x="1889760" y="0"/>
                  </a:lnTo>
                  <a:lnTo>
                    <a:pt x="0" y="0"/>
                  </a:lnTo>
                  <a:lnTo>
                    <a:pt x="0" y="113233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spc="-10" dirty="0"/>
              <a:t>C’est</a:t>
            </a:r>
            <a:r>
              <a:rPr sz="1600" spc="-35" dirty="0"/>
              <a:t> </a:t>
            </a:r>
            <a:r>
              <a:rPr sz="1600" dirty="0"/>
              <a:t>quoi</a:t>
            </a:r>
            <a:r>
              <a:rPr sz="1600" spc="-25" dirty="0"/>
              <a:t> </a:t>
            </a:r>
            <a:r>
              <a:rPr sz="1600" dirty="0"/>
              <a:t>une</a:t>
            </a:r>
            <a:r>
              <a:rPr sz="1600" spc="-30" dirty="0"/>
              <a:t> </a:t>
            </a:r>
            <a:r>
              <a:rPr sz="1600" dirty="0"/>
              <a:t>BD</a:t>
            </a:r>
            <a:r>
              <a:rPr sz="1600" spc="-25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8" name="object 8"/>
          <p:cNvSpPr txBox="1"/>
          <p:nvPr/>
        </p:nvSpPr>
        <p:spPr>
          <a:xfrm>
            <a:off x="798982" y="1599387"/>
            <a:ext cx="10587990" cy="1967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Définition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est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ensemble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technologies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BD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reposant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modèle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diffèrent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modèle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relationnel,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fruit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mouvement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apparu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milieu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années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2000,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mouvement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initialement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piloté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besoins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Big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principaux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acteurs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web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GAFA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Google,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Amazone,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Facebook,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0" defTabSz="91440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Apple,…):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982" y="4944547"/>
            <a:ext cx="10589895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serveurs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caractérisent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par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architectures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distribuées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qui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leur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permettent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 mieux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répondre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0" defTabSz="91440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aux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problématiques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big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data.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8300" y="3738371"/>
            <a:ext cx="1889760" cy="764312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Google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sa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0" cap="none" spc="-1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BigTable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10685" y="3732021"/>
            <a:ext cx="1901189" cy="1145540"/>
            <a:chOff x="3710685" y="3732021"/>
            <a:chExt cx="1901189" cy="1145540"/>
          </a:xfrm>
        </p:grpSpPr>
        <p:sp>
          <p:nvSpPr>
            <p:cNvPr id="12" name="object 12"/>
            <p:cNvSpPr/>
            <p:nvPr/>
          </p:nvSpPr>
          <p:spPr>
            <a:xfrm>
              <a:off x="3717035" y="3738371"/>
              <a:ext cx="1888489" cy="1132840"/>
            </a:xfrm>
            <a:custGeom>
              <a:avLst/>
              <a:gdLst/>
              <a:ahLst/>
              <a:cxnLst/>
              <a:rect l="l" t="t" r="r" b="b"/>
              <a:pathLst>
                <a:path w="1888489" h="1132839">
                  <a:moveTo>
                    <a:pt x="1888236" y="0"/>
                  </a:moveTo>
                  <a:lnTo>
                    <a:pt x="0" y="0"/>
                  </a:lnTo>
                  <a:lnTo>
                    <a:pt x="0" y="1132332"/>
                  </a:lnTo>
                  <a:lnTo>
                    <a:pt x="1888236" y="1132332"/>
                  </a:lnTo>
                  <a:lnTo>
                    <a:pt x="1888236" y="0"/>
                  </a:lnTo>
                  <a:close/>
                </a:path>
              </a:pathLst>
            </a:custGeom>
            <a:solidFill>
              <a:srgbClr val="E1834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717035" y="3738371"/>
              <a:ext cx="1888489" cy="1132840"/>
            </a:xfrm>
            <a:custGeom>
              <a:avLst/>
              <a:gdLst/>
              <a:ahLst/>
              <a:cxnLst/>
              <a:rect l="l" t="t" r="r" b="b"/>
              <a:pathLst>
                <a:path w="1888489" h="1132839">
                  <a:moveTo>
                    <a:pt x="0" y="1132332"/>
                  </a:moveTo>
                  <a:lnTo>
                    <a:pt x="1888236" y="1132332"/>
                  </a:lnTo>
                  <a:lnTo>
                    <a:pt x="1888236" y="0"/>
                  </a:lnTo>
                  <a:lnTo>
                    <a:pt x="0" y="0"/>
                  </a:lnTo>
                  <a:lnTo>
                    <a:pt x="0" y="113233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17035" y="3738371"/>
            <a:ext cx="1888489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Apple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4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sa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4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400" b="1" i="0" u="none" strike="noStrike" kern="0" cap="none" spc="-1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FoundationDB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87897" y="3732021"/>
            <a:ext cx="1902460" cy="1145540"/>
            <a:chOff x="5787897" y="3732021"/>
            <a:chExt cx="1902460" cy="1145540"/>
          </a:xfrm>
        </p:grpSpPr>
        <p:sp>
          <p:nvSpPr>
            <p:cNvPr id="16" name="object 16"/>
            <p:cNvSpPr/>
            <p:nvPr/>
          </p:nvSpPr>
          <p:spPr>
            <a:xfrm>
              <a:off x="5794247" y="3738371"/>
              <a:ext cx="1889760" cy="1132840"/>
            </a:xfrm>
            <a:custGeom>
              <a:avLst/>
              <a:gdLst/>
              <a:ahLst/>
              <a:cxnLst/>
              <a:rect l="l" t="t" r="r" b="b"/>
              <a:pathLst>
                <a:path w="1889759" h="1132839">
                  <a:moveTo>
                    <a:pt x="1889759" y="0"/>
                  </a:moveTo>
                  <a:lnTo>
                    <a:pt x="0" y="0"/>
                  </a:lnTo>
                  <a:lnTo>
                    <a:pt x="0" y="1132332"/>
                  </a:lnTo>
                  <a:lnTo>
                    <a:pt x="1889759" y="1132332"/>
                  </a:lnTo>
                  <a:lnTo>
                    <a:pt x="1889759" y="0"/>
                  </a:lnTo>
                  <a:close/>
                </a:path>
              </a:pathLst>
            </a:custGeom>
            <a:solidFill>
              <a:srgbClr val="EB997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794247" y="3738371"/>
              <a:ext cx="1889760" cy="1132840"/>
            </a:xfrm>
            <a:custGeom>
              <a:avLst/>
              <a:gdLst/>
              <a:ahLst/>
              <a:cxnLst/>
              <a:rect l="l" t="t" r="r" b="b"/>
              <a:pathLst>
                <a:path w="1889759" h="1132839">
                  <a:moveTo>
                    <a:pt x="0" y="1132332"/>
                  </a:moveTo>
                  <a:lnTo>
                    <a:pt x="1889759" y="1132332"/>
                  </a:lnTo>
                  <a:lnTo>
                    <a:pt x="1889759" y="0"/>
                  </a:lnTo>
                  <a:lnTo>
                    <a:pt x="0" y="0"/>
                  </a:lnTo>
                  <a:lnTo>
                    <a:pt x="0" y="113233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94247" y="3738371"/>
            <a:ext cx="1889760" cy="113284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905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Facebook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4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sa</a:t>
            </a:r>
            <a:r>
              <a:rPr kumimoji="0" sz="14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Cassandra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66633" y="3732021"/>
            <a:ext cx="1901189" cy="1145540"/>
            <a:chOff x="7866633" y="3732021"/>
            <a:chExt cx="1901189" cy="1145540"/>
          </a:xfrm>
        </p:grpSpPr>
        <p:sp>
          <p:nvSpPr>
            <p:cNvPr id="20" name="object 20"/>
            <p:cNvSpPr/>
            <p:nvPr/>
          </p:nvSpPr>
          <p:spPr>
            <a:xfrm>
              <a:off x="7872983" y="3738371"/>
              <a:ext cx="1888489" cy="1132840"/>
            </a:xfrm>
            <a:custGeom>
              <a:avLst/>
              <a:gdLst/>
              <a:ahLst/>
              <a:cxnLst/>
              <a:rect l="l" t="t" r="r" b="b"/>
              <a:pathLst>
                <a:path w="1888490" h="1132839">
                  <a:moveTo>
                    <a:pt x="1888235" y="0"/>
                  </a:moveTo>
                  <a:lnTo>
                    <a:pt x="0" y="0"/>
                  </a:lnTo>
                  <a:lnTo>
                    <a:pt x="0" y="1132332"/>
                  </a:lnTo>
                  <a:lnTo>
                    <a:pt x="1888235" y="1132332"/>
                  </a:lnTo>
                  <a:lnTo>
                    <a:pt x="1888235" y="0"/>
                  </a:lnTo>
                  <a:close/>
                </a:path>
              </a:pathLst>
            </a:custGeom>
            <a:solidFill>
              <a:srgbClr val="F3B19A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872983" y="3738371"/>
              <a:ext cx="1888489" cy="1132840"/>
            </a:xfrm>
            <a:custGeom>
              <a:avLst/>
              <a:gdLst/>
              <a:ahLst/>
              <a:cxnLst/>
              <a:rect l="l" t="t" r="r" b="b"/>
              <a:pathLst>
                <a:path w="1888490" h="1132839">
                  <a:moveTo>
                    <a:pt x="0" y="1132332"/>
                  </a:moveTo>
                  <a:lnTo>
                    <a:pt x="1888235" y="1132332"/>
                  </a:lnTo>
                  <a:lnTo>
                    <a:pt x="1888235" y="0"/>
                  </a:lnTo>
                  <a:lnTo>
                    <a:pt x="0" y="0"/>
                  </a:lnTo>
                  <a:lnTo>
                    <a:pt x="0" y="113233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72983" y="3738371"/>
            <a:ext cx="1888489" cy="113284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Amazone</a:t>
            </a:r>
            <a:r>
              <a:rPr kumimoji="0" sz="14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avec</a:t>
            </a:r>
            <a:r>
              <a:rPr kumimoji="0" sz="14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sa</a:t>
            </a:r>
            <a:r>
              <a:rPr kumimoji="0" sz="14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ts val="1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1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DynamoDB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451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3911" y="345947"/>
            <a:ext cx="659892" cy="650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spc="-10" dirty="0"/>
              <a:t>C’est</a:t>
            </a:r>
            <a:r>
              <a:rPr sz="1600" spc="-35" dirty="0"/>
              <a:t> </a:t>
            </a:r>
            <a:r>
              <a:rPr sz="1600" dirty="0"/>
              <a:t>quoi</a:t>
            </a:r>
            <a:r>
              <a:rPr sz="1600" spc="-25" dirty="0"/>
              <a:t> </a:t>
            </a:r>
            <a:r>
              <a:rPr sz="1600" dirty="0"/>
              <a:t>une</a:t>
            </a:r>
            <a:r>
              <a:rPr sz="1600" spc="-30" dirty="0"/>
              <a:t> </a:t>
            </a:r>
            <a:r>
              <a:rPr sz="1600" dirty="0"/>
              <a:t>BD</a:t>
            </a:r>
            <a:r>
              <a:rPr sz="1600" spc="-25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98982" y="1599387"/>
            <a:ext cx="10558145" cy="2674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spcBef>
                <a:spcPts val="95"/>
              </a:spcBef>
            </a:pPr>
            <a:r>
              <a:rPr spc="-10" dirty="0" err="1"/>
              <a:t>Avantages</a:t>
            </a:r>
            <a:r>
              <a:rPr spc="-55" dirty="0"/>
              <a:t> </a:t>
            </a:r>
            <a:r>
              <a:rPr dirty="0"/>
              <a:t>du</a:t>
            </a:r>
            <a:r>
              <a:rPr spc="-45" dirty="0"/>
              <a:t> </a:t>
            </a:r>
            <a:r>
              <a:rPr spc="-10" dirty="0"/>
              <a:t>NoSQL</a:t>
            </a:r>
          </a:p>
          <a:p>
            <a:pPr marL="299085" indent="-286385" algn="just">
              <a:spcBef>
                <a:spcPts val="1614"/>
              </a:spcBef>
              <a:buFont typeface="Wingdings"/>
              <a:buChar char=""/>
              <a:tabLst>
                <a:tab pos="299085" algn="l"/>
              </a:tabLst>
            </a:pPr>
            <a:r>
              <a:rPr lang="fr-FR" b="0" dirty="0">
                <a:solidFill>
                  <a:srgbClr val="555555"/>
                </a:solidFill>
              </a:rPr>
              <a:t>Les</a:t>
            </a:r>
            <a:r>
              <a:rPr lang="fr-FR" b="0">
                <a:solidFill>
                  <a:srgbClr val="555555"/>
                </a:solidFill>
              </a:rPr>
              <a:t> bases NoSQL </a:t>
            </a:r>
            <a:r>
              <a:rPr lang="fr-FR" b="0" dirty="0">
                <a:solidFill>
                  <a:srgbClr val="555555"/>
                </a:solidFill>
              </a:rPr>
              <a:t>proposent</a:t>
            </a:r>
            <a:r>
              <a:rPr lang="fr-FR" b="0">
                <a:solidFill>
                  <a:srgbClr val="555555"/>
                </a:solidFill>
              </a:rPr>
              <a:t> </a:t>
            </a:r>
            <a:r>
              <a:rPr lang="fr-FR" b="0" dirty="0">
                <a:solidFill>
                  <a:srgbClr val="555555"/>
                </a:solidFill>
              </a:rPr>
              <a:t>différents </a:t>
            </a:r>
            <a:r>
              <a:rPr lang="fr-FR" b="0">
                <a:solidFill>
                  <a:srgbClr val="555555"/>
                </a:solidFill>
              </a:rPr>
              <a:t>modèles (clé-valeur</a:t>
            </a:r>
            <a:r>
              <a:rPr lang="fr-FR" b="0" dirty="0">
                <a:solidFill>
                  <a:srgbClr val="555555"/>
                </a:solidFill>
              </a:rPr>
              <a:t>,</a:t>
            </a:r>
            <a:r>
              <a:rPr lang="fr-FR" b="0">
                <a:solidFill>
                  <a:srgbClr val="555555"/>
                </a:solidFill>
              </a:rPr>
              <a:t> </a:t>
            </a:r>
            <a:r>
              <a:rPr lang="fr-FR" b="0" dirty="0">
                <a:solidFill>
                  <a:srgbClr val="555555"/>
                </a:solidFill>
              </a:rPr>
              <a:t>documents, colonnes, graphes</a:t>
            </a:r>
            <a:r>
              <a:rPr lang="fr-FR" b="0">
                <a:solidFill>
                  <a:srgbClr val="555555"/>
                </a:solidFill>
              </a:rPr>
              <a:t>), souvent plus simples à mettre en œuvre</a:t>
            </a:r>
            <a:r>
              <a:rPr lang="fr-FR" b="0" dirty="0">
                <a:solidFill>
                  <a:srgbClr val="555555"/>
                </a:solidFill>
              </a:rPr>
              <a:t> </a:t>
            </a:r>
            <a:r>
              <a:rPr lang="fr-FR" b="0">
                <a:solidFill>
                  <a:srgbClr val="555555"/>
                </a:solidFill>
              </a:rPr>
              <a:t>que </a:t>
            </a:r>
            <a:r>
              <a:rPr lang="fr-FR" b="0" dirty="0">
                <a:solidFill>
                  <a:srgbClr val="555555"/>
                </a:solidFill>
              </a:rPr>
              <a:t>le modèle </a:t>
            </a:r>
            <a:r>
              <a:rPr lang="fr-FR" b="0">
                <a:solidFill>
                  <a:srgbClr val="555555"/>
                </a:solidFill>
              </a:rPr>
              <a:t>relationnel</a:t>
            </a:r>
            <a:r>
              <a:rPr b="0" spc="-1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endParaRPr b="0" spc="-10" dirty="0">
              <a:solidFill>
                <a:srgbClr val="555555"/>
              </a:solidFill>
            </a:endParaRPr>
          </a:p>
          <a:p>
            <a:pPr marL="299085" indent="-286385" algn="just">
              <a:spcBef>
                <a:spcPts val="1560"/>
              </a:spcBef>
              <a:buFont typeface="Wingdings"/>
              <a:buChar char=""/>
              <a:tabLst>
                <a:tab pos="299085" algn="l"/>
              </a:tabLst>
            </a:pP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Il</a:t>
            </a:r>
            <a:r>
              <a:rPr b="0" spc="-50" dirty="0">
                <a:solidFill>
                  <a:srgbClr val="555555"/>
                </a:solidFill>
              </a:rPr>
              <a:t> </a:t>
            </a:r>
            <a:r>
              <a:rPr b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b="0" spc="-35">
                <a:solidFill>
                  <a:srgbClr val="555555"/>
                </a:solidFill>
              </a:rPr>
              <a:t> </a:t>
            </a:r>
            <a:r>
              <a:rPr b="0">
                <a:solidFill>
                  <a:srgbClr val="555555"/>
                </a:solidFill>
                <a:latin typeface="Calibri"/>
                <a:cs typeface="Calibri"/>
              </a:rPr>
              <a:t>très</a:t>
            </a:r>
            <a:r>
              <a:rPr b="0" spc="-2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facile</a:t>
            </a:r>
            <a:r>
              <a:rPr b="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555555"/>
                </a:solidFill>
                <a:latin typeface="Calibri"/>
                <a:cs typeface="Calibri"/>
              </a:rPr>
              <a:t>d’étendre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55555"/>
                </a:solidFill>
              </a:rPr>
              <a:t>NoSQL</a:t>
            </a:r>
            <a:r>
              <a:rPr spc="-20" dirty="0">
                <a:solidFill>
                  <a:srgbClr val="555555"/>
                </a:solidFill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rajoutant,</a:t>
            </a:r>
            <a:r>
              <a:rPr b="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tout</a:t>
            </a:r>
            <a:r>
              <a:rPr b="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simplement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serveurs,</a:t>
            </a:r>
            <a:endParaRPr b="0" spc="-10" dirty="0">
              <a:solidFill>
                <a:srgbClr val="555555"/>
              </a:solidFill>
            </a:endParaRPr>
          </a:p>
          <a:p>
            <a:pPr marL="299085" indent="-286385" algn="just">
              <a:spcBef>
                <a:spcPts val="1560"/>
              </a:spcBef>
              <a:buFont typeface="Wingdings"/>
              <a:buChar char=""/>
              <a:tabLst>
                <a:tab pos="299085" algn="l"/>
              </a:tabLst>
            </a:pPr>
            <a:r>
              <a:rPr lang="fr-FR" b="0">
                <a:solidFill>
                  <a:srgbClr val="555555"/>
                </a:solidFill>
              </a:rPr>
              <a:t>Les données sont regroupées par </a:t>
            </a:r>
            <a:r>
              <a:rPr lang="fr-FR" b="0" dirty="0">
                <a:solidFill>
                  <a:srgbClr val="555555"/>
                </a:solidFill>
              </a:rPr>
              <a:t>unité</a:t>
            </a:r>
            <a:r>
              <a:rPr lang="fr-FR" b="0">
                <a:solidFill>
                  <a:srgbClr val="555555"/>
                </a:solidFill>
              </a:rPr>
              <a:t> </a:t>
            </a:r>
            <a:r>
              <a:rPr lang="fr-FR" b="0" dirty="0">
                <a:solidFill>
                  <a:srgbClr val="555555"/>
                </a:solidFill>
              </a:rPr>
              <a:t>logique (un document contient toutes les informations liées</a:t>
            </a:r>
            <a:r>
              <a:rPr lang="fr-FR" b="0">
                <a:solidFill>
                  <a:srgbClr val="555555"/>
                </a:solidFill>
              </a:rPr>
              <a:t>), ce qui </a:t>
            </a:r>
            <a:r>
              <a:rPr lang="fr-FR" b="0" dirty="0">
                <a:solidFill>
                  <a:srgbClr val="555555"/>
                </a:solidFill>
              </a:rPr>
              <a:t>réduit</a:t>
            </a:r>
            <a:r>
              <a:rPr lang="fr-FR" b="0">
                <a:solidFill>
                  <a:srgbClr val="555555"/>
                </a:solidFill>
              </a:rPr>
              <a:t> </a:t>
            </a:r>
            <a:r>
              <a:rPr lang="fr-FR" b="0" dirty="0">
                <a:solidFill>
                  <a:srgbClr val="555555"/>
                </a:solidFill>
              </a:rPr>
              <a:t>les </a:t>
            </a:r>
            <a:r>
              <a:rPr lang="fr-FR" b="0">
                <a:solidFill>
                  <a:srgbClr val="555555"/>
                </a:solidFill>
              </a:rPr>
              <a:t>jointures,</a:t>
            </a:r>
            <a:endParaRPr b="0" spc="-50" dirty="0">
              <a:solidFill>
                <a:srgbClr val="555555"/>
              </a:solidFill>
            </a:endParaRPr>
          </a:p>
          <a:p>
            <a:pPr marL="299085" marR="5715" indent="-287020" algn="just">
              <a:spcBef>
                <a:spcPts val="605"/>
              </a:spcBef>
              <a:buFont typeface="Wingdings"/>
              <a:buChar char=""/>
              <a:tabLst>
                <a:tab pos="299085" algn="l"/>
              </a:tabLst>
            </a:pPr>
            <a:r>
              <a:rPr dirty="0">
                <a:solidFill>
                  <a:srgbClr val="555555"/>
                </a:solidFill>
              </a:rPr>
              <a:t>Par</a:t>
            </a:r>
            <a:r>
              <a:rPr spc="50" dirty="0">
                <a:solidFill>
                  <a:srgbClr val="555555"/>
                </a:solidFill>
              </a:rPr>
              <a:t> </a:t>
            </a:r>
            <a:r>
              <a:rPr dirty="0">
                <a:solidFill>
                  <a:srgbClr val="555555"/>
                </a:solidFill>
              </a:rPr>
              <a:t>exemple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,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avoir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informations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d’un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client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passé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b="0" spc="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commande</a:t>
            </a:r>
            <a:r>
              <a:rPr b="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donnée,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on</a:t>
            </a:r>
            <a:r>
              <a:rPr b="0" spc="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aura</a:t>
            </a:r>
            <a:r>
              <a:rPr b="0" spc="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pas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besoin</a:t>
            </a:r>
            <a:r>
              <a:rPr b="0" spc="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passer</a:t>
            </a:r>
            <a:r>
              <a:rPr b="0" spc="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25" dirty="0">
                <a:solidFill>
                  <a:srgbClr val="555555"/>
                </a:solidFill>
                <a:latin typeface="Calibri"/>
                <a:cs typeface="Calibri"/>
              </a:rPr>
              <a:t>par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b="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jointures</a:t>
            </a:r>
            <a:r>
              <a:rPr b="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entre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tables</a:t>
            </a:r>
            <a:r>
              <a:rPr b="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client</a:t>
            </a:r>
            <a:r>
              <a:rPr b="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b="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555555"/>
                </a:solidFill>
                <a:latin typeface="Calibri"/>
                <a:cs typeface="Calibri"/>
              </a:rPr>
              <a:t>commande.</a:t>
            </a:r>
            <a:endParaRPr b="0" spc="-10" dirty="0">
              <a:solidFill>
                <a:srgbClr val="555555"/>
              </a:solidFill>
            </a:endParaRPr>
          </a:p>
        </p:txBody>
      </p:sp>
      <p:sp>
        <p:nvSpPr>
          <p:cNvPr id="8" name="object 5"/>
          <p:cNvSpPr txBox="1">
            <a:spLocks/>
          </p:cNvSpPr>
          <p:nvPr/>
        </p:nvSpPr>
        <p:spPr>
          <a:xfrm>
            <a:off x="826974" y="4438015"/>
            <a:ext cx="10558145" cy="4020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0">
              <a:defRPr sz="1600" b="1" i="0">
                <a:solidFill>
                  <a:srgbClr val="FF7800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Inconvénients</a:t>
            </a:r>
            <a:r>
              <a:rPr kumimoji="0" lang="fr-FR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du</a:t>
            </a:r>
            <a:r>
              <a:rPr kumimoji="0" lang="fr-FR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1" i="0" u="none" strike="noStrike" kern="0" cap="none" spc="-10" normalizeH="0" baseline="0" noProof="0" dirty="0" err="1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NoSQL</a:t>
            </a:r>
            <a:endParaRPr kumimoji="0" lang="fr-FR" sz="1600" b="1" i="0" u="none" strike="noStrike" kern="0" cap="none" spc="-10" normalizeH="0" baseline="0" noProof="0" dirty="0">
              <a:ln>
                <a:noFill/>
              </a:ln>
              <a:solidFill>
                <a:srgbClr val="FF78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99085" marR="5080" lvl="0" indent="-287020" defTabSz="914400" eaLnBrk="1" fontAlgn="auto" latinLnBrk="0" hangingPunct="1">
              <a:lnSpc>
                <a:spcPct val="150000"/>
              </a:lnSpc>
              <a:spcBef>
                <a:spcPts val="65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Absence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du concept de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clé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étrangère,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qui veut dire</a:t>
            </a:r>
            <a:r>
              <a:rPr kumimoji="0" lang="fr-FR" sz="1600" b="0" i="0" u="none" strike="noStrike" kern="0" cap="none" spc="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qu’il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n’y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pas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mécanisme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pour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vérifier la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cohérence des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données</a:t>
            </a:r>
            <a:r>
              <a:rPr kumimoji="0" lang="fr-FR" sz="1600" b="0" i="0" u="none" strike="noStrike" kern="0" cap="none" spc="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il</a:t>
            </a:r>
            <a:r>
              <a:rPr kumimoji="0" lang="fr-FR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faut</a:t>
            </a:r>
            <a:r>
              <a:rPr kumimoji="0" lang="fr-FR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faire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niveau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</a:t>
            </a:r>
            <a:r>
              <a:rPr kumimoji="0" lang="fr-FR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</a:t>
            </a:r>
            <a:r>
              <a:rPr kumimoji="0" lang="fr-FR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programmation),</a:t>
            </a: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lang="fr-F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NoSQL</a:t>
            </a:r>
            <a:r>
              <a:rPr kumimoji="0" lang="fr-FR" sz="1600" b="1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n’est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pas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adaptable</a:t>
            </a:r>
            <a:r>
              <a:rPr kumimoji="0" lang="fr-FR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aux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applications</a:t>
            </a:r>
            <a:r>
              <a:rPr kumimoji="0" lang="fr-FR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basées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sur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</a:t>
            </a:r>
            <a:r>
              <a:rPr kumimoji="0" lang="fr-FR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transactions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sécurisées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fiables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(Gestion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bancaire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exemple),</a:t>
            </a: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299085" algn="l"/>
              </a:tabLst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Les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requêtes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SQL</a:t>
            </a:r>
            <a:r>
              <a:rPr kumimoji="0" lang="fr-FR" sz="16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et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NoSQL</a:t>
            </a:r>
            <a:r>
              <a:rPr kumimoji="0" lang="fr-FR" sz="1600" b="1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</a:t>
            </a:r>
            <a:r>
              <a:rPr kumimoji="0" lang="fr-FR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sont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pas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compatibles.</a:t>
            </a:r>
          </a:p>
        </p:txBody>
      </p:sp>
    </p:spTree>
    <p:extLst>
      <p:ext uri="{BB962C8B-B14F-4D97-AF65-F5344CB8AC3E}">
        <p14:creationId xmlns:p14="http://schemas.microsoft.com/office/powerpoint/2010/main" val="57205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" y="0"/>
            <a:ext cx="6489700" cy="6858000"/>
            <a:chOff x="3048" y="0"/>
            <a:chExt cx="64897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" y="0"/>
              <a:ext cx="648942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1" y="195071"/>
              <a:ext cx="1027176" cy="10149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411" rIns="0" bIns="0" rtlCol="0">
            <a:spAutoFit/>
          </a:bodyPr>
          <a:lstStyle/>
          <a:p>
            <a:pPr marL="7970520">
              <a:lnSpc>
                <a:spcPct val="100000"/>
              </a:lnSpc>
              <a:spcBef>
                <a:spcPts val="95"/>
              </a:spcBef>
            </a:pPr>
            <a:r>
              <a:rPr dirty="0"/>
              <a:t>CHAPITRE</a:t>
            </a:r>
            <a:r>
              <a:rPr spc="-105" dirty="0"/>
              <a:t> </a:t>
            </a:r>
            <a:r>
              <a:rPr spc="-5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33209" y="1103503"/>
            <a:ext cx="491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824251"/>
            <a:ext cx="5262245" cy="17240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Définir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concept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1" i="0" u="none" strike="noStrike" kern="0" cap="none" spc="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1" i="0" u="none" strike="noStrike" kern="0" cap="none" spc="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relationnelle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caractéristiques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5600" marR="5080" lvl="0" indent="-342900" defTabSz="914400" eaLnBrk="1" fontAlgn="auto" latinLnBrk="0" hangingPunct="1">
              <a:lnSpc>
                <a:spcPts val="173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56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(document,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clé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valeur,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colonne,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graphe)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différents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050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53044" y="345947"/>
            <a:ext cx="2771140" cy="2202815"/>
            <a:chOff x="7853044" y="345947"/>
            <a:chExt cx="2771140" cy="22028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56219" y="2100071"/>
              <a:ext cx="2554224" cy="4450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856219" y="2100071"/>
              <a:ext cx="2554605" cy="445134"/>
            </a:xfrm>
            <a:custGeom>
              <a:avLst/>
              <a:gdLst/>
              <a:ahLst/>
              <a:cxnLst/>
              <a:rect l="l" t="t" r="r" b="b"/>
              <a:pathLst>
                <a:path w="2554604" h="445135">
                  <a:moveTo>
                    <a:pt x="0" y="74167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8" y="0"/>
                  </a:lnTo>
                  <a:lnTo>
                    <a:pt x="2480055" y="0"/>
                  </a:lnTo>
                  <a:lnTo>
                    <a:pt x="2508950" y="5820"/>
                  </a:lnTo>
                  <a:lnTo>
                    <a:pt x="2532522" y="21701"/>
                  </a:lnTo>
                  <a:lnTo>
                    <a:pt x="2548403" y="45273"/>
                  </a:lnTo>
                  <a:lnTo>
                    <a:pt x="2554224" y="74167"/>
                  </a:lnTo>
                  <a:lnTo>
                    <a:pt x="2554224" y="370839"/>
                  </a:lnTo>
                  <a:lnTo>
                    <a:pt x="2548403" y="399734"/>
                  </a:lnTo>
                  <a:lnTo>
                    <a:pt x="2532522" y="423306"/>
                  </a:lnTo>
                  <a:lnTo>
                    <a:pt x="2508950" y="439187"/>
                  </a:lnTo>
                  <a:lnTo>
                    <a:pt x="2480055" y="445007"/>
                  </a:lnTo>
                  <a:lnTo>
                    <a:pt x="74168" y="445007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94650" y="2158110"/>
            <a:ext cx="2276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982" y="1599387"/>
            <a:ext cx="55549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Comparaison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entre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 err="1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1" i="0" u="none" strike="noStrike" kern="0" cap="none" spc="-10" normalizeH="0" baseline="0" noProof="0" dirty="0" err="1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rela</a:t>
            </a:r>
            <a:r>
              <a:rPr kumimoji="0" sz="1600" b="1" i="0" u="none" strike="noStrike" kern="0" cap="none" spc="-10" normalizeH="0" baseline="0" noProof="0" dirty="0" err="1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tionnelles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dirty="0"/>
              <a:t>SQL</a:t>
            </a:r>
            <a:r>
              <a:rPr sz="1600" spc="-10" dirty="0"/>
              <a:t> </a:t>
            </a:r>
            <a:r>
              <a:rPr sz="1600" dirty="0"/>
              <a:t>ou</a:t>
            </a:r>
            <a:r>
              <a:rPr sz="1600" spc="-20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grpSp>
        <p:nvGrpSpPr>
          <p:cNvPr id="10" name="object 10"/>
          <p:cNvGrpSpPr/>
          <p:nvPr/>
        </p:nvGrpSpPr>
        <p:grpSpPr>
          <a:xfrm>
            <a:off x="2198877" y="2098294"/>
            <a:ext cx="2568575" cy="462280"/>
            <a:chOff x="2198877" y="2098294"/>
            <a:chExt cx="2568575" cy="462280"/>
          </a:xfrm>
        </p:grpSpPr>
        <p:sp>
          <p:nvSpPr>
            <p:cNvPr id="11" name="object 11"/>
            <p:cNvSpPr/>
            <p:nvPr/>
          </p:nvSpPr>
          <p:spPr>
            <a:xfrm>
              <a:off x="2205227" y="2104644"/>
              <a:ext cx="2555875" cy="449580"/>
            </a:xfrm>
            <a:custGeom>
              <a:avLst/>
              <a:gdLst/>
              <a:ahLst/>
              <a:cxnLst/>
              <a:rect l="l" t="t" r="r" b="b"/>
              <a:pathLst>
                <a:path w="2555875" h="449580">
                  <a:moveTo>
                    <a:pt x="2480818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79"/>
                  </a:lnTo>
                  <a:lnTo>
                    <a:pt x="2480818" y="449579"/>
                  </a:lnTo>
                  <a:lnTo>
                    <a:pt x="2509992" y="443694"/>
                  </a:lnTo>
                  <a:lnTo>
                    <a:pt x="2533808" y="427640"/>
                  </a:lnTo>
                  <a:lnTo>
                    <a:pt x="2549862" y="403824"/>
                  </a:lnTo>
                  <a:lnTo>
                    <a:pt x="2555748" y="374650"/>
                  </a:lnTo>
                  <a:lnTo>
                    <a:pt x="2555748" y="74929"/>
                  </a:lnTo>
                  <a:lnTo>
                    <a:pt x="2549862" y="45755"/>
                  </a:lnTo>
                  <a:lnTo>
                    <a:pt x="2533808" y="21939"/>
                  </a:lnTo>
                  <a:lnTo>
                    <a:pt x="2509992" y="5885"/>
                  </a:lnTo>
                  <a:lnTo>
                    <a:pt x="248081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205227" y="2104644"/>
              <a:ext cx="2555875" cy="449580"/>
            </a:xfrm>
            <a:custGeom>
              <a:avLst/>
              <a:gdLst/>
              <a:ahLst/>
              <a:cxnLst/>
              <a:rect l="l" t="t" r="r" b="b"/>
              <a:pathLst>
                <a:path w="2555875" h="449580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480818" y="0"/>
                  </a:lnTo>
                  <a:lnTo>
                    <a:pt x="2509992" y="5885"/>
                  </a:lnTo>
                  <a:lnTo>
                    <a:pt x="2533808" y="21939"/>
                  </a:lnTo>
                  <a:lnTo>
                    <a:pt x="2549862" y="45755"/>
                  </a:lnTo>
                  <a:lnTo>
                    <a:pt x="2555748" y="74929"/>
                  </a:lnTo>
                  <a:lnTo>
                    <a:pt x="2555748" y="374650"/>
                  </a:lnTo>
                  <a:lnTo>
                    <a:pt x="2549862" y="403824"/>
                  </a:lnTo>
                  <a:lnTo>
                    <a:pt x="2533808" y="427640"/>
                  </a:lnTo>
                  <a:lnTo>
                    <a:pt x="2509992" y="443694"/>
                  </a:lnTo>
                  <a:lnTo>
                    <a:pt x="2480818" y="449579"/>
                  </a:lnTo>
                  <a:lnTo>
                    <a:pt x="74930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29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77770" y="2165730"/>
            <a:ext cx="200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SQL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327" y="2705100"/>
            <a:ext cx="5294630" cy="108966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représentées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sous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forme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tables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12470" marR="705485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composées 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nombre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lignes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Elles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respectent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schéma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stricte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standard.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8296" y="2721864"/>
            <a:ext cx="5288280" cy="1073150"/>
          </a:xfrm>
          <a:prstGeom prst="rect">
            <a:avLst/>
          </a:prstGeom>
          <a:ln w="12700">
            <a:solidFill>
              <a:srgbClr val="F6B89F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43815" marR="0" lvl="0" indent="0" algn="ctr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représentées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sous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forme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collections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5" marR="0" lvl="0" indent="0" algn="ctr" defTabSz="91440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paires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clé-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valeur,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documents,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graphes,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etc.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Elles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possèdent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définitions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schéma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standard.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9327" y="3924300"/>
            <a:ext cx="5294630" cy="116332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L’augmentation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est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gérée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l’augmentation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35" marR="0" lvl="0" indent="0" algn="ctr" defTabSz="91440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processeur,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RAM,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SSD, etc.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seul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serveur: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Scalabilité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(mise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l’échelle)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verticale.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8296" y="3924300"/>
            <a:ext cx="5288280" cy="2217915"/>
          </a:xfrm>
          <a:prstGeom prst="rect">
            <a:avLst/>
          </a:prstGeom>
          <a:ln w="12700">
            <a:solidFill>
              <a:srgbClr val="F6B89D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250190" marR="244475" lvl="0" indent="0" algn="ctr" defTabSz="914400" eaLnBrk="1" fontAlgn="auto" latinLnBrk="0" hangingPunct="1">
              <a:lnSpc>
                <a:spcPct val="1501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L’augmentation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est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gérée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plutôt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l’ajout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de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serveurs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supplémentaires</a:t>
            </a:r>
            <a:r>
              <a:rPr kumimoji="0" sz="1600" b="0" i="0" u="none" strike="noStrike" kern="0" cap="none" spc="2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Scalabilité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(mise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l’échelle) </a:t>
            </a:r>
            <a:r>
              <a:rPr kumimoji="0" sz="1600" b="0" i="0" u="none" strike="noStrike" kern="0" cap="none" spc="-1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horizontale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.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</a:p>
          <a:p>
            <a:pPr marL="250190" marR="244475" lvl="0" indent="0" algn="ctr" defTabSz="914400" eaLnBrk="1" fontAlgn="auto" latinLnBrk="0" hangingPunct="1">
              <a:lnSpc>
                <a:spcPct val="1501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L’augmentation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est</a:t>
            </a:r>
            <a:r>
              <a:rPr kumimoji="0" lang="fr-FR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automatique,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si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serveur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tombe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panne,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il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remplace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automatiquement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</a:t>
            </a:r>
            <a:r>
              <a:rPr kumimoji="0" lang="fr-FR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autre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serveur</a:t>
            </a:r>
            <a:r>
              <a:rPr kumimoji="0" lang="fr-FR" sz="1600" b="0" i="0" u="none" strike="noStrike" kern="0" cap="none" spc="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sans</a:t>
            </a:r>
            <a:r>
              <a:rPr kumimoji="0" lang="fr-FR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interruption</a:t>
            </a:r>
            <a:r>
              <a:rPr kumimoji="0" lang="fr-FR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lang="fr-FR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service.</a:t>
            </a: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66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10485" y="345947"/>
            <a:ext cx="8513445" cy="2109470"/>
            <a:chOff x="2110485" y="345947"/>
            <a:chExt cx="8513445" cy="2109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16835" y="1999487"/>
              <a:ext cx="2554605" cy="449580"/>
            </a:xfrm>
            <a:custGeom>
              <a:avLst/>
              <a:gdLst/>
              <a:ahLst/>
              <a:cxnLst/>
              <a:rect l="l" t="t" r="r" b="b"/>
              <a:pathLst>
                <a:path w="2554604" h="449580">
                  <a:moveTo>
                    <a:pt x="2479293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374650"/>
                  </a:lnTo>
                  <a:lnTo>
                    <a:pt x="5885" y="403824"/>
                  </a:lnTo>
                  <a:lnTo>
                    <a:pt x="21939" y="427640"/>
                  </a:lnTo>
                  <a:lnTo>
                    <a:pt x="45755" y="443694"/>
                  </a:lnTo>
                  <a:lnTo>
                    <a:pt x="74930" y="449579"/>
                  </a:lnTo>
                  <a:lnTo>
                    <a:pt x="2479293" y="449579"/>
                  </a:lnTo>
                  <a:lnTo>
                    <a:pt x="2508468" y="443694"/>
                  </a:lnTo>
                  <a:lnTo>
                    <a:pt x="2532284" y="427640"/>
                  </a:lnTo>
                  <a:lnTo>
                    <a:pt x="2548338" y="403824"/>
                  </a:lnTo>
                  <a:lnTo>
                    <a:pt x="2554224" y="374650"/>
                  </a:lnTo>
                  <a:lnTo>
                    <a:pt x="2554224" y="74929"/>
                  </a:lnTo>
                  <a:lnTo>
                    <a:pt x="2548338" y="45755"/>
                  </a:lnTo>
                  <a:lnTo>
                    <a:pt x="2532284" y="21939"/>
                  </a:lnTo>
                  <a:lnTo>
                    <a:pt x="2508468" y="5885"/>
                  </a:lnTo>
                  <a:lnTo>
                    <a:pt x="247929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116835" y="1999487"/>
              <a:ext cx="2554605" cy="449580"/>
            </a:xfrm>
            <a:custGeom>
              <a:avLst/>
              <a:gdLst/>
              <a:ahLst/>
              <a:cxnLst/>
              <a:rect l="l" t="t" r="r" b="b"/>
              <a:pathLst>
                <a:path w="2554604" h="449580">
                  <a:moveTo>
                    <a:pt x="0" y="74929"/>
                  </a:moveTo>
                  <a:lnTo>
                    <a:pt x="5885" y="45755"/>
                  </a:lnTo>
                  <a:lnTo>
                    <a:pt x="21939" y="21939"/>
                  </a:lnTo>
                  <a:lnTo>
                    <a:pt x="45755" y="5885"/>
                  </a:lnTo>
                  <a:lnTo>
                    <a:pt x="74930" y="0"/>
                  </a:lnTo>
                  <a:lnTo>
                    <a:pt x="2479293" y="0"/>
                  </a:lnTo>
                  <a:lnTo>
                    <a:pt x="2508468" y="5885"/>
                  </a:lnTo>
                  <a:lnTo>
                    <a:pt x="2532284" y="21939"/>
                  </a:lnTo>
                  <a:lnTo>
                    <a:pt x="2548338" y="45755"/>
                  </a:lnTo>
                  <a:lnTo>
                    <a:pt x="2554224" y="74929"/>
                  </a:lnTo>
                  <a:lnTo>
                    <a:pt x="2554224" y="374650"/>
                  </a:lnTo>
                  <a:lnTo>
                    <a:pt x="2548338" y="403824"/>
                  </a:lnTo>
                  <a:lnTo>
                    <a:pt x="2532284" y="427640"/>
                  </a:lnTo>
                  <a:lnTo>
                    <a:pt x="2508468" y="443694"/>
                  </a:lnTo>
                  <a:lnTo>
                    <a:pt x="2479293" y="449579"/>
                  </a:lnTo>
                  <a:lnTo>
                    <a:pt x="74930" y="449579"/>
                  </a:lnTo>
                  <a:lnTo>
                    <a:pt x="45755" y="443694"/>
                  </a:lnTo>
                  <a:lnTo>
                    <a:pt x="21939" y="427640"/>
                  </a:lnTo>
                  <a:lnTo>
                    <a:pt x="5885" y="403824"/>
                  </a:lnTo>
                  <a:lnTo>
                    <a:pt x="0" y="374650"/>
                  </a:lnTo>
                  <a:lnTo>
                    <a:pt x="0" y="74929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88023" y="3902964"/>
            <a:ext cx="5297805" cy="1024255"/>
          </a:xfrm>
          <a:prstGeom prst="rect">
            <a:avLst/>
          </a:prstGeom>
          <a:ln w="12700">
            <a:solidFill>
              <a:srgbClr val="F6B89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2075" marR="85090" lvl="0" indent="0" defTabSz="914400" eaLnBrk="1" fontAlgn="auto" latinLnBrk="0" hangingPunct="1">
              <a:lnSpc>
                <a:spcPct val="1502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Recommandée</a:t>
            </a:r>
            <a:r>
              <a:rPr kumimoji="0" sz="1600" b="0" i="0" u="none" strike="noStrike" kern="0" cap="none" spc="1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sz="1600" b="0" i="0" u="none" strike="noStrike" kern="0" cap="none" spc="1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1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1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semi</a:t>
            </a:r>
            <a:r>
              <a:rPr kumimoji="0" sz="1600" b="0" i="0" u="none" strike="noStrike" kern="0" cap="none" spc="1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structurées</a:t>
            </a:r>
            <a:r>
              <a:rPr kumimoji="0" sz="1600" b="0" i="0" u="none" strike="noStrike" kern="0" cap="none" spc="1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ou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même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structurées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dirty="0"/>
              <a:t>SQL</a:t>
            </a:r>
            <a:r>
              <a:rPr sz="1600" spc="-10" dirty="0"/>
              <a:t> </a:t>
            </a:r>
            <a:r>
              <a:rPr sz="1600" dirty="0"/>
              <a:t>ou</a:t>
            </a:r>
            <a:r>
              <a:rPr sz="1600" spc="-20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9" name="object 9"/>
          <p:cNvSpPr txBox="1"/>
          <p:nvPr/>
        </p:nvSpPr>
        <p:spPr>
          <a:xfrm>
            <a:off x="719327" y="3890771"/>
            <a:ext cx="5294630" cy="1040028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95250" rIns="0" bIns="0" rtlCol="0">
            <a:spAutoFit/>
          </a:bodyPr>
          <a:lstStyle/>
          <a:p>
            <a:pPr marL="92075" marR="84455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Recommandée</a:t>
            </a:r>
            <a:r>
              <a:rPr kumimoji="0" lang="fr-FR" sz="1600" b="0" i="0" u="none" strike="noStrike" kern="0" cap="none" spc="1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lang="fr-FR" sz="1600" b="0" i="0" u="none" strike="noStrike" kern="0" cap="none" spc="1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lang="fr-FR" sz="1600" b="0" i="0" u="none" strike="noStrike" kern="0" cap="none" spc="1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 structurées</a:t>
            </a:r>
          </a:p>
          <a:p>
            <a:pPr marL="92075" marR="84455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 dirty="0">
              <a:ln>
                <a:noFill/>
              </a:ln>
              <a:solidFill>
                <a:srgbClr val="555555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2075" marR="84455" lvl="0" indent="0" defTabSz="91440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327" y="5170932"/>
            <a:ext cx="5294630" cy="1222375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211454" marR="203835" lvl="0" indent="0" algn="ctr" defTabSz="914400" eaLnBrk="1" fontAlgn="auto" latinLnBrk="0" hangingPunct="1">
              <a:lnSpc>
                <a:spcPct val="1501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appropriée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applications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transactionnelles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usage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intensif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étant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stable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assurant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l’atomicité, l’intégrité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cohérence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Georgia"/>
                <a:cs typeface="Georgia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6020" y="5170932"/>
            <a:ext cx="5297805" cy="955389"/>
          </a:xfrm>
          <a:prstGeom prst="rect">
            <a:avLst/>
          </a:prstGeom>
          <a:ln w="12700">
            <a:solidFill>
              <a:srgbClr val="F6B89F"/>
            </a:solidFill>
          </a:ln>
        </p:spPr>
        <p:txBody>
          <a:bodyPr vert="horz" wrap="square" lIns="0" tIns="214629" rIns="0" bIns="0" rtlCol="0">
            <a:spAutoFit/>
          </a:bodyPr>
          <a:lstStyle/>
          <a:p>
            <a:pPr marL="91440" marR="85725" lvl="0" indent="0" defTabSz="914400" eaLnBrk="1" fontAlgn="auto" latinLnBrk="0" hangingPunct="1">
              <a:lnSpc>
                <a:spcPct val="150000"/>
              </a:lnSpc>
              <a:spcBef>
                <a:spcPts val="1689"/>
              </a:spcBef>
              <a:spcAft>
                <a:spcPts val="0"/>
              </a:spcAft>
              <a:buClrTx/>
              <a:buSzTx/>
              <a:buFontTx/>
              <a:buNone/>
              <a:tabLst>
                <a:tab pos="1201420" algn="l"/>
                <a:tab pos="2080260" algn="l"/>
                <a:tab pos="2647315" algn="l"/>
                <a:tab pos="3051175" algn="l"/>
                <a:tab pos="4110990" algn="l"/>
                <a:tab pos="4493260" algn="l"/>
              </a:tabLst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Hautement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préférée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ensembles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 </a:t>
            </a:r>
            <a:r>
              <a:rPr kumimoji="0" sz="1600" b="0" i="0" u="none" strike="noStrike" kern="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volumineux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9327" y="2609088"/>
            <a:ext cx="5294630" cy="1024255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2075" marR="85725" lvl="0" indent="0" defTabSz="914400" eaLnBrk="1" fontAlgn="auto" latinLnBrk="0" hangingPunct="1">
              <a:lnSpc>
                <a:spcPct val="1501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Assure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l’intégrité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assurant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conformité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ACID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(Atomicité,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Cohérence,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Isolation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Durabilité)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8023" y="2609088"/>
            <a:ext cx="5297805" cy="854721"/>
          </a:xfrm>
          <a:prstGeom prst="rect">
            <a:avLst/>
          </a:prstGeom>
          <a:ln w="12700">
            <a:solidFill>
              <a:srgbClr val="F6B89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92075" marR="83185" lvl="0" indent="0" defTabSz="914400" eaLnBrk="1" fontAlgn="auto" latinLnBrk="0" hangingPunct="1">
              <a:lnSpc>
                <a:spcPct val="150100"/>
              </a:lnSpc>
              <a:spcBef>
                <a:spcPts val="9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Repose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(Basically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Available,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Soft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state, Eventualy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Consistent)</a:t>
            </a:r>
            <a:r>
              <a:rPr kumimoji="0" sz="1600" b="0" i="0" u="none" strike="noStrike" kern="0" cap="none" spc="2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(voir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slide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r>
              <a:rPr kumimoji="0" lang="fr-FR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0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9123" y="2059051"/>
            <a:ext cx="2008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SQL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22920" y="2000885"/>
            <a:ext cx="2562225" cy="451484"/>
            <a:chOff x="7622920" y="2000885"/>
            <a:chExt cx="2562225" cy="451484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6095" y="2004060"/>
              <a:ext cx="2555748" cy="44500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626095" y="2004060"/>
              <a:ext cx="2555875" cy="445134"/>
            </a:xfrm>
            <a:custGeom>
              <a:avLst/>
              <a:gdLst/>
              <a:ahLst/>
              <a:cxnLst/>
              <a:rect l="l" t="t" r="r" b="b"/>
              <a:pathLst>
                <a:path w="2555875" h="445135">
                  <a:moveTo>
                    <a:pt x="0" y="74167"/>
                  </a:moveTo>
                  <a:lnTo>
                    <a:pt x="5820" y="45273"/>
                  </a:lnTo>
                  <a:lnTo>
                    <a:pt x="21701" y="21701"/>
                  </a:lnTo>
                  <a:lnTo>
                    <a:pt x="45273" y="5820"/>
                  </a:lnTo>
                  <a:lnTo>
                    <a:pt x="74168" y="0"/>
                  </a:lnTo>
                  <a:lnTo>
                    <a:pt x="2481579" y="0"/>
                  </a:lnTo>
                  <a:lnTo>
                    <a:pt x="2510474" y="5820"/>
                  </a:lnTo>
                  <a:lnTo>
                    <a:pt x="2534046" y="21701"/>
                  </a:lnTo>
                  <a:lnTo>
                    <a:pt x="2549927" y="45273"/>
                  </a:lnTo>
                  <a:lnTo>
                    <a:pt x="2555748" y="74167"/>
                  </a:lnTo>
                  <a:lnTo>
                    <a:pt x="2555748" y="370839"/>
                  </a:lnTo>
                  <a:lnTo>
                    <a:pt x="2549927" y="399734"/>
                  </a:lnTo>
                  <a:lnTo>
                    <a:pt x="2534046" y="423306"/>
                  </a:lnTo>
                  <a:lnTo>
                    <a:pt x="2510474" y="439187"/>
                  </a:lnTo>
                  <a:lnTo>
                    <a:pt x="2481579" y="445007"/>
                  </a:lnTo>
                  <a:lnTo>
                    <a:pt x="74168" y="445007"/>
                  </a:lnTo>
                  <a:lnTo>
                    <a:pt x="45273" y="439187"/>
                  </a:lnTo>
                  <a:lnTo>
                    <a:pt x="21701" y="423306"/>
                  </a:lnTo>
                  <a:lnTo>
                    <a:pt x="5820" y="399734"/>
                  </a:lnTo>
                  <a:lnTo>
                    <a:pt x="0" y="370839"/>
                  </a:lnTo>
                  <a:lnTo>
                    <a:pt x="0" y="7416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65542" y="2061159"/>
            <a:ext cx="2278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8982" y="1602689"/>
            <a:ext cx="5554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Comparaison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entre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traditionnelles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887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3911" y="345947"/>
            <a:ext cx="659892" cy="6507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</a:t>
            </a:r>
            <a:endParaRPr sz="1800" dirty="0"/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dirty="0"/>
              <a:t>SQL</a:t>
            </a:r>
            <a:r>
              <a:rPr sz="1600" spc="-10" dirty="0"/>
              <a:t> </a:t>
            </a:r>
            <a:r>
              <a:rPr sz="1600" dirty="0"/>
              <a:t>ou</a:t>
            </a:r>
            <a:r>
              <a:rPr sz="1600" spc="-20" dirty="0"/>
              <a:t> </a:t>
            </a:r>
            <a:r>
              <a:rPr sz="1600" spc="-10" dirty="0"/>
              <a:t>NoSQL?</a:t>
            </a:r>
            <a:endParaRPr sz="1600" dirty="0"/>
          </a:p>
        </p:txBody>
      </p:sp>
      <p:sp>
        <p:nvSpPr>
          <p:cNvPr id="6" name="object 6"/>
          <p:cNvSpPr txBox="1"/>
          <p:nvPr/>
        </p:nvSpPr>
        <p:spPr>
          <a:xfrm>
            <a:off x="1202357" y="2580056"/>
            <a:ext cx="9999043" cy="713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504190" algn="just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Certes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 modèle relationnel</a:t>
            </a:r>
            <a:r>
              <a:rPr kumimoji="0" sz="1600" b="1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permettent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stocker/rechercher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l’information,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mais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ils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servent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pas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mêmes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objectifs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qui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rend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toute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comparaison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subjective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voir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justifiée.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90600" y="2216512"/>
            <a:ext cx="690880" cy="747395"/>
            <a:chOff x="623639" y="5173576"/>
            <a:chExt cx="690880" cy="74739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409" y="5419124"/>
              <a:ext cx="198244" cy="196911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52106" y="5173586"/>
              <a:ext cx="433070" cy="747395"/>
            </a:xfrm>
            <a:custGeom>
              <a:avLst/>
              <a:gdLst/>
              <a:ahLst/>
              <a:cxnLst/>
              <a:rect l="l" t="t" r="r" b="b"/>
              <a:pathLst>
                <a:path w="433069" h="747395">
                  <a:moveTo>
                    <a:pt x="235635" y="7785"/>
                  </a:moveTo>
                  <a:lnTo>
                    <a:pt x="227888" y="0"/>
                  </a:lnTo>
                  <a:lnTo>
                    <a:pt x="208762" y="0"/>
                  </a:lnTo>
                  <a:lnTo>
                    <a:pt x="201002" y="7785"/>
                  </a:lnTo>
                  <a:lnTo>
                    <a:pt x="201002" y="87426"/>
                  </a:lnTo>
                  <a:lnTo>
                    <a:pt x="208762" y="95173"/>
                  </a:lnTo>
                  <a:lnTo>
                    <a:pt x="218325" y="95173"/>
                  </a:lnTo>
                  <a:lnTo>
                    <a:pt x="227888" y="95173"/>
                  </a:lnTo>
                  <a:lnTo>
                    <a:pt x="235635" y="87426"/>
                  </a:lnTo>
                  <a:lnTo>
                    <a:pt x="235635" y="7785"/>
                  </a:lnTo>
                  <a:close/>
                </a:path>
                <a:path w="433069" h="747395">
                  <a:moveTo>
                    <a:pt x="270700" y="696988"/>
                  </a:moveTo>
                  <a:lnTo>
                    <a:pt x="162572" y="696988"/>
                  </a:lnTo>
                  <a:lnTo>
                    <a:pt x="168021" y="716661"/>
                  </a:lnTo>
                  <a:lnTo>
                    <a:pt x="179882" y="732497"/>
                  </a:lnTo>
                  <a:lnTo>
                    <a:pt x="196621" y="743051"/>
                  </a:lnTo>
                  <a:lnTo>
                    <a:pt x="216674" y="746899"/>
                  </a:lnTo>
                  <a:lnTo>
                    <a:pt x="236728" y="743038"/>
                  </a:lnTo>
                  <a:lnTo>
                    <a:pt x="253441" y="732485"/>
                  </a:lnTo>
                  <a:lnTo>
                    <a:pt x="265277" y="716661"/>
                  </a:lnTo>
                  <a:lnTo>
                    <a:pt x="270700" y="696988"/>
                  </a:lnTo>
                  <a:close/>
                </a:path>
                <a:path w="433069" h="747395">
                  <a:moveTo>
                    <a:pt x="314629" y="635952"/>
                  </a:moveTo>
                  <a:lnTo>
                    <a:pt x="312420" y="627049"/>
                  </a:lnTo>
                  <a:lnTo>
                    <a:pt x="307352" y="619734"/>
                  </a:lnTo>
                  <a:lnTo>
                    <a:pt x="300037" y="614667"/>
                  </a:lnTo>
                  <a:lnTo>
                    <a:pt x="291122" y="612457"/>
                  </a:lnTo>
                  <a:lnTo>
                    <a:pt x="142138" y="612457"/>
                  </a:lnTo>
                  <a:lnTo>
                    <a:pt x="132537" y="614997"/>
                  </a:lnTo>
                  <a:lnTo>
                    <a:pt x="124917" y="620814"/>
                  </a:lnTo>
                  <a:lnTo>
                    <a:pt x="120027" y="629056"/>
                  </a:lnTo>
                  <a:lnTo>
                    <a:pt x="118643" y="638886"/>
                  </a:lnTo>
                  <a:lnTo>
                    <a:pt x="120840" y="647788"/>
                  </a:lnTo>
                  <a:lnTo>
                    <a:pt x="125920" y="655091"/>
                  </a:lnTo>
                  <a:lnTo>
                    <a:pt x="133235" y="660171"/>
                  </a:lnTo>
                  <a:lnTo>
                    <a:pt x="142138" y="662381"/>
                  </a:lnTo>
                  <a:lnTo>
                    <a:pt x="291122" y="662381"/>
                  </a:lnTo>
                  <a:lnTo>
                    <a:pt x="300736" y="659841"/>
                  </a:lnTo>
                  <a:lnTo>
                    <a:pt x="308356" y="654024"/>
                  </a:lnTo>
                  <a:lnTo>
                    <a:pt x="313245" y="645782"/>
                  </a:lnTo>
                  <a:lnTo>
                    <a:pt x="314629" y="635952"/>
                  </a:lnTo>
                  <a:close/>
                </a:path>
                <a:path w="433069" h="747395">
                  <a:moveTo>
                    <a:pt x="432841" y="342696"/>
                  </a:moveTo>
                  <a:lnTo>
                    <a:pt x="426364" y="293725"/>
                  </a:lnTo>
                  <a:lnTo>
                    <a:pt x="409638" y="248831"/>
                  </a:lnTo>
                  <a:lnTo>
                    <a:pt x="383946" y="209283"/>
                  </a:lnTo>
                  <a:lnTo>
                    <a:pt x="382955" y="208318"/>
                  </a:lnTo>
                  <a:lnTo>
                    <a:pt x="382955" y="349110"/>
                  </a:lnTo>
                  <a:lnTo>
                    <a:pt x="382917" y="350139"/>
                  </a:lnTo>
                  <a:lnTo>
                    <a:pt x="376199" y="393115"/>
                  </a:lnTo>
                  <a:lnTo>
                    <a:pt x="359473" y="431584"/>
                  </a:lnTo>
                  <a:lnTo>
                    <a:pt x="343420" y="453186"/>
                  </a:lnTo>
                  <a:lnTo>
                    <a:pt x="329526" y="470725"/>
                  </a:lnTo>
                  <a:lnTo>
                    <a:pt x="316687" y="489038"/>
                  </a:lnTo>
                  <a:lnTo>
                    <a:pt x="304952" y="508063"/>
                  </a:lnTo>
                  <a:lnTo>
                    <a:pt x="294335" y="527761"/>
                  </a:lnTo>
                  <a:lnTo>
                    <a:pt x="138506" y="527761"/>
                  </a:lnTo>
                  <a:lnTo>
                    <a:pt x="116446" y="489038"/>
                  </a:lnTo>
                  <a:lnTo>
                    <a:pt x="89852" y="452920"/>
                  </a:lnTo>
                  <a:lnTo>
                    <a:pt x="81343" y="442468"/>
                  </a:lnTo>
                  <a:lnTo>
                    <a:pt x="73799" y="431330"/>
                  </a:lnTo>
                  <a:lnTo>
                    <a:pt x="67271" y="419557"/>
                  </a:lnTo>
                  <a:lnTo>
                    <a:pt x="61925" y="407504"/>
                  </a:lnTo>
                  <a:lnTo>
                    <a:pt x="61810" y="407238"/>
                  </a:lnTo>
                  <a:lnTo>
                    <a:pt x="57111" y="393357"/>
                  </a:lnTo>
                  <a:lnTo>
                    <a:pt x="57023" y="393115"/>
                  </a:lnTo>
                  <a:lnTo>
                    <a:pt x="53492" y="378904"/>
                  </a:lnTo>
                  <a:lnTo>
                    <a:pt x="53428" y="378663"/>
                  </a:lnTo>
                  <a:lnTo>
                    <a:pt x="51079" y="364210"/>
                  </a:lnTo>
                  <a:lnTo>
                    <a:pt x="51041" y="363969"/>
                  </a:lnTo>
                  <a:lnTo>
                    <a:pt x="49936" y="350139"/>
                  </a:lnTo>
                  <a:lnTo>
                    <a:pt x="49885" y="342696"/>
                  </a:lnTo>
                  <a:lnTo>
                    <a:pt x="56400" y="299199"/>
                  </a:lnTo>
                  <a:lnTo>
                    <a:pt x="73456" y="260007"/>
                  </a:lnTo>
                  <a:lnTo>
                    <a:pt x="99504" y="226822"/>
                  </a:lnTo>
                  <a:lnTo>
                    <a:pt x="132981" y="201168"/>
                  </a:lnTo>
                  <a:lnTo>
                    <a:pt x="172389" y="184556"/>
                  </a:lnTo>
                  <a:lnTo>
                    <a:pt x="216154" y="178498"/>
                  </a:lnTo>
                  <a:lnTo>
                    <a:pt x="259930" y="184556"/>
                  </a:lnTo>
                  <a:lnTo>
                    <a:pt x="299339" y="201168"/>
                  </a:lnTo>
                  <a:lnTo>
                    <a:pt x="332816" y="226822"/>
                  </a:lnTo>
                  <a:lnTo>
                    <a:pt x="358863" y="260007"/>
                  </a:lnTo>
                  <a:lnTo>
                    <a:pt x="375920" y="299199"/>
                  </a:lnTo>
                  <a:lnTo>
                    <a:pt x="382435" y="342696"/>
                  </a:lnTo>
                  <a:lnTo>
                    <a:pt x="382955" y="349110"/>
                  </a:lnTo>
                  <a:lnTo>
                    <a:pt x="382955" y="208318"/>
                  </a:lnTo>
                  <a:lnTo>
                    <a:pt x="352755" y="178498"/>
                  </a:lnTo>
                  <a:lnTo>
                    <a:pt x="350520" y="176288"/>
                  </a:lnTo>
                  <a:lnTo>
                    <a:pt x="310616" y="151104"/>
                  </a:lnTo>
                  <a:lnTo>
                    <a:pt x="265506" y="134962"/>
                  </a:lnTo>
                  <a:lnTo>
                    <a:pt x="216420" y="129095"/>
                  </a:lnTo>
                  <a:lnTo>
                    <a:pt x="167335" y="134962"/>
                  </a:lnTo>
                  <a:lnTo>
                    <a:pt x="122212" y="151104"/>
                  </a:lnTo>
                  <a:lnTo>
                    <a:pt x="82321" y="176288"/>
                  </a:lnTo>
                  <a:lnTo>
                    <a:pt x="48895" y="209283"/>
                  </a:lnTo>
                  <a:lnTo>
                    <a:pt x="23190" y="248831"/>
                  </a:lnTo>
                  <a:lnTo>
                    <a:pt x="6477" y="293725"/>
                  </a:lnTo>
                  <a:lnTo>
                    <a:pt x="0" y="342696"/>
                  </a:lnTo>
                  <a:lnTo>
                    <a:pt x="0" y="350139"/>
                  </a:lnTo>
                  <a:lnTo>
                    <a:pt x="4381" y="388188"/>
                  </a:lnTo>
                  <a:lnTo>
                    <a:pt x="15062" y="424980"/>
                  </a:lnTo>
                  <a:lnTo>
                    <a:pt x="41198" y="472414"/>
                  </a:lnTo>
                  <a:lnTo>
                    <a:pt x="52628" y="486498"/>
                  </a:lnTo>
                  <a:lnTo>
                    <a:pt x="67640" y="505828"/>
                  </a:lnTo>
                  <a:lnTo>
                    <a:pt x="81965" y="528688"/>
                  </a:lnTo>
                  <a:lnTo>
                    <a:pt x="94284" y="551002"/>
                  </a:lnTo>
                  <a:lnTo>
                    <a:pt x="103276" y="568680"/>
                  </a:lnTo>
                  <a:lnTo>
                    <a:pt x="106083" y="574332"/>
                  </a:lnTo>
                  <a:lnTo>
                    <a:pt x="111861" y="577888"/>
                  </a:lnTo>
                  <a:lnTo>
                    <a:pt x="320992" y="577888"/>
                  </a:lnTo>
                  <a:lnTo>
                    <a:pt x="326758" y="574332"/>
                  </a:lnTo>
                  <a:lnTo>
                    <a:pt x="329565" y="568680"/>
                  </a:lnTo>
                  <a:lnTo>
                    <a:pt x="338556" y="551002"/>
                  </a:lnTo>
                  <a:lnTo>
                    <a:pt x="350888" y="528688"/>
                  </a:lnTo>
                  <a:lnTo>
                    <a:pt x="351472" y="527761"/>
                  </a:lnTo>
                  <a:lnTo>
                    <a:pt x="365226" y="505828"/>
                  </a:lnTo>
                  <a:lnTo>
                    <a:pt x="380212" y="486498"/>
                  </a:lnTo>
                  <a:lnTo>
                    <a:pt x="391629" y="472414"/>
                  </a:lnTo>
                  <a:lnTo>
                    <a:pt x="401739" y="457415"/>
                  </a:lnTo>
                  <a:lnTo>
                    <a:pt x="423900" y="406793"/>
                  </a:lnTo>
                  <a:lnTo>
                    <a:pt x="431444" y="369277"/>
                  </a:lnTo>
                  <a:lnTo>
                    <a:pt x="432841" y="350139"/>
                  </a:lnTo>
                  <a:lnTo>
                    <a:pt x="432841" y="342696"/>
                  </a:lnTo>
                  <a:close/>
                </a:path>
              </a:pathLst>
            </a:custGeom>
            <a:solidFill>
              <a:srgbClr val="FFA14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7650" y="5272970"/>
              <a:ext cx="76806" cy="7686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6248" y="5276285"/>
              <a:ext cx="75751" cy="7712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3639" y="5498027"/>
              <a:ext cx="95250" cy="34925"/>
            </a:xfrm>
            <a:custGeom>
              <a:avLst/>
              <a:gdLst/>
              <a:ahLst/>
              <a:cxnLst/>
              <a:rect l="l" t="t" r="r" b="b"/>
              <a:pathLst>
                <a:path w="95250" h="34925">
                  <a:moveTo>
                    <a:pt x="87477" y="0"/>
                  </a:moveTo>
                  <a:lnTo>
                    <a:pt x="77911" y="0"/>
                  </a:lnTo>
                  <a:lnTo>
                    <a:pt x="7753" y="0"/>
                  </a:lnTo>
                  <a:lnTo>
                    <a:pt x="0" y="7743"/>
                  </a:lnTo>
                  <a:lnTo>
                    <a:pt x="0" y="26856"/>
                  </a:lnTo>
                  <a:lnTo>
                    <a:pt x="7753" y="34606"/>
                  </a:lnTo>
                  <a:lnTo>
                    <a:pt x="87477" y="34606"/>
                  </a:lnTo>
                  <a:lnTo>
                    <a:pt x="95225" y="26856"/>
                  </a:lnTo>
                  <a:lnTo>
                    <a:pt x="95225" y="7743"/>
                  </a:lnTo>
                  <a:lnTo>
                    <a:pt x="87477" y="0"/>
                  </a:lnTo>
                  <a:close/>
                </a:path>
              </a:pathLst>
            </a:custGeom>
            <a:solidFill>
              <a:srgbClr val="FFA14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6071" y="5676273"/>
              <a:ext cx="79474" cy="7949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153" y="5679697"/>
              <a:ext cx="77377" cy="7920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218804" y="5497421"/>
              <a:ext cx="95250" cy="34925"/>
            </a:xfrm>
            <a:custGeom>
              <a:avLst/>
              <a:gdLst/>
              <a:ahLst/>
              <a:cxnLst/>
              <a:rect l="l" t="t" r="r" b="b"/>
              <a:pathLst>
                <a:path w="95250" h="34925">
                  <a:moveTo>
                    <a:pt x="87500" y="0"/>
                  </a:moveTo>
                  <a:lnTo>
                    <a:pt x="77905" y="0"/>
                  </a:lnTo>
                  <a:lnTo>
                    <a:pt x="7755" y="0"/>
                  </a:lnTo>
                  <a:lnTo>
                    <a:pt x="0" y="7743"/>
                  </a:lnTo>
                  <a:lnTo>
                    <a:pt x="0" y="26856"/>
                  </a:lnTo>
                  <a:lnTo>
                    <a:pt x="7755" y="34606"/>
                  </a:lnTo>
                  <a:lnTo>
                    <a:pt x="87500" y="34606"/>
                  </a:lnTo>
                  <a:lnTo>
                    <a:pt x="95219" y="26856"/>
                  </a:lnTo>
                  <a:lnTo>
                    <a:pt x="95219" y="7743"/>
                  </a:lnTo>
                  <a:lnTo>
                    <a:pt x="87500" y="0"/>
                  </a:lnTo>
                  <a:close/>
                </a:path>
              </a:pathLst>
            </a:custGeom>
            <a:solidFill>
              <a:srgbClr val="FFA14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9235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" y="0"/>
            <a:ext cx="6489700" cy="6858000"/>
            <a:chOff x="3048" y="0"/>
            <a:chExt cx="64897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" y="0"/>
              <a:ext cx="6489422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911" y="195071"/>
              <a:ext cx="1027176" cy="10149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411" rIns="0" bIns="0" rtlCol="0">
            <a:spAutoFit/>
          </a:bodyPr>
          <a:lstStyle/>
          <a:p>
            <a:pPr marL="7970520">
              <a:lnSpc>
                <a:spcPct val="100000"/>
              </a:lnSpc>
              <a:spcBef>
                <a:spcPts val="95"/>
              </a:spcBef>
            </a:pPr>
            <a:r>
              <a:rPr dirty="0"/>
              <a:t>CHAPITRE</a:t>
            </a:r>
            <a:r>
              <a:rPr spc="-105" dirty="0"/>
              <a:t> </a:t>
            </a:r>
            <a:r>
              <a:rPr spc="-50" dirty="0"/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33209" y="1103503"/>
            <a:ext cx="491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Découvrir</a:t>
            </a:r>
            <a:r>
              <a:rPr kumimoji="0" sz="2400" b="1" i="0" u="none" strike="noStrike" kern="0" cap="none" spc="-8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4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24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824251"/>
            <a:ext cx="5279390" cy="17240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Définir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concept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traditionnelles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caractéristiques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5600" marR="22225" lvl="0" indent="-342900" defTabSz="914400" eaLnBrk="1" fontAlgn="auto" latinLnBrk="0" hangingPunct="1">
              <a:lnSpc>
                <a:spcPts val="173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56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Recenser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(document,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clé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/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valeur,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colonne,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graphe)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54965" marR="0" lvl="0" indent="-342265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35496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Comparer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différents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309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87424" y="345947"/>
            <a:ext cx="9236710" cy="3373248"/>
            <a:chOff x="1487424" y="345947"/>
            <a:chExt cx="9236710" cy="3373248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2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87424" y="3398520"/>
              <a:ext cx="9236710" cy="320675"/>
            </a:xfrm>
            <a:custGeom>
              <a:avLst/>
              <a:gdLst/>
              <a:ahLst/>
              <a:cxnLst/>
              <a:rect l="l" t="t" r="r" b="b"/>
              <a:pathLst>
                <a:path w="9236710" h="320675">
                  <a:moveTo>
                    <a:pt x="4617720" y="0"/>
                  </a:moveTo>
                  <a:lnTo>
                    <a:pt x="4617720" y="160274"/>
                  </a:lnTo>
                  <a:lnTo>
                    <a:pt x="9236583" y="160274"/>
                  </a:lnTo>
                  <a:lnTo>
                    <a:pt x="9236583" y="320674"/>
                  </a:lnTo>
                </a:path>
                <a:path w="9236710" h="320675">
                  <a:moveTo>
                    <a:pt x="4617720" y="0"/>
                  </a:moveTo>
                  <a:lnTo>
                    <a:pt x="4617720" y="160274"/>
                  </a:lnTo>
                  <a:lnTo>
                    <a:pt x="7388986" y="160274"/>
                  </a:lnTo>
                  <a:lnTo>
                    <a:pt x="7388986" y="320674"/>
                  </a:lnTo>
                </a:path>
                <a:path w="9236710" h="320675">
                  <a:moveTo>
                    <a:pt x="4617720" y="0"/>
                  </a:moveTo>
                  <a:lnTo>
                    <a:pt x="4617720" y="160274"/>
                  </a:lnTo>
                  <a:lnTo>
                    <a:pt x="5541518" y="160274"/>
                  </a:lnTo>
                  <a:lnTo>
                    <a:pt x="5541518" y="320674"/>
                  </a:lnTo>
                </a:path>
                <a:path w="9236710" h="320675">
                  <a:moveTo>
                    <a:pt x="4617974" y="0"/>
                  </a:moveTo>
                  <a:lnTo>
                    <a:pt x="4617974" y="160274"/>
                  </a:lnTo>
                  <a:lnTo>
                    <a:pt x="3694176" y="160274"/>
                  </a:lnTo>
                  <a:lnTo>
                    <a:pt x="3694176" y="320674"/>
                  </a:lnTo>
                </a:path>
                <a:path w="9236710" h="320675">
                  <a:moveTo>
                    <a:pt x="4618355" y="0"/>
                  </a:moveTo>
                  <a:lnTo>
                    <a:pt x="4618355" y="160274"/>
                  </a:lnTo>
                  <a:lnTo>
                    <a:pt x="1847088" y="160274"/>
                  </a:lnTo>
                  <a:lnTo>
                    <a:pt x="1847088" y="320674"/>
                  </a:lnTo>
                </a:path>
                <a:path w="9236710" h="320675">
                  <a:moveTo>
                    <a:pt x="4618863" y="0"/>
                  </a:moveTo>
                  <a:lnTo>
                    <a:pt x="4618863" y="160274"/>
                  </a:lnTo>
                  <a:lnTo>
                    <a:pt x="0" y="160274"/>
                  </a:lnTo>
                  <a:lnTo>
                    <a:pt x="0" y="320674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341620" y="2634996"/>
              <a:ext cx="1689798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341620" y="2634996"/>
              <a:ext cx="1689798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58876" y="429005"/>
            <a:ext cx="4472305" cy="587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9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 Caractéristiques</a:t>
            </a:r>
            <a:endParaRPr sz="1800" dirty="0"/>
          </a:p>
        </p:txBody>
      </p:sp>
      <p:sp>
        <p:nvSpPr>
          <p:cNvPr id="9" name="object 9"/>
          <p:cNvSpPr txBox="1"/>
          <p:nvPr/>
        </p:nvSpPr>
        <p:spPr>
          <a:xfrm>
            <a:off x="798982" y="1589912"/>
            <a:ext cx="3699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Caractéristiques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générales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NoSQL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7800" y="2678348"/>
            <a:ext cx="1821180" cy="617413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89230" marR="180340" lvl="0" indent="-1270" algn="ctr" defTabSz="914400" eaLnBrk="1" fontAlgn="auto" latinLnBrk="0" hangingPunct="1">
              <a:lnSpc>
                <a:spcPts val="1210"/>
              </a:lnSpc>
              <a:spcBef>
                <a:spcPts val="1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Caractéristiques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générales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bases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17550" y="3713734"/>
            <a:ext cx="1539875" cy="776605"/>
            <a:chOff x="717550" y="3713734"/>
            <a:chExt cx="1539875" cy="776605"/>
          </a:xfrm>
        </p:grpSpPr>
        <p:sp>
          <p:nvSpPr>
            <p:cNvPr id="12" name="object 12"/>
            <p:cNvSpPr/>
            <p:nvPr/>
          </p:nvSpPr>
          <p:spPr>
            <a:xfrm>
              <a:off x="723900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23900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3836" y="3989857"/>
            <a:ext cx="1527175" cy="2243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2235" marR="49530" lvl="0" indent="-45720" algn="ctr" defTabSz="914400" eaLnBrk="1" fontAlgn="auto" latinLnBrk="0" hangingPunct="1">
              <a:lnSpc>
                <a:spcPts val="1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Schema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Free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64638" y="3713734"/>
            <a:ext cx="1539875" cy="776605"/>
            <a:chOff x="2564638" y="3713734"/>
            <a:chExt cx="1539875" cy="776605"/>
          </a:xfrm>
        </p:grpSpPr>
        <p:sp>
          <p:nvSpPr>
            <p:cNvPr id="16" name="object 16"/>
            <p:cNvSpPr/>
            <p:nvPr/>
          </p:nvSpPr>
          <p:spPr>
            <a:xfrm>
              <a:off x="2570988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2570988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570988" y="3759025"/>
            <a:ext cx="1527175" cy="55271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06045" marR="0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Architecture</a:t>
            </a:r>
            <a:r>
              <a:rPr kumimoji="0" sz="14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distribuée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11726" y="3713734"/>
            <a:ext cx="1539875" cy="776605"/>
            <a:chOff x="4411726" y="3713734"/>
            <a:chExt cx="1539875" cy="776605"/>
          </a:xfrm>
        </p:grpSpPr>
        <p:sp>
          <p:nvSpPr>
            <p:cNvPr id="20" name="object 20"/>
            <p:cNvSpPr/>
            <p:nvPr/>
          </p:nvSpPr>
          <p:spPr>
            <a:xfrm>
              <a:off x="4418076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418076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18076" y="3870819"/>
            <a:ext cx="1527175" cy="46243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41275" marR="31115" lvl="0" indent="0" algn="ctr" defTabSz="914400" eaLnBrk="1" fontAlgn="auto" latinLnBrk="0" hangingPunct="1">
              <a:lnSpc>
                <a:spcPct val="916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4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4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lieu</a:t>
            </a:r>
            <a:r>
              <a:rPr kumimoji="0" sz="14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 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ACID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271514" y="3720083"/>
            <a:ext cx="1525905" cy="924549"/>
            <a:chOff x="6266688" y="3720084"/>
            <a:chExt cx="1525905" cy="924549"/>
          </a:xfrm>
        </p:grpSpPr>
        <p:sp>
          <p:nvSpPr>
            <p:cNvPr id="24" name="object 24"/>
            <p:cNvSpPr/>
            <p:nvPr/>
          </p:nvSpPr>
          <p:spPr>
            <a:xfrm>
              <a:off x="6266688" y="3720084"/>
              <a:ext cx="1525905" cy="924549"/>
            </a:xfrm>
            <a:custGeom>
              <a:avLst/>
              <a:gdLst/>
              <a:ahLst/>
              <a:cxnLst/>
              <a:rect l="l" t="t" r="r" b="b"/>
              <a:pathLst>
                <a:path w="1525904" h="763904">
                  <a:moveTo>
                    <a:pt x="1525523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5523" y="763524"/>
                  </a:lnTo>
                  <a:lnTo>
                    <a:pt x="152552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6266688" y="3720084"/>
              <a:ext cx="1525905" cy="924549"/>
            </a:xfrm>
            <a:custGeom>
              <a:avLst/>
              <a:gdLst/>
              <a:ahLst/>
              <a:cxnLst/>
              <a:rect l="l" t="t" r="r" b="b"/>
              <a:pathLst>
                <a:path w="1525904" h="763904">
                  <a:moveTo>
                    <a:pt x="0" y="763524"/>
                  </a:moveTo>
                  <a:lnTo>
                    <a:pt x="1525523" y="763524"/>
                  </a:lnTo>
                  <a:lnTo>
                    <a:pt x="1525523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66688" y="3720084"/>
            <a:ext cx="1525905" cy="924548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95250" marR="86360" lvl="0" indent="0" algn="ctr" defTabSz="914400" eaLnBrk="1" fontAlgn="auto" latinLnBrk="0" hangingPunct="1">
              <a:lnSpc>
                <a:spcPts val="121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Utilisation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4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langages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qui ne sont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pas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uniquement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du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SQL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13776" y="3720084"/>
            <a:ext cx="1527175" cy="851916"/>
            <a:chOff x="8113776" y="3720084"/>
            <a:chExt cx="1527175" cy="851916"/>
          </a:xfrm>
        </p:grpSpPr>
        <p:sp>
          <p:nvSpPr>
            <p:cNvPr id="28" name="object 28"/>
            <p:cNvSpPr/>
            <p:nvPr/>
          </p:nvSpPr>
          <p:spPr>
            <a:xfrm>
              <a:off x="8113776" y="3720084"/>
              <a:ext cx="1527175" cy="851916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8113776" y="3720084"/>
              <a:ext cx="1527175" cy="851916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113776" y="3720084"/>
            <a:ext cx="1527175" cy="763927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7620" marR="0" lvl="0" indent="0" algn="ctr" defTabSz="914400" eaLnBrk="1" fontAlgn="auto" latinLnBrk="0" hangingPunct="1">
              <a:lnSpc>
                <a:spcPts val="121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Manipulation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structures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complexes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ou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imbriquées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954514" y="3713734"/>
            <a:ext cx="1539875" cy="776605"/>
            <a:chOff x="9954514" y="3713734"/>
            <a:chExt cx="1539875" cy="776605"/>
          </a:xfrm>
        </p:grpSpPr>
        <p:sp>
          <p:nvSpPr>
            <p:cNvPr id="32" name="object 32"/>
            <p:cNvSpPr/>
            <p:nvPr/>
          </p:nvSpPr>
          <p:spPr>
            <a:xfrm>
              <a:off x="9960864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1527048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1527048" y="763524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9960864" y="3720084"/>
              <a:ext cx="1527175" cy="763905"/>
            </a:xfrm>
            <a:custGeom>
              <a:avLst/>
              <a:gdLst/>
              <a:ahLst/>
              <a:cxnLst/>
              <a:rect l="l" t="t" r="r" b="b"/>
              <a:pathLst>
                <a:path w="1527175" h="763904">
                  <a:moveTo>
                    <a:pt x="0" y="763524"/>
                  </a:moveTo>
                  <a:lnTo>
                    <a:pt x="1527048" y="763524"/>
                  </a:lnTo>
                  <a:lnTo>
                    <a:pt x="1527048" y="0"/>
                  </a:lnTo>
                  <a:lnTo>
                    <a:pt x="0" y="0"/>
                  </a:lnTo>
                  <a:lnTo>
                    <a:pt x="0" y="76352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9960864" y="3720084"/>
            <a:ext cx="1527175" cy="66063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9525" marR="0" lvl="0" indent="-635" algn="ctr" defTabSz="914400" eaLnBrk="1" fontAlgn="auto" latinLnBrk="0" hangingPunct="1">
              <a:lnSpc>
                <a:spcPct val="91600"/>
              </a:lnSpc>
              <a:spcBef>
                <a:spcPts val="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Manipulation</a:t>
            </a:r>
            <a:r>
              <a:rPr kumimoji="0" sz="14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avec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performances</a:t>
            </a:r>
            <a:r>
              <a:rPr kumimoji="0" sz="14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400" b="1" i="0" u="none" strike="noStrike" kern="0" cap="none" spc="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volumes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3009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0951" y="345947"/>
            <a:ext cx="9923145" cy="4646295"/>
            <a:chOff x="700951" y="345947"/>
            <a:chExt cx="9923145" cy="46462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2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7831" y="4369943"/>
              <a:ext cx="1216660" cy="304800"/>
            </a:xfrm>
            <a:custGeom>
              <a:avLst/>
              <a:gdLst/>
              <a:ahLst/>
              <a:cxnLst/>
              <a:rect l="l" t="t" r="r" b="b"/>
              <a:pathLst>
                <a:path w="1216660" h="304800">
                  <a:moveTo>
                    <a:pt x="121638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1216380" y="304799"/>
                  </a:lnTo>
                  <a:lnTo>
                    <a:pt x="1216380" y="0"/>
                  </a:lnTo>
                  <a:close/>
                </a:path>
              </a:pathLst>
            </a:custGeom>
            <a:solidFill>
              <a:srgbClr val="EC7C3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137831" y="3997832"/>
              <a:ext cx="0" cy="988060"/>
            </a:xfrm>
            <a:custGeom>
              <a:avLst/>
              <a:gdLst/>
              <a:ahLst/>
              <a:cxnLst/>
              <a:rect l="l" t="t" r="r" b="b"/>
              <a:pathLst>
                <a:path h="988060">
                  <a:moveTo>
                    <a:pt x="0" y="0"/>
                  </a:moveTo>
                  <a:lnTo>
                    <a:pt x="0" y="98806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13651" y="4369943"/>
              <a:ext cx="1647189" cy="0"/>
            </a:xfrm>
            <a:custGeom>
              <a:avLst/>
              <a:gdLst/>
              <a:ahLst/>
              <a:cxnLst/>
              <a:rect l="l" t="t" r="r" b="b"/>
              <a:pathLst>
                <a:path w="1647189">
                  <a:moveTo>
                    <a:pt x="0" y="0"/>
                  </a:moveTo>
                  <a:lnTo>
                    <a:pt x="1646897" y="0"/>
                  </a:lnTo>
                </a:path>
              </a:pathLst>
            </a:custGeom>
            <a:ln w="254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13651" y="3997832"/>
              <a:ext cx="1647189" cy="988060"/>
            </a:xfrm>
            <a:custGeom>
              <a:avLst/>
              <a:gdLst/>
              <a:ahLst/>
              <a:cxnLst/>
              <a:rect l="l" t="t" r="r" b="b"/>
              <a:pathLst>
                <a:path w="1647189" h="988060">
                  <a:moveTo>
                    <a:pt x="0" y="676910"/>
                  </a:moveTo>
                  <a:lnTo>
                    <a:pt x="1646897" y="676910"/>
                  </a:lnTo>
                </a:path>
                <a:path w="1647189" h="988060">
                  <a:moveTo>
                    <a:pt x="6350" y="0"/>
                  </a:moveTo>
                  <a:lnTo>
                    <a:pt x="6350" y="988060"/>
                  </a:lnTo>
                </a:path>
                <a:path w="1647189" h="988060">
                  <a:moveTo>
                    <a:pt x="1640547" y="0"/>
                  </a:moveTo>
                  <a:lnTo>
                    <a:pt x="1640547" y="988060"/>
                  </a:lnTo>
                </a:path>
                <a:path w="1647189" h="988060">
                  <a:moveTo>
                    <a:pt x="0" y="6350"/>
                  </a:moveTo>
                  <a:lnTo>
                    <a:pt x="1646897" y="6350"/>
                  </a:lnTo>
                </a:path>
                <a:path w="1647189" h="988060">
                  <a:moveTo>
                    <a:pt x="0" y="981710"/>
                  </a:moveTo>
                  <a:lnTo>
                    <a:pt x="1646897" y="98171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8876" y="429005"/>
            <a:ext cx="4472305" cy="587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9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 Caractéristiques</a:t>
            </a:r>
            <a:endParaRPr sz="1800" dirty="0"/>
          </a:p>
        </p:txBody>
      </p:sp>
      <p:sp>
        <p:nvSpPr>
          <p:cNvPr id="10" name="object 10"/>
          <p:cNvSpPr txBox="1"/>
          <p:nvPr/>
        </p:nvSpPr>
        <p:spPr>
          <a:xfrm>
            <a:off x="776427" y="1602689"/>
            <a:ext cx="327406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0" lvl="0" indent="-21082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AutoNum type="arabicPlain"/>
              <a:tabLst>
                <a:tab pos="245745" algn="l"/>
              </a:tabLst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Modèle</a:t>
            </a:r>
            <a:r>
              <a:rPr kumimoji="0" sz="1600" b="1" i="0" u="none" strike="noStrike" kern="0" cap="none" spc="-6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Sans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schéma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(Schema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Free)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</a:tabLst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Exemple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327" y="3657600"/>
            <a:ext cx="791210" cy="28829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0" marR="0" lvl="0" indent="0" defTabSz="91440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Posts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6572" y="2418589"/>
            <a:ext cx="1290828" cy="284988"/>
          </a:xfrm>
          <a:prstGeom prst="rect">
            <a:avLst/>
          </a:prstGeom>
          <a:solidFill>
            <a:srgbClr val="F6B89F"/>
          </a:solidFill>
          <a:ln w="6350">
            <a:solidFill>
              <a:srgbClr val="A4A4A4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323215" marR="0" lvl="0" indent="0" algn="l" defTabSz="914400" eaLnBrk="1" fontAlgn="auto" latinLnBrk="0" hangingPunct="1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SGBDR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7748" y="2419858"/>
            <a:ext cx="1003300" cy="318770"/>
          </a:xfrm>
          <a:prstGeom prst="rect">
            <a:avLst/>
          </a:prstGeom>
          <a:solidFill>
            <a:srgbClr val="F6B89F"/>
          </a:solidFill>
          <a:ln w="6350">
            <a:solidFill>
              <a:srgbClr val="A4A4A4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190500" marR="0" lvl="0" indent="0" defTabSz="91440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8283" y="2921507"/>
            <a:ext cx="4323715" cy="47752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 marR="0" lvl="0" indent="0" defTabSz="914400" eaLnBrk="1" fontAlgn="auto" latinLnBrk="0" hangingPunct="1"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Posts(</a:t>
            </a:r>
            <a:r>
              <a:rPr kumimoji="0" sz="16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,titre)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9080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Commentaires(</a:t>
            </a:r>
            <a:r>
              <a:rPr kumimoji="0" sz="1600" b="0" i="0" u="sng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id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#idPosts,texte)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5367" y="4613147"/>
            <a:ext cx="1649095" cy="33274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4605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Commentaires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351" y="4022547"/>
            <a:ext cx="1621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02920" algn="l"/>
              </a:tabLst>
              <a:defRPr/>
            </a:pP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Id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titre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6351" y="4382642"/>
            <a:ext cx="405130" cy="285750"/>
          </a:xfrm>
          <a:prstGeom prst="rect">
            <a:avLst/>
          </a:prstGeom>
          <a:solidFill>
            <a:srgbClr val="EC7C30">
              <a:alpha val="19999"/>
            </a:srgbClr>
          </a:solidFill>
        </p:spPr>
        <p:txBody>
          <a:bodyPr vert="horz" wrap="square" lIns="0" tIns="22225" rIns="0" bIns="0" rtlCol="0">
            <a:spAutoFit/>
          </a:bodyPr>
          <a:lstStyle/>
          <a:p>
            <a:pPr marL="85090" marR="0" lvl="0" indent="0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Calibri"/>
                <a:cs typeface="Calibri"/>
              </a:rPr>
              <a:t>P1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4181" y="4391914"/>
            <a:ext cx="1203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Titre1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0001" y="4674742"/>
            <a:ext cx="417830" cy="30480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 marR="0" lvl="0" indent="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-25" normalizeH="0" baseline="0" noProof="0" dirty="0">
                <a:ln>
                  <a:noFill/>
                </a:ln>
                <a:solidFill>
                  <a:srgbClr val="C55A11"/>
                </a:solidFill>
                <a:effectLst/>
                <a:uLnTx/>
                <a:uFillTx/>
                <a:latin typeface="Calibri"/>
                <a:cs typeface="Calibri"/>
              </a:rPr>
              <a:t>P2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4181" y="4696714"/>
            <a:ext cx="12039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Titre2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318383" y="5050535"/>
          <a:ext cx="2418078" cy="127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idPosts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texte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28575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comment1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28575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comment2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P1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comment3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EC7C30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2188591" y="4613909"/>
            <a:ext cx="1051560" cy="1666239"/>
          </a:xfrm>
          <a:custGeom>
            <a:avLst/>
            <a:gdLst/>
            <a:ahLst/>
            <a:cxnLst/>
            <a:rect l="l" t="t" r="r" b="b"/>
            <a:pathLst>
              <a:path w="1051560" h="1666239">
                <a:moveTo>
                  <a:pt x="969517" y="1580807"/>
                </a:moveTo>
                <a:lnTo>
                  <a:pt x="961770" y="1666189"/>
                </a:lnTo>
                <a:lnTo>
                  <a:pt x="1031035" y="1639074"/>
                </a:lnTo>
                <a:lnTo>
                  <a:pt x="979804" y="1639074"/>
                </a:lnTo>
                <a:lnTo>
                  <a:pt x="979874" y="1623491"/>
                </a:lnTo>
                <a:lnTo>
                  <a:pt x="979932" y="1610499"/>
                </a:lnTo>
                <a:lnTo>
                  <a:pt x="1017522" y="1610499"/>
                </a:lnTo>
                <a:lnTo>
                  <a:pt x="969517" y="1580807"/>
                </a:lnTo>
                <a:close/>
              </a:path>
              <a:path w="1051560" h="1666239">
                <a:moveTo>
                  <a:pt x="28575" y="0"/>
                </a:moveTo>
                <a:lnTo>
                  <a:pt x="0" y="0"/>
                </a:lnTo>
                <a:lnTo>
                  <a:pt x="0" y="1637766"/>
                </a:lnTo>
                <a:lnTo>
                  <a:pt x="979805" y="1639074"/>
                </a:lnTo>
                <a:lnTo>
                  <a:pt x="964231" y="1639074"/>
                </a:lnTo>
                <a:lnTo>
                  <a:pt x="965645" y="1623491"/>
                </a:lnTo>
                <a:lnTo>
                  <a:pt x="28575" y="1623491"/>
                </a:lnTo>
                <a:lnTo>
                  <a:pt x="14369" y="1609223"/>
                </a:lnTo>
                <a:lnTo>
                  <a:pt x="28575" y="1609223"/>
                </a:lnTo>
                <a:lnTo>
                  <a:pt x="28575" y="0"/>
                </a:lnTo>
                <a:close/>
              </a:path>
              <a:path w="1051560" h="1666239">
                <a:moveTo>
                  <a:pt x="1017522" y="1610499"/>
                </a:moveTo>
                <a:lnTo>
                  <a:pt x="979932" y="1610499"/>
                </a:lnTo>
                <a:lnTo>
                  <a:pt x="979874" y="1623491"/>
                </a:lnTo>
                <a:lnTo>
                  <a:pt x="979804" y="1639074"/>
                </a:lnTo>
                <a:lnTo>
                  <a:pt x="1031035" y="1639074"/>
                </a:lnTo>
                <a:lnTo>
                  <a:pt x="1051052" y="1631238"/>
                </a:lnTo>
                <a:lnTo>
                  <a:pt x="1017522" y="1610499"/>
                </a:lnTo>
                <a:close/>
              </a:path>
              <a:path w="1051560" h="1666239">
                <a:moveTo>
                  <a:pt x="28575" y="1609223"/>
                </a:moveTo>
                <a:lnTo>
                  <a:pt x="14369" y="1609223"/>
                </a:lnTo>
                <a:lnTo>
                  <a:pt x="28575" y="1623491"/>
                </a:lnTo>
                <a:lnTo>
                  <a:pt x="28575" y="1609223"/>
                </a:lnTo>
                <a:close/>
              </a:path>
              <a:path w="1051560" h="1666239">
                <a:moveTo>
                  <a:pt x="28575" y="1609223"/>
                </a:moveTo>
                <a:lnTo>
                  <a:pt x="28575" y="1623491"/>
                </a:lnTo>
                <a:lnTo>
                  <a:pt x="965645" y="1623491"/>
                </a:lnTo>
                <a:lnTo>
                  <a:pt x="966823" y="1610499"/>
                </a:lnTo>
                <a:lnTo>
                  <a:pt x="979932" y="1610499"/>
                </a:lnTo>
                <a:lnTo>
                  <a:pt x="28575" y="1609223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13610" y="3555238"/>
            <a:ext cx="4065986" cy="2326005"/>
            <a:chOff x="2213610" y="3555238"/>
            <a:chExt cx="4504690" cy="2326005"/>
          </a:xfrm>
        </p:grpSpPr>
        <p:sp>
          <p:nvSpPr>
            <p:cNvPr id="25" name="object 25"/>
            <p:cNvSpPr/>
            <p:nvPr/>
          </p:nvSpPr>
          <p:spPr>
            <a:xfrm>
              <a:off x="2300478" y="4538599"/>
              <a:ext cx="940435" cy="982344"/>
            </a:xfrm>
            <a:custGeom>
              <a:avLst/>
              <a:gdLst/>
              <a:ahLst/>
              <a:cxnLst/>
              <a:rect l="l" t="t" r="r" b="b"/>
              <a:pathLst>
                <a:path w="940435" h="982345">
                  <a:moveTo>
                    <a:pt x="854329" y="896238"/>
                  </a:moveTo>
                  <a:lnTo>
                    <a:pt x="854329" y="981963"/>
                  </a:lnTo>
                  <a:lnTo>
                    <a:pt x="911394" y="953388"/>
                  </a:lnTo>
                  <a:lnTo>
                    <a:pt x="868553" y="953388"/>
                  </a:lnTo>
                  <a:lnTo>
                    <a:pt x="868553" y="924813"/>
                  </a:lnTo>
                  <a:lnTo>
                    <a:pt x="911563" y="924813"/>
                  </a:lnTo>
                  <a:lnTo>
                    <a:pt x="854329" y="896238"/>
                  </a:lnTo>
                  <a:close/>
                </a:path>
                <a:path w="940435" h="982345">
                  <a:moveTo>
                    <a:pt x="455676" y="14350"/>
                  </a:moveTo>
                  <a:lnTo>
                    <a:pt x="455676" y="953388"/>
                  </a:lnTo>
                  <a:lnTo>
                    <a:pt x="854329" y="953388"/>
                  </a:lnTo>
                  <a:lnTo>
                    <a:pt x="854329" y="939038"/>
                  </a:lnTo>
                  <a:lnTo>
                    <a:pt x="484251" y="939038"/>
                  </a:lnTo>
                  <a:lnTo>
                    <a:pt x="470027" y="924813"/>
                  </a:lnTo>
                  <a:lnTo>
                    <a:pt x="484251" y="924813"/>
                  </a:lnTo>
                  <a:lnTo>
                    <a:pt x="484251" y="28575"/>
                  </a:lnTo>
                  <a:lnTo>
                    <a:pt x="470027" y="28575"/>
                  </a:lnTo>
                  <a:lnTo>
                    <a:pt x="455676" y="14350"/>
                  </a:lnTo>
                  <a:close/>
                </a:path>
                <a:path w="940435" h="982345">
                  <a:moveTo>
                    <a:pt x="911563" y="924813"/>
                  </a:moveTo>
                  <a:lnTo>
                    <a:pt x="868553" y="924813"/>
                  </a:lnTo>
                  <a:lnTo>
                    <a:pt x="868553" y="953388"/>
                  </a:lnTo>
                  <a:lnTo>
                    <a:pt x="911394" y="953388"/>
                  </a:lnTo>
                  <a:lnTo>
                    <a:pt x="940054" y="939038"/>
                  </a:lnTo>
                  <a:lnTo>
                    <a:pt x="911563" y="924813"/>
                  </a:lnTo>
                  <a:close/>
                </a:path>
                <a:path w="940435" h="982345">
                  <a:moveTo>
                    <a:pt x="484251" y="924813"/>
                  </a:moveTo>
                  <a:lnTo>
                    <a:pt x="470027" y="924813"/>
                  </a:lnTo>
                  <a:lnTo>
                    <a:pt x="484251" y="939038"/>
                  </a:lnTo>
                  <a:lnTo>
                    <a:pt x="484251" y="924813"/>
                  </a:lnTo>
                  <a:close/>
                </a:path>
                <a:path w="940435" h="982345">
                  <a:moveTo>
                    <a:pt x="854329" y="924813"/>
                  </a:moveTo>
                  <a:lnTo>
                    <a:pt x="484251" y="924813"/>
                  </a:lnTo>
                  <a:lnTo>
                    <a:pt x="484251" y="939038"/>
                  </a:lnTo>
                  <a:lnTo>
                    <a:pt x="854329" y="939038"/>
                  </a:lnTo>
                  <a:lnTo>
                    <a:pt x="854329" y="924813"/>
                  </a:lnTo>
                  <a:close/>
                </a:path>
                <a:path w="940435" h="982345">
                  <a:moveTo>
                    <a:pt x="484251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455676" y="28575"/>
                  </a:lnTo>
                  <a:lnTo>
                    <a:pt x="455676" y="14350"/>
                  </a:lnTo>
                  <a:lnTo>
                    <a:pt x="484251" y="14350"/>
                  </a:lnTo>
                  <a:lnTo>
                    <a:pt x="484251" y="0"/>
                  </a:lnTo>
                  <a:close/>
                </a:path>
                <a:path w="940435" h="982345">
                  <a:moveTo>
                    <a:pt x="484251" y="14350"/>
                  </a:moveTo>
                  <a:lnTo>
                    <a:pt x="455676" y="14350"/>
                  </a:lnTo>
                  <a:lnTo>
                    <a:pt x="470027" y="28575"/>
                  </a:lnTo>
                  <a:lnTo>
                    <a:pt x="484251" y="28575"/>
                  </a:lnTo>
                  <a:lnTo>
                    <a:pt x="484251" y="1435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2213610" y="4927473"/>
              <a:ext cx="1036955" cy="953769"/>
            </a:xfrm>
            <a:custGeom>
              <a:avLst/>
              <a:gdLst/>
              <a:ahLst/>
              <a:cxnLst/>
              <a:rect l="l" t="t" r="r" b="b"/>
              <a:pathLst>
                <a:path w="1036955" h="953770">
                  <a:moveTo>
                    <a:pt x="960501" y="876998"/>
                  </a:moveTo>
                  <a:lnTo>
                    <a:pt x="960501" y="953198"/>
                  </a:lnTo>
                  <a:lnTo>
                    <a:pt x="1017651" y="924623"/>
                  </a:lnTo>
                  <a:lnTo>
                    <a:pt x="973201" y="924623"/>
                  </a:lnTo>
                  <a:lnTo>
                    <a:pt x="973201" y="905573"/>
                  </a:lnTo>
                  <a:lnTo>
                    <a:pt x="1017651" y="905573"/>
                  </a:lnTo>
                  <a:lnTo>
                    <a:pt x="960501" y="876998"/>
                  </a:lnTo>
                  <a:close/>
                </a:path>
                <a:path w="1036955" h="953770">
                  <a:moveTo>
                    <a:pt x="508762" y="9525"/>
                  </a:moveTo>
                  <a:lnTo>
                    <a:pt x="508762" y="924623"/>
                  </a:lnTo>
                  <a:lnTo>
                    <a:pt x="960501" y="924623"/>
                  </a:lnTo>
                  <a:lnTo>
                    <a:pt x="960501" y="915098"/>
                  </a:lnTo>
                  <a:lnTo>
                    <a:pt x="527812" y="915098"/>
                  </a:lnTo>
                  <a:lnTo>
                    <a:pt x="518287" y="905573"/>
                  </a:lnTo>
                  <a:lnTo>
                    <a:pt x="527812" y="905573"/>
                  </a:lnTo>
                  <a:lnTo>
                    <a:pt x="527812" y="19050"/>
                  </a:lnTo>
                  <a:lnTo>
                    <a:pt x="518287" y="19050"/>
                  </a:lnTo>
                  <a:lnTo>
                    <a:pt x="508762" y="9525"/>
                  </a:lnTo>
                  <a:close/>
                </a:path>
                <a:path w="1036955" h="953770">
                  <a:moveTo>
                    <a:pt x="1017651" y="905573"/>
                  </a:moveTo>
                  <a:lnTo>
                    <a:pt x="973201" y="905573"/>
                  </a:lnTo>
                  <a:lnTo>
                    <a:pt x="973201" y="924623"/>
                  </a:lnTo>
                  <a:lnTo>
                    <a:pt x="1017651" y="924623"/>
                  </a:lnTo>
                  <a:lnTo>
                    <a:pt x="1036701" y="915098"/>
                  </a:lnTo>
                  <a:lnTo>
                    <a:pt x="1017651" y="905573"/>
                  </a:lnTo>
                  <a:close/>
                </a:path>
                <a:path w="1036955" h="953770">
                  <a:moveTo>
                    <a:pt x="527812" y="905573"/>
                  </a:moveTo>
                  <a:lnTo>
                    <a:pt x="518287" y="905573"/>
                  </a:lnTo>
                  <a:lnTo>
                    <a:pt x="527812" y="915098"/>
                  </a:lnTo>
                  <a:lnTo>
                    <a:pt x="527812" y="905573"/>
                  </a:lnTo>
                  <a:close/>
                </a:path>
                <a:path w="1036955" h="953770">
                  <a:moveTo>
                    <a:pt x="960501" y="905573"/>
                  </a:moveTo>
                  <a:lnTo>
                    <a:pt x="527812" y="905573"/>
                  </a:lnTo>
                  <a:lnTo>
                    <a:pt x="527812" y="915098"/>
                  </a:lnTo>
                  <a:lnTo>
                    <a:pt x="960501" y="915098"/>
                  </a:lnTo>
                  <a:lnTo>
                    <a:pt x="960501" y="905573"/>
                  </a:lnTo>
                  <a:close/>
                </a:path>
                <a:path w="1036955" h="953770">
                  <a:moveTo>
                    <a:pt x="52781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08762" y="19050"/>
                  </a:lnTo>
                  <a:lnTo>
                    <a:pt x="508762" y="9525"/>
                  </a:lnTo>
                  <a:lnTo>
                    <a:pt x="527812" y="9525"/>
                  </a:lnTo>
                  <a:lnTo>
                    <a:pt x="527812" y="0"/>
                  </a:lnTo>
                  <a:close/>
                </a:path>
                <a:path w="1036955" h="953770">
                  <a:moveTo>
                    <a:pt x="527812" y="9525"/>
                  </a:moveTo>
                  <a:lnTo>
                    <a:pt x="508762" y="9525"/>
                  </a:lnTo>
                  <a:lnTo>
                    <a:pt x="518287" y="19050"/>
                  </a:lnTo>
                  <a:lnTo>
                    <a:pt x="527812" y="19050"/>
                  </a:lnTo>
                  <a:lnTo>
                    <a:pt x="527812" y="9525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5655563" y="3561588"/>
              <a:ext cx="1056640" cy="241300"/>
            </a:xfrm>
            <a:custGeom>
              <a:avLst/>
              <a:gdLst/>
              <a:ahLst/>
              <a:cxnLst/>
              <a:rect l="l" t="t" r="r" b="b"/>
              <a:pathLst>
                <a:path w="1056640" h="241300">
                  <a:moveTo>
                    <a:pt x="935736" y="0"/>
                  </a:moveTo>
                  <a:lnTo>
                    <a:pt x="935736" y="60198"/>
                  </a:lnTo>
                  <a:lnTo>
                    <a:pt x="0" y="60198"/>
                  </a:lnTo>
                  <a:lnTo>
                    <a:pt x="0" y="180594"/>
                  </a:lnTo>
                  <a:lnTo>
                    <a:pt x="935736" y="180594"/>
                  </a:lnTo>
                  <a:lnTo>
                    <a:pt x="935736" y="240792"/>
                  </a:lnTo>
                  <a:lnTo>
                    <a:pt x="1056132" y="120395"/>
                  </a:lnTo>
                  <a:lnTo>
                    <a:pt x="93573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5655563" y="3561588"/>
              <a:ext cx="1056640" cy="241300"/>
            </a:xfrm>
            <a:custGeom>
              <a:avLst/>
              <a:gdLst/>
              <a:ahLst/>
              <a:cxnLst/>
              <a:rect l="l" t="t" r="r" b="b"/>
              <a:pathLst>
                <a:path w="1056640" h="241300">
                  <a:moveTo>
                    <a:pt x="0" y="60198"/>
                  </a:moveTo>
                  <a:lnTo>
                    <a:pt x="935736" y="60198"/>
                  </a:lnTo>
                  <a:lnTo>
                    <a:pt x="935736" y="0"/>
                  </a:lnTo>
                  <a:lnTo>
                    <a:pt x="1056132" y="120395"/>
                  </a:lnTo>
                  <a:lnTo>
                    <a:pt x="935736" y="240792"/>
                  </a:lnTo>
                  <a:lnTo>
                    <a:pt x="935736" y="180594"/>
                  </a:lnTo>
                  <a:lnTo>
                    <a:pt x="0" y="180594"/>
                  </a:lnTo>
                  <a:lnTo>
                    <a:pt x="0" y="6019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503214" y="3155316"/>
            <a:ext cx="791210" cy="28956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2400" marR="0" lvl="0" indent="0" defTabSz="914400" eaLnBrk="1" fontAlgn="auto" latinLnBrk="0" hangingPunct="1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Posts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42597" y="3900804"/>
            <a:ext cx="512445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 marR="0" lvl="0" indent="0" defTabSz="914400" eaLnBrk="1" fontAlgn="auto" latinLnBrk="0" hangingPunct="1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P1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61048" y="3905135"/>
            <a:ext cx="935990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4945" marR="0" lvl="0" indent="0" defTabSz="914400" eaLnBrk="1" fontAlgn="auto" latinLnBrk="0" hangingPunct="1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Titre1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62873" y="3900804"/>
            <a:ext cx="1521460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840" marR="0" lvl="0" indent="0" defTabSz="914400" eaLnBrk="1" fontAlgn="auto" latinLnBrk="0" hangingPunct="1">
              <a:lnSpc>
                <a:spcPts val="210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Comment1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501056" y="3561589"/>
            <a:ext cx="4572000" cy="1498090"/>
          </a:xfrm>
          <a:custGeom>
            <a:avLst/>
            <a:gdLst/>
            <a:ahLst/>
            <a:cxnLst/>
            <a:rect l="l" t="t" r="r" b="b"/>
            <a:pathLst>
              <a:path w="3625850" h="1530350">
                <a:moveTo>
                  <a:pt x="0" y="819911"/>
                </a:moveTo>
                <a:lnTo>
                  <a:pt x="3625596" y="819911"/>
                </a:lnTo>
                <a:lnTo>
                  <a:pt x="3625596" y="0"/>
                </a:lnTo>
                <a:lnTo>
                  <a:pt x="0" y="0"/>
                </a:lnTo>
                <a:lnTo>
                  <a:pt x="0" y="819911"/>
                </a:lnTo>
                <a:close/>
              </a:path>
              <a:path w="3625850" h="1530350">
                <a:moveTo>
                  <a:pt x="0" y="1530095"/>
                </a:moveTo>
                <a:lnTo>
                  <a:pt x="3625596" y="1530095"/>
                </a:lnTo>
                <a:lnTo>
                  <a:pt x="3625596" y="946403"/>
                </a:lnTo>
                <a:lnTo>
                  <a:pt x="0" y="946403"/>
                </a:lnTo>
                <a:lnTo>
                  <a:pt x="0" y="1530095"/>
                </a:lnTo>
                <a:close/>
              </a:path>
            </a:pathLst>
          </a:custGeom>
          <a:ln w="19050">
            <a:solidFill>
              <a:srgbClr val="2E528F"/>
            </a:solidFill>
            <a:prstDash val="sysDot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18591" y="4596637"/>
            <a:ext cx="512445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 marR="0" lvl="0" indent="0" defTabSz="914400" eaLnBrk="1" fontAlgn="auto" latinLnBrk="0" hangingPunct="1">
              <a:lnSpc>
                <a:spcPts val="2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P2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390781" y="4596637"/>
            <a:ext cx="935990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4945" marR="0" lvl="0" indent="0" defTabSz="914400" eaLnBrk="1" fontAlgn="auto" latinLnBrk="0" hangingPunct="1">
              <a:lnSpc>
                <a:spcPts val="2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Titre2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76575" y="4597398"/>
            <a:ext cx="1521460" cy="28956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840" marR="0" lvl="0" indent="0" defTabSz="914400" eaLnBrk="1" fontAlgn="auto" latinLnBrk="0" hangingPunct="1">
              <a:lnSpc>
                <a:spcPts val="2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Comment2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0" name="object 35"/>
          <p:cNvSpPr txBox="1"/>
          <p:nvPr/>
        </p:nvSpPr>
        <p:spPr>
          <a:xfrm>
            <a:off x="10387256" y="4596637"/>
            <a:ext cx="512445" cy="26930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 marR="0" lvl="0" indent="0" defTabSz="914400" eaLnBrk="1" fontAlgn="auto" latinLnBrk="0" hangingPunct="1">
              <a:lnSpc>
                <a:spcPts val="2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30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082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3911" y="345947"/>
            <a:ext cx="659892" cy="650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8876" y="429005"/>
            <a:ext cx="4472305" cy="587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9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 Caractéristiques</a:t>
            </a:r>
            <a:endParaRPr sz="1800" dirty="0"/>
          </a:p>
        </p:txBody>
      </p:sp>
      <p:sp>
        <p:nvSpPr>
          <p:cNvPr id="5" name="object 5"/>
          <p:cNvSpPr txBox="1"/>
          <p:nvPr/>
        </p:nvSpPr>
        <p:spPr>
          <a:xfrm>
            <a:off x="798982" y="1602689"/>
            <a:ext cx="10591800" cy="4754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2-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Architecture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distribuée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6350" lvl="0" indent="-287020" algn="just" defTabSz="914400" eaLnBrk="1" fontAlgn="auto" latinLnBrk="0" hangingPunct="1">
              <a:lnSpc>
                <a:spcPct val="150000"/>
              </a:lnSpc>
              <a:spcBef>
                <a:spcPts val="63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  <a:tab pos="30035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Le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volume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1600" b="0" i="0" u="none" strike="noStrike" kern="0" cap="none" spc="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stocker</a:t>
            </a:r>
            <a:r>
              <a:rPr kumimoji="0" sz="1600" b="0" i="0" u="none" strike="noStrike" kern="0" cap="none" spc="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ainsi</a:t>
            </a:r>
            <a:r>
              <a:rPr kumimoji="0" sz="1600" b="0" i="0" u="none" strike="noStrike" kern="0" cap="none" spc="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traitements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demandées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</a:t>
            </a:r>
            <a:r>
              <a:rPr kumimoji="0" sz="1600" b="0" i="0" u="none" strike="noStrike" kern="0" cap="none" spc="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organismes</a:t>
            </a:r>
            <a:r>
              <a:rPr kumimoji="0" sz="1600" b="0" i="0" u="none" strike="noStrike" kern="0" cap="none" spc="9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modernes,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peuvent</a:t>
            </a:r>
            <a:r>
              <a:rPr kumimoji="0" sz="1600" b="0" i="0" u="none" strike="noStrike" kern="0" cap="none" spc="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sz="1600" b="0" i="0" u="none" strike="noStrike" kern="0" cap="none" spc="8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être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satisfaits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1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1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seule</a:t>
            </a:r>
            <a:r>
              <a:rPr kumimoji="0" sz="1600" b="0" i="0" u="none" strike="noStrike" kern="0" cap="none" spc="1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quelque</a:t>
            </a:r>
            <a:r>
              <a:rPr kumimoji="0" sz="1600" b="0" i="0" u="none" strike="noStrike" kern="0" cap="none" spc="1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soit</a:t>
            </a:r>
            <a:r>
              <a:rPr kumimoji="0" sz="1600" b="0" i="0" u="none" strike="noStrike" kern="0" cap="none" spc="1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sa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performance,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même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utilisant</a:t>
            </a:r>
            <a:r>
              <a:rPr kumimoji="0" sz="1600" b="0" i="0" u="none" strike="noStrike" kern="0" cap="none" spc="1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1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réseau</a:t>
            </a:r>
            <a:r>
              <a:rPr kumimoji="0" sz="1600" b="0" i="0" u="none" strike="noStrike" kern="0" cap="none" spc="1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1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1600" b="0" i="0" u="none" strike="noStrike" kern="0" cap="none" spc="1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l’interconnexion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entre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machines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rendent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traitements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très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lents,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080" lvl="0" indent="-287020" algn="just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  <a:tab pos="48577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Solution</a:t>
            </a:r>
            <a:r>
              <a:rPr kumimoji="0" sz="1600" b="1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patron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d’architecture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propose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distribuer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traitements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travail/la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8245"/>
                </a:solidFill>
                <a:effectLst/>
                <a:uLnTx/>
                <a:uFillTx/>
                <a:latin typeface="Calibri"/>
                <a:cs typeface="Calibri"/>
              </a:rPr>
              <a:t>charge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plusieurs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puis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regrouper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résultats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chaque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agrège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dans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résultat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final</a:t>
            </a:r>
            <a:r>
              <a:rPr kumimoji="0" sz="1600" b="0" i="0" u="none" strike="noStrike" kern="0" cap="none" spc="29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Apparition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 err="1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MapReduce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2003,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MAIS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traditionnelles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permettent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pas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l’implantation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d’un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tel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patron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d’architecture,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3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3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3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conçues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pour</a:t>
            </a:r>
            <a:r>
              <a:rPr kumimoji="0" sz="1600" b="0" i="0" u="none" strike="noStrike" kern="0" cap="none" spc="3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distribuer</a:t>
            </a:r>
            <a:r>
              <a:rPr kumimoji="0" sz="1600" b="0" i="0" u="none" strike="noStrike" kern="0" cap="none" spc="3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3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traitements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associés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3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3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multiple</a:t>
            </a:r>
            <a:r>
              <a:rPr kumimoji="0" sz="1600" b="0" i="0" u="none" strike="noStrike" kern="0" cap="none" spc="3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nœuds(serveurs)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0" defTabSz="914400" eaLnBrk="1" fontAlgn="auto" latinLnBrk="0" hangingPunct="1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partitionnement</a:t>
            </a:r>
            <a:r>
              <a:rPr kumimoji="0" sz="1600" b="0" i="0" u="none" strike="noStrike" kern="0" cap="none" spc="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horizontal,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6350" lvl="0" indent="-287020" algn="just" defTabSz="914400" eaLnBrk="1" fontAlgn="auto" latinLnBrk="0" hangingPunct="1">
              <a:lnSpc>
                <a:spcPct val="1501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  <a:tab pos="43942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Problème</a:t>
            </a:r>
            <a:r>
              <a:rPr kumimoji="0" sz="1600" b="1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impossible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d’avoir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même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temps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1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disponibilité</a:t>
            </a:r>
            <a:r>
              <a:rPr kumimoji="0" sz="1600" b="0" i="0" u="none" strike="noStrike" kern="0" cap="none" spc="1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1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satisfaisante,</a:t>
            </a:r>
            <a:r>
              <a:rPr kumimoji="0" sz="1600" b="0" i="0" u="none" strike="noStrike" kern="0" cap="none" spc="1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tolérance</a:t>
            </a:r>
            <a:r>
              <a:rPr kumimoji="0" sz="1600" b="0" i="0" u="none" strike="noStrike" kern="0" cap="none" spc="1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 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partitionnement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meilleure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cohérence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Il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faut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toujours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condamné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aspect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faveur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autres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!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3109" y="5064819"/>
            <a:ext cx="494665" cy="586740"/>
          </a:xfrm>
          <a:custGeom>
            <a:avLst/>
            <a:gdLst/>
            <a:ahLst/>
            <a:cxnLst/>
            <a:rect l="l" t="t" r="r" b="b"/>
            <a:pathLst>
              <a:path w="494665" h="586739">
                <a:moveTo>
                  <a:pt x="226573" y="0"/>
                </a:moveTo>
                <a:lnTo>
                  <a:pt x="176241" y="3934"/>
                </a:lnTo>
                <a:lnTo>
                  <a:pt x="129631" y="18685"/>
                </a:lnTo>
                <a:lnTo>
                  <a:pt x="88101" y="42990"/>
                </a:lnTo>
                <a:lnTo>
                  <a:pt x="53013" y="75584"/>
                </a:lnTo>
                <a:lnTo>
                  <a:pt x="25727" y="115203"/>
                </a:lnTo>
                <a:lnTo>
                  <a:pt x="7602" y="160585"/>
                </a:lnTo>
                <a:lnTo>
                  <a:pt x="0" y="210465"/>
                </a:lnTo>
                <a:lnTo>
                  <a:pt x="0" y="226410"/>
                </a:lnTo>
                <a:lnTo>
                  <a:pt x="5644" y="276992"/>
                </a:lnTo>
                <a:lnTo>
                  <a:pt x="22414" y="324368"/>
                </a:lnTo>
                <a:lnTo>
                  <a:pt x="49436" y="366748"/>
                </a:lnTo>
                <a:lnTo>
                  <a:pt x="85838" y="402343"/>
                </a:lnTo>
                <a:lnTo>
                  <a:pt x="85838" y="586273"/>
                </a:lnTo>
                <a:lnTo>
                  <a:pt x="315709" y="586273"/>
                </a:lnTo>
                <a:lnTo>
                  <a:pt x="315709" y="499033"/>
                </a:lnTo>
                <a:lnTo>
                  <a:pt x="351354" y="499033"/>
                </a:lnTo>
                <a:lnTo>
                  <a:pt x="384769" y="492296"/>
                </a:lnTo>
                <a:lnTo>
                  <a:pt x="412056" y="473915"/>
                </a:lnTo>
                <a:lnTo>
                  <a:pt x="430455" y="446650"/>
                </a:lnTo>
                <a:lnTo>
                  <a:pt x="437204" y="413260"/>
                </a:lnTo>
                <a:lnTo>
                  <a:pt x="437192" y="368174"/>
                </a:lnTo>
                <a:lnTo>
                  <a:pt x="469200" y="368174"/>
                </a:lnTo>
                <a:lnTo>
                  <a:pt x="482478" y="363085"/>
                </a:lnTo>
                <a:lnTo>
                  <a:pt x="488946" y="355506"/>
                </a:lnTo>
                <a:lnTo>
                  <a:pt x="209266" y="355506"/>
                </a:lnTo>
                <a:lnTo>
                  <a:pt x="200623" y="353864"/>
                </a:lnTo>
                <a:lnTo>
                  <a:pt x="193415" y="349324"/>
                </a:lnTo>
                <a:lnTo>
                  <a:pt x="188314" y="342505"/>
                </a:lnTo>
                <a:lnTo>
                  <a:pt x="185988" y="334023"/>
                </a:lnTo>
                <a:lnTo>
                  <a:pt x="493724" y="334023"/>
                </a:lnTo>
                <a:lnTo>
                  <a:pt x="488095" y="319156"/>
                </a:lnTo>
                <a:lnTo>
                  <a:pt x="177210" y="319156"/>
                </a:lnTo>
                <a:lnTo>
                  <a:pt x="171525" y="319011"/>
                </a:lnTo>
                <a:lnTo>
                  <a:pt x="171294" y="319011"/>
                </a:lnTo>
                <a:lnTo>
                  <a:pt x="166602" y="314074"/>
                </a:lnTo>
                <a:lnTo>
                  <a:pt x="166902" y="302787"/>
                </a:lnTo>
                <a:lnTo>
                  <a:pt x="166911" y="302442"/>
                </a:lnTo>
                <a:lnTo>
                  <a:pt x="171494" y="297855"/>
                </a:lnTo>
                <a:lnTo>
                  <a:pt x="171262" y="297855"/>
                </a:lnTo>
                <a:lnTo>
                  <a:pt x="177210" y="297704"/>
                </a:lnTo>
                <a:lnTo>
                  <a:pt x="476120" y="297704"/>
                </a:lnTo>
                <a:lnTo>
                  <a:pt x="467552" y="282813"/>
                </a:lnTo>
                <a:lnTo>
                  <a:pt x="164341" y="282813"/>
                </a:lnTo>
                <a:lnTo>
                  <a:pt x="161861" y="281274"/>
                </a:lnTo>
                <a:lnTo>
                  <a:pt x="138832" y="243494"/>
                </a:lnTo>
                <a:lnTo>
                  <a:pt x="133915" y="237438"/>
                </a:lnTo>
                <a:lnTo>
                  <a:pt x="129566" y="230983"/>
                </a:lnTo>
                <a:lnTo>
                  <a:pt x="116793" y="193078"/>
                </a:lnTo>
                <a:lnTo>
                  <a:pt x="116190" y="184850"/>
                </a:lnTo>
                <a:lnTo>
                  <a:pt x="116190" y="181639"/>
                </a:lnTo>
                <a:lnTo>
                  <a:pt x="123969" y="145889"/>
                </a:lnTo>
                <a:lnTo>
                  <a:pt x="143996" y="116759"/>
                </a:lnTo>
                <a:lnTo>
                  <a:pt x="173379" y="97092"/>
                </a:lnTo>
                <a:lnTo>
                  <a:pt x="209254" y="89735"/>
                </a:lnTo>
                <a:lnTo>
                  <a:pt x="395165" y="89735"/>
                </a:lnTo>
                <a:lnTo>
                  <a:pt x="394158" y="88017"/>
                </a:lnTo>
                <a:lnTo>
                  <a:pt x="361541" y="52952"/>
                </a:lnTo>
                <a:lnTo>
                  <a:pt x="321895" y="25687"/>
                </a:lnTo>
                <a:lnTo>
                  <a:pt x="276484" y="7583"/>
                </a:lnTo>
                <a:lnTo>
                  <a:pt x="226573" y="0"/>
                </a:lnTo>
                <a:close/>
              </a:path>
              <a:path w="494665" h="586739">
                <a:moveTo>
                  <a:pt x="493724" y="334023"/>
                </a:moveTo>
                <a:lnTo>
                  <a:pt x="232490" y="334023"/>
                </a:lnTo>
                <a:lnTo>
                  <a:pt x="230159" y="342505"/>
                </a:lnTo>
                <a:lnTo>
                  <a:pt x="225049" y="349324"/>
                </a:lnTo>
                <a:lnTo>
                  <a:pt x="220818" y="351998"/>
                </a:lnTo>
                <a:lnTo>
                  <a:pt x="217807" y="353864"/>
                </a:lnTo>
                <a:lnTo>
                  <a:pt x="209266" y="355506"/>
                </a:lnTo>
                <a:lnTo>
                  <a:pt x="488946" y="355506"/>
                </a:lnTo>
                <a:lnTo>
                  <a:pt x="491939" y="351998"/>
                </a:lnTo>
                <a:lnTo>
                  <a:pt x="494577" y="336277"/>
                </a:lnTo>
                <a:lnTo>
                  <a:pt x="493724" y="334023"/>
                </a:lnTo>
                <a:close/>
              </a:path>
              <a:path w="494665" h="586739">
                <a:moveTo>
                  <a:pt x="476120" y="297704"/>
                </a:moveTo>
                <a:lnTo>
                  <a:pt x="241316" y="297704"/>
                </a:lnTo>
                <a:lnTo>
                  <a:pt x="247245" y="297855"/>
                </a:lnTo>
                <a:lnTo>
                  <a:pt x="251925" y="302787"/>
                </a:lnTo>
                <a:lnTo>
                  <a:pt x="251631" y="314074"/>
                </a:lnTo>
                <a:lnTo>
                  <a:pt x="251622" y="314419"/>
                </a:lnTo>
                <a:lnTo>
                  <a:pt x="247027" y="319011"/>
                </a:lnTo>
                <a:lnTo>
                  <a:pt x="241316" y="319156"/>
                </a:lnTo>
                <a:lnTo>
                  <a:pt x="488095" y="319156"/>
                </a:lnTo>
                <a:lnTo>
                  <a:pt x="487386" y="317284"/>
                </a:lnTo>
                <a:lnTo>
                  <a:pt x="476207" y="297855"/>
                </a:lnTo>
                <a:lnTo>
                  <a:pt x="476120" y="297704"/>
                </a:lnTo>
                <a:close/>
              </a:path>
              <a:path w="494665" h="586739">
                <a:moveTo>
                  <a:pt x="395165" y="89735"/>
                </a:moveTo>
                <a:lnTo>
                  <a:pt x="209254" y="89735"/>
                </a:lnTo>
                <a:lnTo>
                  <a:pt x="245097" y="97092"/>
                </a:lnTo>
                <a:lnTo>
                  <a:pt x="274474" y="116759"/>
                </a:lnTo>
                <a:lnTo>
                  <a:pt x="294497" y="145889"/>
                </a:lnTo>
                <a:lnTo>
                  <a:pt x="302276" y="181639"/>
                </a:lnTo>
                <a:lnTo>
                  <a:pt x="302276" y="184850"/>
                </a:lnTo>
                <a:lnTo>
                  <a:pt x="292658" y="224168"/>
                </a:lnTo>
                <a:lnTo>
                  <a:pt x="279628" y="243494"/>
                </a:lnTo>
                <a:lnTo>
                  <a:pt x="273418" y="251843"/>
                </a:lnTo>
                <a:lnTo>
                  <a:pt x="267708" y="260533"/>
                </a:lnTo>
                <a:lnTo>
                  <a:pt x="262513" y="269542"/>
                </a:lnTo>
                <a:lnTo>
                  <a:pt x="256641" y="281274"/>
                </a:lnTo>
                <a:lnTo>
                  <a:pt x="254156" y="282813"/>
                </a:lnTo>
                <a:lnTo>
                  <a:pt x="467552" y="282813"/>
                </a:lnTo>
                <a:lnTo>
                  <a:pt x="437192" y="230045"/>
                </a:lnTo>
                <a:lnTo>
                  <a:pt x="437192" y="226410"/>
                </a:lnTo>
                <a:lnTo>
                  <a:pt x="433248" y="176106"/>
                </a:lnTo>
                <a:lnTo>
                  <a:pt x="418482" y="129522"/>
                </a:lnTo>
                <a:lnTo>
                  <a:pt x="395165" y="89735"/>
                </a:lnTo>
                <a:close/>
              </a:path>
            </a:pathLst>
          </a:custGeom>
          <a:solidFill>
            <a:srgbClr val="F6B89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2578" y="3045398"/>
            <a:ext cx="445770" cy="527050"/>
          </a:xfrm>
          <a:custGeom>
            <a:avLst/>
            <a:gdLst/>
            <a:ahLst/>
            <a:cxnLst/>
            <a:rect l="l" t="t" r="r" b="b"/>
            <a:pathLst>
              <a:path w="445769" h="527050">
                <a:moveTo>
                  <a:pt x="204062" y="0"/>
                </a:moveTo>
                <a:lnTo>
                  <a:pt x="158731" y="3534"/>
                </a:lnTo>
                <a:lnTo>
                  <a:pt x="116751" y="16788"/>
                </a:lnTo>
                <a:lnTo>
                  <a:pt x="79348" y="38625"/>
                </a:lnTo>
                <a:lnTo>
                  <a:pt x="47746" y="67910"/>
                </a:lnTo>
                <a:lnTo>
                  <a:pt x="23171" y="103508"/>
                </a:lnTo>
                <a:lnTo>
                  <a:pt x="6847" y="144282"/>
                </a:lnTo>
                <a:lnTo>
                  <a:pt x="0" y="189098"/>
                </a:lnTo>
                <a:lnTo>
                  <a:pt x="0" y="203425"/>
                </a:lnTo>
                <a:lnTo>
                  <a:pt x="5083" y="248872"/>
                </a:lnTo>
                <a:lnTo>
                  <a:pt x="20187" y="291438"/>
                </a:lnTo>
                <a:lnTo>
                  <a:pt x="44524" y="329516"/>
                </a:lnTo>
                <a:lnTo>
                  <a:pt x="77309" y="361497"/>
                </a:lnTo>
                <a:lnTo>
                  <a:pt x="77309" y="526754"/>
                </a:lnTo>
                <a:lnTo>
                  <a:pt x="284342" y="526754"/>
                </a:lnTo>
                <a:lnTo>
                  <a:pt x="284342" y="448371"/>
                </a:lnTo>
                <a:lnTo>
                  <a:pt x="316445" y="448371"/>
                </a:lnTo>
                <a:lnTo>
                  <a:pt x="346540" y="442318"/>
                </a:lnTo>
                <a:lnTo>
                  <a:pt x="371116" y="425803"/>
                </a:lnTo>
                <a:lnTo>
                  <a:pt x="387686" y="401306"/>
                </a:lnTo>
                <a:lnTo>
                  <a:pt x="393765" y="371306"/>
                </a:lnTo>
                <a:lnTo>
                  <a:pt x="393754" y="330797"/>
                </a:lnTo>
                <a:lnTo>
                  <a:pt x="422582" y="330797"/>
                </a:lnTo>
                <a:lnTo>
                  <a:pt x="434541" y="326225"/>
                </a:lnTo>
                <a:lnTo>
                  <a:pt x="440454" y="319312"/>
                </a:lnTo>
                <a:lnTo>
                  <a:pt x="188442" y="319312"/>
                </a:lnTo>
                <a:lnTo>
                  <a:pt x="180657" y="317830"/>
                </a:lnTo>
                <a:lnTo>
                  <a:pt x="174165" y="313748"/>
                </a:lnTo>
                <a:lnTo>
                  <a:pt x="169571" y="307619"/>
                </a:lnTo>
                <a:lnTo>
                  <a:pt x="167476" y="299999"/>
                </a:lnTo>
                <a:lnTo>
                  <a:pt x="444626" y="299999"/>
                </a:lnTo>
                <a:lnTo>
                  <a:pt x="439544" y="286609"/>
                </a:lnTo>
                <a:lnTo>
                  <a:pt x="154215" y="286609"/>
                </a:lnTo>
                <a:lnTo>
                  <a:pt x="149885" y="282292"/>
                </a:lnTo>
                <a:lnTo>
                  <a:pt x="149885" y="271640"/>
                </a:lnTo>
                <a:lnTo>
                  <a:pt x="154215" y="267323"/>
                </a:lnTo>
                <a:lnTo>
                  <a:pt x="428724" y="267323"/>
                </a:lnTo>
                <a:lnTo>
                  <a:pt x="423663" y="258549"/>
                </a:lnTo>
                <a:lnTo>
                  <a:pt x="100038" y="258549"/>
                </a:lnTo>
                <a:lnTo>
                  <a:pt x="94758" y="258238"/>
                </a:lnTo>
                <a:lnTo>
                  <a:pt x="88878" y="251647"/>
                </a:lnTo>
                <a:lnTo>
                  <a:pt x="88878" y="246895"/>
                </a:lnTo>
                <a:lnTo>
                  <a:pt x="91690" y="243738"/>
                </a:lnTo>
                <a:lnTo>
                  <a:pt x="108304" y="227174"/>
                </a:lnTo>
                <a:lnTo>
                  <a:pt x="111602" y="224022"/>
                </a:lnTo>
                <a:lnTo>
                  <a:pt x="129061" y="224022"/>
                </a:lnTo>
                <a:lnTo>
                  <a:pt x="124994" y="218579"/>
                </a:lnTo>
                <a:lnTo>
                  <a:pt x="106290" y="180566"/>
                </a:lnTo>
                <a:lnTo>
                  <a:pt x="104959" y="170929"/>
                </a:lnTo>
                <a:lnTo>
                  <a:pt x="56726" y="170929"/>
                </a:lnTo>
                <a:lnTo>
                  <a:pt x="52986" y="167200"/>
                </a:lnTo>
                <a:lnTo>
                  <a:pt x="52986" y="158001"/>
                </a:lnTo>
                <a:lnTo>
                  <a:pt x="56726" y="154272"/>
                </a:lnTo>
                <a:lnTo>
                  <a:pt x="106483" y="154272"/>
                </a:lnTo>
                <a:lnTo>
                  <a:pt x="111598" y="130836"/>
                </a:lnTo>
                <a:lnTo>
                  <a:pt x="129646" y="104647"/>
                </a:lnTo>
                <a:lnTo>
                  <a:pt x="135719" y="100591"/>
                </a:lnTo>
                <a:lnTo>
                  <a:pt x="111427" y="100591"/>
                </a:lnTo>
                <a:lnTo>
                  <a:pt x="108260" y="97788"/>
                </a:lnTo>
                <a:lnTo>
                  <a:pt x="88381" y="78023"/>
                </a:lnTo>
                <a:lnTo>
                  <a:pt x="88376" y="72743"/>
                </a:lnTo>
                <a:lnTo>
                  <a:pt x="94906" y="66233"/>
                </a:lnTo>
                <a:lnTo>
                  <a:pt x="181863" y="66233"/>
                </a:lnTo>
                <a:lnTo>
                  <a:pt x="180749" y="65123"/>
                </a:lnTo>
                <a:lnTo>
                  <a:pt x="180749" y="32496"/>
                </a:lnTo>
                <a:lnTo>
                  <a:pt x="184489" y="28794"/>
                </a:lnTo>
                <a:lnTo>
                  <a:pt x="298243" y="28794"/>
                </a:lnTo>
                <a:lnTo>
                  <a:pt x="289913" y="23079"/>
                </a:lnTo>
                <a:lnTo>
                  <a:pt x="249014" y="6813"/>
                </a:lnTo>
                <a:lnTo>
                  <a:pt x="204062" y="0"/>
                </a:lnTo>
                <a:close/>
              </a:path>
              <a:path w="445769" h="527050">
                <a:moveTo>
                  <a:pt x="444626" y="299999"/>
                </a:moveTo>
                <a:lnTo>
                  <a:pt x="209407" y="299999"/>
                </a:lnTo>
                <a:lnTo>
                  <a:pt x="207309" y="307619"/>
                </a:lnTo>
                <a:lnTo>
                  <a:pt x="202713" y="313748"/>
                </a:lnTo>
                <a:lnTo>
                  <a:pt x="196222" y="317830"/>
                </a:lnTo>
                <a:lnTo>
                  <a:pt x="188442" y="319312"/>
                </a:lnTo>
                <a:lnTo>
                  <a:pt x="440454" y="319312"/>
                </a:lnTo>
                <a:lnTo>
                  <a:pt x="443062" y="316263"/>
                </a:lnTo>
                <a:lnTo>
                  <a:pt x="445438" y="302138"/>
                </a:lnTo>
                <a:lnTo>
                  <a:pt x="444626" y="299999"/>
                </a:lnTo>
                <a:close/>
              </a:path>
              <a:path w="445769" h="527050">
                <a:moveTo>
                  <a:pt x="428724" y="267323"/>
                </a:moveTo>
                <a:lnTo>
                  <a:pt x="222669" y="267323"/>
                </a:lnTo>
                <a:lnTo>
                  <a:pt x="226998" y="271640"/>
                </a:lnTo>
                <a:lnTo>
                  <a:pt x="226998" y="282292"/>
                </a:lnTo>
                <a:lnTo>
                  <a:pt x="222669" y="286609"/>
                </a:lnTo>
                <a:lnTo>
                  <a:pt x="439544" y="286609"/>
                </a:lnTo>
                <a:lnTo>
                  <a:pt x="438961" y="285074"/>
                </a:lnTo>
                <a:lnTo>
                  <a:pt x="428724" y="267323"/>
                </a:lnTo>
                <a:close/>
              </a:path>
              <a:path w="445769" h="527050">
                <a:moveTo>
                  <a:pt x="129061" y="224022"/>
                </a:moveTo>
                <a:lnTo>
                  <a:pt x="116805" y="224022"/>
                </a:lnTo>
                <a:lnTo>
                  <a:pt x="120097" y="227174"/>
                </a:lnTo>
                <a:lnTo>
                  <a:pt x="123345" y="230423"/>
                </a:lnTo>
                <a:lnTo>
                  <a:pt x="123345" y="235682"/>
                </a:lnTo>
                <a:lnTo>
                  <a:pt x="103483" y="255495"/>
                </a:lnTo>
                <a:lnTo>
                  <a:pt x="100038" y="258549"/>
                </a:lnTo>
                <a:lnTo>
                  <a:pt x="423663" y="258549"/>
                </a:lnTo>
                <a:lnTo>
                  <a:pt x="423038" y="257465"/>
                </a:lnTo>
                <a:lnTo>
                  <a:pt x="278112" y="257465"/>
                </a:lnTo>
                <a:lnTo>
                  <a:pt x="274567" y="253933"/>
                </a:lnTo>
                <a:lnTo>
                  <a:pt x="147974" y="253933"/>
                </a:lnTo>
                <a:lnTo>
                  <a:pt x="145741" y="252550"/>
                </a:lnTo>
                <a:lnTo>
                  <a:pt x="140442" y="241999"/>
                </a:lnTo>
                <a:lnTo>
                  <a:pt x="135755" y="233898"/>
                </a:lnTo>
                <a:lnTo>
                  <a:pt x="130602" y="226084"/>
                </a:lnTo>
                <a:lnTo>
                  <a:pt x="129061" y="224022"/>
                </a:lnTo>
                <a:close/>
              </a:path>
              <a:path w="445769" h="527050">
                <a:moveTo>
                  <a:pt x="403031" y="222776"/>
                </a:moveTo>
                <a:lnTo>
                  <a:pt x="266729" y="222776"/>
                </a:lnTo>
                <a:lnTo>
                  <a:pt x="270032" y="225905"/>
                </a:lnTo>
                <a:lnTo>
                  <a:pt x="289894" y="245724"/>
                </a:lnTo>
                <a:lnTo>
                  <a:pt x="289894" y="250977"/>
                </a:lnTo>
                <a:lnTo>
                  <a:pt x="283381" y="257465"/>
                </a:lnTo>
                <a:lnTo>
                  <a:pt x="423038" y="257465"/>
                </a:lnTo>
                <a:lnTo>
                  <a:pt x="403031" y="222776"/>
                </a:lnTo>
                <a:close/>
              </a:path>
              <a:path w="445769" h="527050">
                <a:moveTo>
                  <a:pt x="265198" y="80347"/>
                </a:moveTo>
                <a:lnTo>
                  <a:pt x="188431" y="80347"/>
                </a:lnTo>
                <a:lnTo>
                  <a:pt x="220745" y="86962"/>
                </a:lnTo>
                <a:lnTo>
                  <a:pt x="247227" y="104647"/>
                </a:lnTo>
                <a:lnTo>
                  <a:pt x="265276" y="130836"/>
                </a:lnTo>
                <a:lnTo>
                  <a:pt x="272292" y="162965"/>
                </a:lnTo>
                <a:lnTo>
                  <a:pt x="272193" y="167200"/>
                </a:lnTo>
                <a:lnTo>
                  <a:pt x="260236" y="207330"/>
                </a:lnTo>
                <a:lnTo>
                  <a:pt x="251884" y="218579"/>
                </a:lnTo>
                <a:lnTo>
                  <a:pt x="246278" y="226084"/>
                </a:lnTo>
                <a:lnTo>
                  <a:pt x="241125" y="233898"/>
                </a:lnTo>
                <a:lnTo>
                  <a:pt x="236437" y="241999"/>
                </a:lnTo>
                <a:lnTo>
                  <a:pt x="231142" y="252550"/>
                </a:lnTo>
                <a:lnTo>
                  <a:pt x="228904" y="253933"/>
                </a:lnTo>
                <a:lnTo>
                  <a:pt x="274567" y="253933"/>
                </a:lnTo>
                <a:lnTo>
                  <a:pt x="255001" y="234408"/>
                </a:lnTo>
                <a:lnTo>
                  <a:pt x="255001" y="229161"/>
                </a:lnTo>
                <a:lnTo>
                  <a:pt x="258239" y="225905"/>
                </a:lnTo>
                <a:lnTo>
                  <a:pt x="261542" y="222776"/>
                </a:lnTo>
                <a:lnTo>
                  <a:pt x="403031" y="222776"/>
                </a:lnTo>
                <a:lnTo>
                  <a:pt x="393754" y="206691"/>
                </a:lnTo>
                <a:lnTo>
                  <a:pt x="393754" y="203425"/>
                </a:lnTo>
                <a:lnTo>
                  <a:pt x="391201" y="170929"/>
                </a:lnTo>
                <a:lnTo>
                  <a:pt x="391183" y="170700"/>
                </a:lnTo>
                <a:lnTo>
                  <a:pt x="287497" y="170700"/>
                </a:lnTo>
                <a:lnTo>
                  <a:pt x="283757" y="166971"/>
                </a:lnTo>
                <a:lnTo>
                  <a:pt x="283757" y="157772"/>
                </a:lnTo>
                <a:lnTo>
                  <a:pt x="287497" y="154044"/>
                </a:lnTo>
                <a:lnTo>
                  <a:pt x="388873" y="154044"/>
                </a:lnTo>
                <a:lnTo>
                  <a:pt x="376903" y="116372"/>
                </a:lnTo>
                <a:lnTo>
                  <a:pt x="368867" y="102692"/>
                </a:lnTo>
                <a:lnTo>
                  <a:pt x="261635" y="102692"/>
                </a:lnTo>
                <a:lnTo>
                  <a:pt x="254837" y="96481"/>
                </a:lnTo>
                <a:lnTo>
                  <a:pt x="254608" y="91218"/>
                </a:lnTo>
                <a:lnTo>
                  <a:pt x="258053" y="87483"/>
                </a:lnTo>
                <a:lnTo>
                  <a:pt x="258233" y="87320"/>
                </a:lnTo>
                <a:lnTo>
                  <a:pt x="258565" y="86962"/>
                </a:lnTo>
                <a:lnTo>
                  <a:pt x="265198" y="80347"/>
                </a:lnTo>
                <a:close/>
              </a:path>
              <a:path w="445769" h="527050">
                <a:moveTo>
                  <a:pt x="106483" y="154272"/>
                </a:moveTo>
                <a:lnTo>
                  <a:pt x="89446" y="154272"/>
                </a:lnTo>
                <a:lnTo>
                  <a:pt x="93186" y="158001"/>
                </a:lnTo>
                <a:lnTo>
                  <a:pt x="93186" y="167200"/>
                </a:lnTo>
                <a:lnTo>
                  <a:pt x="89446" y="170929"/>
                </a:lnTo>
                <a:lnTo>
                  <a:pt x="104959" y="170929"/>
                </a:lnTo>
                <a:lnTo>
                  <a:pt x="104685" y="167200"/>
                </a:lnTo>
                <a:lnTo>
                  <a:pt x="104586" y="162965"/>
                </a:lnTo>
                <a:lnTo>
                  <a:pt x="106483" y="154272"/>
                </a:lnTo>
                <a:close/>
              </a:path>
              <a:path w="445769" h="527050">
                <a:moveTo>
                  <a:pt x="388873" y="154044"/>
                </a:moveTo>
                <a:lnTo>
                  <a:pt x="320223" y="154044"/>
                </a:lnTo>
                <a:lnTo>
                  <a:pt x="323963" y="157772"/>
                </a:lnTo>
                <a:lnTo>
                  <a:pt x="323963" y="166971"/>
                </a:lnTo>
                <a:lnTo>
                  <a:pt x="320223" y="170700"/>
                </a:lnTo>
                <a:lnTo>
                  <a:pt x="391183" y="170700"/>
                </a:lnTo>
                <a:lnTo>
                  <a:pt x="390202" y="158228"/>
                </a:lnTo>
                <a:lnTo>
                  <a:pt x="388946" y="154272"/>
                </a:lnTo>
                <a:lnTo>
                  <a:pt x="388873" y="154044"/>
                </a:lnTo>
                <a:close/>
              </a:path>
              <a:path w="445769" h="527050">
                <a:moveTo>
                  <a:pt x="344280" y="67588"/>
                </a:moveTo>
                <a:lnTo>
                  <a:pt x="283326" y="67588"/>
                </a:lnTo>
                <a:lnTo>
                  <a:pt x="286624" y="70740"/>
                </a:lnTo>
                <a:lnTo>
                  <a:pt x="289872" y="73990"/>
                </a:lnTo>
                <a:lnTo>
                  <a:pt x="289872" y="79248"/>
                </a:lnTo>
                <a:lnTo>
                  <a:pt x="270026" y="99078"/>
                </a:lnTo>
                <a:lnTo>
                  <a:pt x="266914" y="102463"/>
                </a:lnTo>
                <a:lnTo>
                  <a:pt x="261635" y="102692"/>
                </a:lnTo>
                <a:lnTo>
                  <a:pt x="368867" y="102692"/>
                </a:lnTo>
                <a:lnTo>
                  <a:pt x="355094" y="79248"/>
                </a:lnTo>
                <a:lnTo>
                  <a:pt x="354996" y="79081"/>
                </a:lnTo>
                <a:lnTo>
                  <a:pt x="344280" y="67588"/>
                </a:lnTo>
                <a:close/>
              </a:path>
              <a:path w="445769" h="527050">
                <a:moveTo>
                  <a:pt x="181863" y="66233"/>
                </a:moveTo>
                <a:lnTo>
                  <a:pt x="100174" y="66233"/>
                </a:lnTo>
                <a:lnTo>
                  <a:pt x="120053" y="86030"/>
                </a:lnTo>
                <a:lnTo>
                  <a:pt x="123116" y="89470"/>
                </a:lnTo>
                <a:lnTo>
                  <a:pt x="122805" y="94734"/>
                </a:lnTo>
                <a:lnTo>
                  <a:pt x="116193" y="100591"/>
                </a:lnTo>
                <a:lnTo>
                  <a:pt x="135719" y="100591"/>
                </a:lnTo>
                <a:lnTo>
                  <a:pt x="156125" y="86962"/>
                </a:lnTo>
                <a:lnTo>
                  <a:pt x="188431" y="80347"/>
                </a:lnTo>
                <a:lnTo>
                  <a:pt x="265198" y="80347"/>
                </a:lnTo>
                <a:lnTo>
                  <a:pt x="274831" y="70740"/>
                </a:lnTo>
                <a:lnTo>
                  <a:pt x="276804" y="68851"/>
                </a:lnTo>
                <a:lnTo>
                  <a:pt x="184489" y="68851"/>
                </a:lnTo>
                <a:lnTo>
                  <a:pt x="181863" y="66233"/>
                </a:lnTo>
                <a:close/>
              </a:path>
              <a:path w="445769" h="527050">
                <a:moveTo>
                  <a:pt x="298243" y="28794"/>
                </a:moveTo>
                <a:lnTo>
                  <a:pt x="193716" y="28794"/>
                </a:lnTo>
                <a:lnTo>
                  <a:pt x="197456" y="32496"/>
                </a:lnTo>
                <a:lnTo>
                  <a:pt x="197456" y="65123"/>
                </a:lnTo>
                <a:lnTo>
                  <a:pt x="193716" y="68851"/>
                </a:lnTo>
                <a:lnTo>
                  <a:pt x="276804" y="68851"/>
                </a:lnTo>
                <a:lnTo>
                  <a:pt x="278123" y="67588"/>
                </a:lnTo>
                <a:lnTo>
                  <a:pt x="344280" y="67588"/>
                </a:lnTo>
                <a:lnTo>
                  <a:pt x="325620" y="47576"/>
                </a:lnTo>
                <a:lnTo>
                  <a:pt x="298243" y="28794"/>
                </a:lnTo>
                <a:close/>
              </a:path>
            </a:pathLst>
          </a:custGeom>
          <a:solidFill>
            <a:srgbClr val="F6B89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0831" y="3145037"/>
            <a:ext cx="175260" cy="2181225"/>
            <a:chOff x="820831" y="3145037"/>
            <a:chExt cx="175260" cy="218122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831" y="5176007"/>
              <a:ext cx="143057" cy="1501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535" y="3145037"/>
              <a:ext cx="128969" cy="13501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3070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25129" y="345947"/>
            <a:ext cx="2098675" cy="5904230"/>
            <a:chOff x="8525129" y="345947"/>
            <a:chExt cx="2098675" cy="5904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2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28304" y="4753356"/>
              <a:ext cx="1995170" cy="1493520"/>
            </a:xfrm>
            <a:custGeom>
              <a:avLst/>
              <a:gdLst/>
              <a:ahLst/>
              <a:cxnLst/>
              <a:rect l="l" t="t" r="r" b="b"/>
              <a:pathLst>
                <a:path w="1995170" h="1493520">
                  <a:moveTo>
                    <a:pt x="0" y="746760"/>
                  </a:moveTo>
                  <a:lnTo>
                    <a:pt x="1475" y="705792"/>
                  </a:lnTo>
                  <a:lnTo>
                    <a:pt x="5852" y="665401"/>
                  </a:lnTo>
                  <a:lnTo>
                    <a:pt x="13053" y="625645"/>
                  </a:lnTo>
                  <a:lnTo>
                    <a:pt x="23004" y="586579"/>
                  </a:lnTo>
                  <a:lnTo>
                    <a:pt x="35627" y="548260"/>
                  </a:lnTo>
                  <a:lnTo>
                    <a:pt x="50846" y="510747"/>
                  </a:lnTo>
                  <a:lnTo>
                    <a:pt x="68587" y="474095"/>
                  </a:lnTo>
                  <a:lnTo>
                    <a:pt x="88772" y="438362"/>
                  </a:lnTo>
                  <a:lnTo>
                    <a:pt x="111325" y="403605"/>
                  </a:lnTo>
                  <a:lnTo>
                    <a:pt x="136172" y="369880"/>
                  </a:lnTo>
                  <a:lnTo>
                    <a:pt x="163235" y="337245"/>
                  </a:lnTo>
                  <a:lnTo>
                    <a:pt x="192438" y="305757"/>
                  </a:lnTo>
                  <a:lnTo>
                    <a:pt x="223706" y="275472"/>
                  </a:lnTo>
                  <a:lnTo>
                    <a:pt x="256962" y="246448"/>
                  </a:lnTo>
                  <a:lnTo>
                    <a:pt x="292131" y="218741"/>
                  </a:lnTo>
                  <a:lnTo>
                    <a:pt x="329137" y="192409"/>
                  </a:lnTo>
                  <a:lnTo>
                    <a:pt x="367902" y="167509"/>
                  </a:lnTo>
                  <a:lnTo>
                    <a:pt x="408352" y="144097"/>
                  </a:lnTo>
                  <a:lnTo>
                    <a:pt x="450411" y="122230"/>
                  </a:lnTo>
                  <a:lnTo>
                    <a:pt x="494001" y="101966"/>
                  </a:lnTo>
                  <a:lnTo>
                    <a:pt x="539048" y="83362"/>
                  </a:lnTo>
                  <a:lnTo>
                    <a:pt x="585475" y="66474"/>
                  </a:lnTo>
                  <a:lnTo>
                    <a:pt x="633207" y="51359"/>
                  </a:lnTo>
                  <a:lnTo>
                    <a:pt x="682166" y="38075"/>
                  </a:lnTo>
                  <a:lnTo>
                    <a:pt x="732278" y="26678"/>
                  </a:lnTo>
                  <a:lnTo>
                    <a:pt x="783466" y="17226"/>
                  </a:lnTo>
                  <a:lnTo>
                    <a:pt x="835654" y="9775"/>
                  </a:lnTo>
                  <a:lnTo>
                    <a:pt x="888766" y="4382"/>
                  </a:lnTo>
                  <a:lnTo>
                    <a:pt x="942726" y="1105"/>
                  </a:lnTo>
                  <a:lnTo>
                    <a:pt x="997457" y="0"/>
                  </a:lnTo>
                  <a:lnTo>
                    <a:pt x="1052189" y="1105"/>
                  </a:lnTo>
                  <a:lnTo>
                    <a:pt x="1106149" y="4382"/>
                  </a:lnTo>
                  <a:lnTo>
                    <a:pt x="1159261" y="9775"/>
                  </a:lnTo>
                  <a:lnTo>
                    <a:pt x="1211449" y="17226"/>
                  </a:lnTo>
                  <a:lnTo>
                    <a:pt x="1262637" y="26678"/>
                  </a:lnTo>
                  <a:lnTo>
                    <a:pt x="1312749" y="38075"/>
                  </a:lnTo>
                  <a:lnTo>
                    <a:pt x="1361708" y="51359"/>
                  </a:lnTo>
                  <a:lnTo>
                    <a:pt x="1409440" y="66474"/>
                  </a:lnTo>
                  <a:lnTo>
                    <a:pt x="1455867" y="83362"/>
                  </a:lnTo>
                  <a:lnTo>
                    <a:pt x="1500914" y="101966"/>
                  </a:lnTo>
                  <a:lnTo>
                    <a:pt x="1544504" y="122230"/>
                  </a:lnTo>
                  <a:lnTo>
                    <a:pt x="1586563" y="144097"/>
                  </a:lnTo>
                  <a:lnTo>
                    <a:pt x="1627013" y="167509"/>
                  </a:lnTo>
                  <a:lnTo>
                    <a:pt x="1665778" y="192409"/>
                  </a:lnTo>
                  <a:lnTo>
                    <a:pt x="1702784" y="218741"/>
                  </a:lnTo>
                  <a:lnTo>
                    <a:pt x="1737953" y="246448"/>
                  </a:lnTo>
                  <a:lnTo>
                    <a:pt x="1771209" y="275472"/>
                  </a:lnTo>
                  <a:lnTo>
                    <a:pt x="1802477" y="305757"/>
                  </a:lnTo>
                  <a:lnTo>
                    <a:pt x="1831680" y="337245"/>
                  </a:lnTo>
                  <a:lnTo>
                    <a:pt x="1858743" y="369880"/>
                  </a:lnTo>
                  <a:lnTo>
                    <a:pt x="1883590" y="403605"/>
                  </a:lnTo>
                  <a:lnTo>
                    <a:pt x="1906143" y="438362"/>
                  </a:lnTo>
                  <a:lnTo>
                    <a:pt x="1926328" y="474095"/>
                  </a:lnTo>
                  <a:lnTo>
                    <a:pt x="1944069" y="510747"/>
                  </a:lnTo>
                  <a:lnTo>
                    <a:pt x="1959288" y="548260"/>
                  </a:lnTo>
                  <a:lnTo>
                    <a:pt x="1971911" y="586579"/>
                  </a:lnTo>
                  <a:lnTo>
                    <a:pt x="1981862" y="625645"/>
                  </a:lnTo>
                  <a:lnTo>
                    <a:pt x="1989063" y="665401"/>
                  </a:lnTo>
                  <a:lnTo>
                    <a:pt x="1993440" y="705792"/>
                  </a:lnTo>
                  <a:lnTo>
                    <a:pt x="1994916" y="746760"/>
                  </a:lnTo>
                  <a:lnTo>
                    <a:pt x="1993440" y="787732"/>
                  </a:lnTo>
                  <a:lnTo>
                    <a:pt x="1989063" y="828126"/>
                  </a:lnTo>
                  <a:lnTo>
                    <a:pt x="1981862" y="867887"/>
                  </a:lnTo>
                  <a:lnTo>
                    <a:pt x="1971911" y="906956"/>
                  </a:lnTo>
                  <a:lnTo>
                    <a:pt x="1959288" y="945276"/>
                  </a:lnTo>
                  <a:lnTo>
                    <a:pt x="1944069" y="982792"/>
                  </a:lnTo>
                  <a:lnTo>
                    <a:pt x="1926328" y="1019445"/>
                  </a:lnTo>
                  <a:lnTo>
                    <a:pt x="1906143" y="1055179"/>
                  </a:lnTo>
                  <a:lnTo>
                    <a:pt x="1883590" y="1089937"/>
                  </a:lnTo>
                  <a:lnTo>
                    <a:pt x="1858743" y="1123662"/>
                  </a:lnTo>
                  <a:lnTo>
                    <a:pt x="1831680" y="1156296"/>
                  </a:lnTo>
                  <a:lnTo>
                    <a:pt x="1802477" y="1187784"/>
                  </a:lnTo>
                  <a:lnTo>
                    <a:pt x="1771209" y="1218068"/>
                  </a:lnTo>
                  <a:lnTo>
                    <a:pt x="1737953" y="1247092"/>
                  </a:lnTo>
                  <a:lnTo>
                    <a:pt x="1702784" y="1274797"/>
                  </a:lnTo>
                  <a:lnTo>
                    <a:pt x="1665778" y="1301128"/>
                  </a:lnTo>
                  <a:lnTo>
                    <a:pt x="1627013" y="1326027"/>
                  </a:lnTo>
                  <a:lnTo>
                    <a:pt x="1586563" y="1349437"/>
                  </a:lnTo>
                  <a:lnTo>
                    <a:pt x="1544504" y="1371302"/>
                  </a:lnTo>
                  <a:lnTo>
                    <a:pt x="1500914" y="1391564"/>
                  </a:lnTo>
                  <a:lnTo>
                    <a:pt x="1455867" y="1410167"/>
                  </a:lnTo>
                  <a:lnTo>
                    <a:pt x="1409440" y="1427053"/>
                  </a:lnTo>
                  <a:lnTo>
                    <a:pt x="1361708" y="1442166"/>
                  </a:lnTo>
                  <a:lnTo>
                    <a:pt x="1312749" y="1455449"/>
                  </a:lnTo>
                  <a:lnTo>
                    <a:pt x="1262637" y="1466844"/>
                  </a:lnTo>
                  <a:lnTo>
                    <a:pt x="1211449" y="1476295"/>
                  </a:lnTo>
                  <a:lnTo>
                    <a:pt x="1159261" y="1483746"/>
                  </a:lnTo>
                  <a:lnTo>
                    <a:pt x="1106149" y="1489138"/>
                  </a:lnTo>
                  <a:lnTo>
                    <a:pt x="1052189" y="1492415"/>
                  </a:lnTo>
                  <a:lnTo>
                    <a:pt x="997457" y="1493520"/>
                  </a:lnTo>
                  <a:lnTo>
                    <a:pt x="942726" y="1492415"/>
                  </a:lnTo>
                  <a:lnTo>
                    <a:pt x="888766" y="1489138"/>
                  </a:lnTo>
                  <a:lnTo>
                    <a:pt x="835654" y="1483746"/>
                  </a:lnTo>
                  <a:lnTo>
                    <a:pt x="783466" y="1476295"/>
                  </a:lnTo>
                  <a:lnTo>
                    <a:pt x="732278" y="1466844"/>
                  </a:lnTo>
                  <a:lnTo>
                    <a:pt x="682166" y="1455449"/>
                  </a:lnTo>
                  <a:lnTo>
                    <a:pt x="633207" y="1442166"/>
                  </a:lnTo>
                  <a:lnTo>
                    <a:pt x="585475" y="1427053"/>
                  </a:lnTo>
                  <a:lnTo>
                    <a:pt x="539048" y="1410167"/>
                  </a:lnTo>
                  <a:lnTo>
                    <a:pt x="494001" y="1391564"/>
                  </a:lnTo>
                  <a:lnTo>
                    <a:pt x="450411" y="1371302"/>
                  </a:lnTo>
                  <a:lnTo>
                    <a:pt x="408352" y="1349437"/>
                  </a:lnTo>
                  <a:lnTo>
                    <a:pt x="367902" y="1326027"/>
                  </a:lnTo>
                  <a:lnTo>
                    <a:pt x="329137" y="1301128"/>
                  </a:lnTo>
                  <a:lnTo>
                    <a:pt x="292131" y="1274797"/>
                  </a:lnTo>
                  <a:lnTo>
                    <a:pt x="256962" y="1247092"/>
                  </a:lnTo>
                  <a:lnTo>
                    <a:pt x="223706" y="1218068"/>
                  </a:lnTo>
                  <a:lnTo>
                    <a:pt x="192438" y="1187784"/>
                  </a:lnTo>
                  <a:lnTo>
                    <a:pt x="163235" y="1156296"/>
                  </a:lnTo>
                  <a:lnTo>
                    <a:pt x="136172" y="1123662"/>
                  </a:lnTo>
                  <a:lnTo>
                    <a:pt x="111325" y="1089937"/>
                  </a:lnTo>
                  <a:lnTo>
                    <a:pt x="88772" y="1055179"/>
                  </a:lnTo>
                  <a:lnTo>
                    <a:pt x="68587" y="1019445"/>
                  </a:lnTo>
                  <a:lnTo>
                    <a:pt x="50846" y="982792"/>
                  </a:lnTo>
                  <a:lnTo>
                    <a:pt x="35627" y="945276"/>
                  </a:lnTo>
                  <a:lnTo>
                    <a:pt x="23004" y="906956"/>
                  </a:lnTo>
                  <a:lnTo>
                    <a:pt x="13053" y="867887"/>
                  </a:lnTo>
                  <a:lnTo>
                    <a:pt x="5852" y="828126"/>
                  </a:lnTo>
                  <a:lnTo>
                    <a:pt x="1475" y="787732"/>
                  </a:lnTo>
                  <a:lnTo>
                    <a:pt x="0" y="746760"/>
                  </a:lnTo>
                  <a:close/>
                </a:path>
              </a:pathLst>
            </a:custGeom>
            <a:ln w="6350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8876" y="429005"/>
            <a:ext cx="4472305" cy="587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9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 Caractéristiques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98982" y="3465957"/>
            <a:ext cx="7118984" cy="2693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savoir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080" lvl="0" indent="-287020" algn="just" defTabSz="914400" eaLnBrk="1" fontAlgn="auto" latinLnBrk="0" hangingPunct="1">
              <a:lnSpc>
                <a:spcPct val="150200"/>
              </a:lnSpc>
              <a:spcBef>
                <a:spcPts val="59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Consistency</a:t>
            </a:r>
            <a:r>
              <a:rPr kumimoji="0" sz="1600" b="1" i="1" u="none" strike="noStrike" kern="0" cap="none" spc="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(cohérence):</a:t>
            </a:r>
            <a:r>
              <a:rPr kumimoji="0" sz="1600" b="0" i="0" u="none" strike="noStrike" kern="0" cap="none" spc="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Tous les serveurs ont les mêmes données au même moment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080" lvl="0" indent="-287020" algn="just" defTabSz="91440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Avaibility</a:t>
            </a:r>
            <a:r>
              <a:rPr kumimoji="0" sz="1600" b="1" i="1" u="none" strike="noStrike" kern="0" cap="none" spc="1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(disponibilité):</a:t>
            </a:r>
            <a:r>
              <a:rPr kumimoji="0" sz="1600" b="0" i="0" u="none" strike="noStrike" kern="0" cap="none" spc="1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 système répond toujours, même en cas de panne d’un serveur (un autre répond à sa place)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5715" lvl="0" indent="-287020" algn="just" defTabSz="914400" eaLnBrk="1" fontAlgn="auto" latinLnBrk="0" hangingPunct="1">
              <a:lnSpc>
                <a:spcPct val="15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</a:t>
            </a:r>
            <a:r>
              <a:rPr kumimoji="0" sz="1600" b="1" i="1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1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tolerance</a:t>
            </a:r>
            <a:r>
              <a:rPr kumimoji="0" sz="1600" b="1" i="1" u="none" strike="noStrike" kern="0" cap="none" spc="1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(résistance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600" b="0" i="0" u="none" strike="noStrike" kern="0" cap="none" spc="1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partitionnement):</a:t>
            </a:r>
            <a:r>
              <a:rPr kumimoji="0" sz="1600" b="0" i="0" u="none" strike="noStrike" kern="0" cap="none" spc="1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fr-FR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 système continue à fonctionner même si la communication entre serveurs est coupée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8982" y="1602689"/>
            <a:ext cx="6538595" cy="793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2-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Architecture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distribuée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Théorème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20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CAP</a:t>
            </a:r>
            <a:r>
              <a:rPr kumimoji="0" sz="2000" b="1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(Consistency,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Aviability,</a:t>
            </a:r>
            <a:r>
              <a:rPr kumimoji="0" sz="2000" b="1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</a:t>
            </a:r>
            <a:r>
              <a:rPr kumimoji="0" sz="2000" b="1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tolerance)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9107" y="5354573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cs typeface="Calibri"/>
              </a:rPr>
              <a:t>Aviability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81388" y="3979164"/>
            <a:ext cx="1995170" cy="1493520"/>
          </a:xfrm>
          <a:custGeom>
            <a:avLst/>
            <a:gdLst/>
            <a:ahLst/>
            <a:cxnLst/>
            <a:rect l="l" t="t" r="r" b="b"/>
            <a:pathLst>
              <a:path w="1995170" h="1493520">
                <a:moveTo>
                  <a:pt x="0" y="746760"/>
                </a:moveTo>
                <a:lnTo>
                  <a:pt x="1475" y="705792"/>
                </a:lnTo>
                <a:lnTo>
                  <a:pt x="5852" y="665401"/>
                </a:lnTo>
                <a:lnTo>
                  <a:pt x="13053" y="625645"/>
                </a:lnTo>
                <a:lnTo>
                  <a:pt x="23004" y="586579"/>
                </a:lnTo>
                <a:lnTo>
                  <a:pt x="35627" y="548260"/>
                </a:lnTo>
                <a:lnTo>
                  <a:pt x="50846" y="510747"/>
                </a:lnTo>
                <a:lnTo>
                  <a:pt x="68587" y="474095"/>
                </a:lnTo>
                <a:lnTo>
                  <a:pt x="88772" y="438362"/>
                </a:lnTo>
                <a:lnTo>
                  <a:pt x="111325" y="403605"/>
                </a:lnTo>
                <a:lnTo>
                  <a:pt x="136172" y="369880"/>
                </a:lnTo>
                <a:lnTo>
                  <a:pt x="163235" y="337245"/>
                </a:lnTo>
                <a:lnTo>
                  <a:pt x="192438" y="305757"/>
                </a:lnTo>
                <a:lnTo>
                  <a:pt x="223706" y="275472"/>
                </a:lnTo>
                <a:lnTo>
                  <a:pt x="256962" y="246448"/>
                </a:lnTo>
                <a:lnTo>
                  <a:pt x="292131" y="218741"/>
                </a:lnTo>
                <a:lnTo>
                  <a:pt x="329137" y="192409"/>
                </a:lnTo>
                <a:lnTo>
                  <a:pt x="367902" y="167509"/>
                </a:lnTo>
                <a:lnTo>
                  <a:pt x="408352" y="144097"/>
                </a:lnTo>
                <a:lnTo>
                  <a:pt x="450411" y="122230"/>
                </a:lnTo>
                <a:lnTo>
                  <a:pt x="494001" y="101966"/>
                </a:lnTo>
                <a:lnTo>
                  <a:pt x="539048" y="83362"/>
                </a:lnTo>
                <a:lnTo>
                  <a:pt x="585475" y="66474"/>
                </a:lnTo>
                <a:lnTo>
                  <a:pt x="633207" y="51359"/>
                </a:lnTo>
                <a:lnTo>
                  <a:pt x="682166" y="38075"/>
                </a:lnTo>
                <a:lnTo>
                  <a:pt x="732278" y="26678"/>
                </a:lnTo>
                <a:lnTo>
                  <a:pt x="783466" y="17226"/>
                </a:lnTo>
                <a:lnTo>
                  <a:pt x="835654" y="9775"/>
                </a:lnTo>
                <a:lnTo>
                  <a:pt x="888766" y="4382"/>
                </a:lnTo>
                <a:lnTo>
                  <a:pt x="942726" y="1105"/>
                </a:lnTo>
                <a:lnTo>
                  <a:pt x="997457" y="0"/>
                </a:lnTo>
                <a:lnTo>
                  <a:pt x="1052189" y="1105"/>
                </a:lnTo>
                <a:lnTo>
                  <a:pt x="1106149" y="4382"/>
                </a:lnTo>
                <a:lnTo>
                  <a:pt x="1159261" y="9775"/>
                </a:lnTo>
                <a:lnTo>
                  <a:pt x="1211449" y="17226"/>
                </a:lnTo>
                <a:lnTo>
                  <a:pt x="1262637" y="26678"/>
                </a:lnTo>
                <a:lnTo>
                  <a:pt x="1312749" y="38075"/>
                </a:lnTo>
                <a:lnTo>
                  <a:pt x="1361708" y="51359"/>
                </a:lnTo>
                <a:lnTo>
                  <a:pt x="1409440" y="66474"/>
                </a:lnTo>
                <a:lnTo>
                  <a:pt x="1455867" y="83362"/>
                </a:lnTo>
                <a:lnTo>
                  <a:pt x="1500914" y="101966"/>
                </a:lnTo>
                <a:lnTo>
                  <a:pt x="1544504" y="122230"/>
                </a:lnTo>
                <a:lnTo>
                  <a:pt x="1586563" y="144097"/>
                </a:lnTo>
                <a:lnTo>
                  <a:pt x="1627013" y="167509"/>
                </a:lnTo>
                <a:lnTo>
                  <a:pt x="1665778" y="192409"/>
                </a:lnTo>
                <a:lnTo>
                  <a:pt x="1702784" y="218741"/>
                </a:lnTo>
                <a:lnTo>
                  <a:pt x="1737953" y="246448"/>
                </a:lnTo>
                <a:lnTo>
                  <a:pt x="1771209" y="275472"/>
                </a:lnTo>
                <a:lnTo>
                  <a:pt x="1802477" y="305757"/>
                </a:lnTo>
                <a:lnTo>
                  <a:pt x="1831680" y="337245"/>
                </a:lnTo>
                <a:lnTo>
                  <a:pt x="1858743" y="369880"/>
                </a:lnTo>
                <a:lnTo>
                  <a:pt x="1883590" y="403605"/>
                </a:lnTo>
                <a:lnTo>
                  <a:pt x="1906143" y="438362"/>
                </a:lnTo>
                <a:lnTo>
                  <a:pt x="1926328" y="474095"/>
                </a:lnTo>
                <a:lnTo>
                  <a:pt x="1944069" y="510747"/>
                </a:lnTo>
                <a:lnTo>
                  <a:pt x="1959288" y="548260"/>
                </a:lnTo>
                <a:lnTo>
                  <a:pt x="1971911" y="586579"/>
                </a:lnTo>
                <a:lnTo>
                  <a:pt x="1981862" y="625645"/>
                </a:lnTo>
                <a:lnTo>
                  <a:pt x="1989063" y="665401"/>
                </a:lnTo>
                <a:lnTo>
                  <a:pt x="1993440" y="705792"/>
                </a:lnTo>
                <a:lnTo>
                  <a:pt x="1994915" y="746760"/>
                </a:lnTo>
                <a:lnTo>
                  <a:pt x="1993440" y="787727"/>
                </a:lnTo>
                <a:lnTo>
                  <a:pt x="1989063" y="828118"/>
                </a:lnTo>
                <a:lnTo>
                  <a:pt x="1981862" y="867874"/>
                </a:lnTo>
                <a:lnTo>
                  <a:pt x="1971911" y="906940"/>
                </a:lnTo>
                <a:lnTo>
                  <a:pt x="1959288" y="945259"/>
                </a:lnTo>
                <a:lnTo>
                  <a:pt x="1944069" y="982772"/>
                </a:lnTo>
                <a:lnTo>
                  <a:pt x="1926328" y="1019424"/>
                </a:lnTo>
                <a:lnTo>
                  <a:pt x="1906143" y="1055157"/>
                </a:lnTo>
                <a:lnTo>
                  <a:pt x="1883590" y="1089914"/>
                </a:lnTo>
                <a:lnTo>
                  <a:pt x="1858743" y="1123639"/>
                </a:lnTo>
                <a:lnTo>
                  <a:pt x="1831680" y="1156274"/>
                </a:lnTo>
                <a:lnTo>
                  <a:pt x="1802477" y="1187762"/>
                </a:lnTo>
                <a:lnTo>
                  <a:pt x="1771209" y="1218047"/>
                </a:lnTo>
                <a:lnTo>
                  <a:pt x="1737953" y="1247071"/>
                </a:lnTo>
                <a:lnTo>
                  <a:pt x="1702784" y="1274778"/>
                </a:lnTo>
                <a:lnTo>
                  <a:pt x="1665778" y="1301110"/>
                </a:lnTo>
                <a:lnTo>
                  <a:pt x="1627013" y="1326010"/>
                </a:lnTo>
                <a:lnTo>
                  <a:pt x="1586563" y="1349422"/>
                </a:lnTo>
                <a:lnTo>
                  <a:pt x="1544504" y="1371289"/>
                </a:lnTo>
                <a:lnTo>
                  <a:pt x="1500914" y="1391553"/>
                </a:lnTo>
                <a:lnTo>
                  <a:pt x="1455867" y="1410157"/>
                </a:lnTo>
                <a:lnTo>
                  <a:pt x="1409440" y="1427045"/>
                </a:lnTo>
                <a:lnTo>
                  <a:pt x="1361708" y="1442160"/>
                </a:lnTo>
                <a:lnTo>
                  <a:pt x="1312749" y="1455444"/>
                </a:lnTo>
                <a:lnTo>
                  <a:pt x="1262637" y="1466841"/>
                </a:lnTo>
                <a:lnTo>
                  <a:pt x="1211449" y="1476293"/>
                </a:lnTo>
                <a:lnTo>
                  <a:pt x="1159261" y="1483744"/>
                </a:lnTo>
                <a:lnTo>
                  <a:pt x="1106149" y="1489137"/>
                </a:lnTo>
                <a:lnTo>
                  <a:pt x="1052189" y="1492414"/>
                </a:lnTo>
                <a:lnTo>
                  <a:pt x="997457" y="1493520"/>
                </a:lnTo>
                <a:lnTo>
                  <a:pt x="942726" y="1492414"/>
                </a:lnTo>
                <a:lnTo>
                  <a:pt x="888766" y="1489137"/>
                </a:lnTo>
                <a:lnTo>
                  <a:pt x="835654" y="1483744"/>
                </a:lnTo>
                <a:lnTo>
                  <a:pt x="783466" y="1476293"/>
                </a:lnTo>
                <a:lnTo>
                  <a:pt x="732278" y="1466841"/>
                </a:lnTo>
                <a:lnTo>
                  <a:pt x="682166" y="1455444"/>
                </a:lnTo>
                <a:lnTo>
                  <a:pt x="633207" y="1442160"/>
                </a:lnTo>
                <a:lnTo>
                  <a:pt x="585475" y="1427045"/>
                </a:lnTo>
                <a:lnTo>
                  <a:pt x="539048" y="1410157"/>
                </a:lnTo>
                <a:lnTo>
                  <a:pt x="494001" y="1391553"/>
                </a:lnTo>
                <a:lnTo>
                  <a:pt x="450411" y="1371289"/>
                </a:lnTo>
                <a:lnTo>
                  <a:pt x="408352" y="1349422"/>
                </a:lnTo>
                <a:lnTo>
                  <a:pt x="367902" y="1326010"/>
                </a:lnTo>
                <a:lnTo>
                  <a:pt x="329137" y="1301110"/>
                </a:lnTo>
                <a:lnTo>
                  <a:pt x="292131" y="1274778"/>
                </a:lnTo>
                <a:lnTo>
                  <a:pt x="256962" y="1247071"/>
                </a:lnTo>
                <a:lnTo>
                  <a:pt x="223706" y="1218047"/>
                </a:lnTo>
                <a:lnTo>
                  <a:pt x="192438" y="1187762"/>
                </a:lnTo>
                <a:lnTo>
                  <a:pt x="163235" y="1156274"/>
                </a:lnTo>
                <a:lnTo>
                  <a:pt x="136172" y="1123639"/>
                </a:lnTo>
                <a:lnTo>
                  <a:pt x="111325" y="1089914"/>
                </a:lnTo>
                <a:lnTo>
                  <a:pt x="88772" y="1055157"/>
                </a:lnTo>
                <a:lnTo>
                  <a:pt x="68587" y="1019424"/>
                </a:lnTo>
                <a:lnTo>
                  <a:pt x="50846" y="982772"/>
                </a:lnTo>
                <a:lnTo>
                  <a:pt x="35627" y="945259"/>
                </a:lnTo>
                <a:lnTo>
                  <a:pt x="23004" y="906940"/>
                </a:lnTo>
                <a:lnTo>
                  <a:pt x="13053" y="867874"/>
                </a:lnTo>
                <a:lnTo>
                  <a:pt x="5852" y="828118"/>
                </a:lnTo>
                <a:lnTo>
                  <a:pt x="1475" y="787727"/>
                </a:lnTo>
                <a:lnTo>
                  <a:pt x="0" y="746760"/>
                </a:lnTo>
                <a:close/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69830" y="4580890"/>
            <a:ext cx="1019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40C3D4"/>
                </a:solidFill>
                <a:effectLst/>
                <a:uLnTx/>
                <a:uFillTx/>
                <a:latin typeface="Calibri"/>
                <a:cs typeface="Calibri"/>
              </a:rPr>
              <a:t>Consistency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57388" y="3694176"/>
            <a:ext cx="1995170" cy="1495425"/>
          </a:xfrm>
          <a:custGeom>
            <a:avLst/>
            <a:gdLst/>
            <a:ahLst/>
            <a:cxnLst/>
            <a:rect l="l" t="t" r="r" b="b"/>
            <a:pathLst>
              <a:path w="1995170" h="1495425">
                <a:moveTo>
                  <a:pt x="0" y="747522"/>
                </a:moveTo>
                <a:lnTo>
                  <a:pt x="1475" y="706504"/>
                </a:lnTo>
                <a:lnTo>
                  <a:pt x="5852" y="666065"/>
                </a:lnTo>
                <a:lnTo>
                  <a:pt x="13053" y="626262"/>
                </a:lnTo>
                <a:lnTo>
                  <a:pt x="23004" y="587151"/>
                </a:lnTo>
                <a:lnTo>
                  <a:pt x="35627" y="548789"/>
                </a:lnTo>
                <a:lnTo>
                  <a:pt x="50846" y="511234"/>
                </a:lnTo>
                <a:lnTo>
                  <a:pt x="68587" y="474543"/>
                </a:lnTo>
                <a:lnTo>
                  <a:pt x="88772" y="438772"/>
                </a:lnTo>
                <a:lnTo>
                  <a:pt x="111325" y="403978"/>
                </a:lnTo>
                <a:lnTo>
                  <a:pt x="136172" y="370219"/>
                </a:lnTo>
                <a:lnTo>
                  <a:pt x="163235" y="337551"/>
                </a:lnTo>
                <a:lnTo>
                  <a:pt x="192438" y="306031"/>
                </a:lnTo>
                <a:lnTo>
                  <a:pt x="223706" y="275717"/>
                </a:lnTo>
                <a:lnTo>
                  <a:pt x="256962" y="246664"/>
                </a:lnTo>
                <a:lnTo>
                  <a:pt x="292131" y="218932"/>
                </a:lnTo>
                <a:lnTo>
                  <a:pt x="329137" y="192575"/>
                </a:lnTo>
                <a:lnTo>
                  <a:pt x="367902" y="167652"/>
                </a:lnTo>
                <a:lnTo>
                  <a:pt x="408352" y="144219"/>
                </a:lnTo>
                <a:lnTo>
                  <a:pt x="450411" y="122333"/>
                </a:lnTo>
                <a:lnTo>
                  <a:pt x="494001" y="102051"/>
                </a:lnTo>
                <a:lnTo>
                  <a:pt x="539048" y="83430"/>
                </a:lnTo>
                <a:lnTo>
                  <a:pt x="585475" y="66528"/>
                </a:lnTo>
                <a:lnTo>
                  <a:pt x="633207" y="51401"/>
                </a:lnTo>
                <a:lnTo>
                  <a:pt x="682166" y="38106"/>
                </a:lnTo>
                <a:lnTo>
                  <a:pt x="732278" y="26699"/>
                </a:lnTo>
                <a:lnTo>
                  <a:pt x="783466" y="17239"/>
                </a:lnTo>
                <a:lnTo>
                  <a:pt x="835654" y="9782"/>
                </a:lnTo>
                <a:lnTo>
                  <a:pt x="888766" y="4385"/>
                </a:lnTo>
                <a:lnTo>
                  <a:pt x="942726" y="1105"/>
                </a:lnTo>
                <a:lnTo>
                  <a:pt x="997457" y="0"/>
                </a:lnTo>
                <a:lnTo>
                  <a:pt x="1052189" y="1105"/>
                </a:lnTo>
                <a:lnTo>
                  <a:pt x="1106149" y="4385"/>
                </a:lnTo>
                <a:lnTo>
                  <a:pt x="1159261" y="9782"/>
                </a:lnTo>
                <a:lnTo>
                  <a:pt x="1211449" y="17239"/>
                </a:lnTo>
                <a:lnTo>
                  <a:pt x="1262637" y="26699"/>
                </a:lnTo>
                <a:lnTo>
                  <a:pt x="1312749" y="38106"/>
                </a:lnTo>
                <a:lnTo>
                  <a:pt x="1361708" y="51401"/>
                </a:lnTo>
                <a:lnTo>
                  <a:pt x="1409440" y="66528"/>
                </a:lnTo>
                <a:lnTo>
                  <a:pt x="1455867" y="83430"/>
                </a:lnTo>
                <a:lnTo>
                  <a:pt x="1500914" y="102051"/>
                </a:lnTo>
                <a:lnTo>
                  <a:pt x="1544504" y="122333"/>
                </a:lnTo>
                <a:lnTo>
                  <a:pt x="1586563" y="144219"/>
                </a:lnTo>
                <a:lnTo>
                  <a:pt x="1627013" y="167652"/>
                </a:lnTo>
                <a:lnTo>
                  <a:pt x="1665778" y="192575"/>
                </a:lnTo>
                <a:lnTo>
                  <a:pt x="1702784" y="218932"/>
                </a:lnTo>
                <a:lnTo>
                  <a:pt x="1737953" y="246664"/>
                </a:lnTo>
                <a:lnTo>
                  <a:pt x="1771209" y="275717"/>
                </a:lnTo>
                <a:lnTo>
                  <a:pt x="1802477" y="306031"/>
                </a:lnTo>
                <a:lnTo>
                  <a:pt x="1831680" y="337551"/>
                </a:lnTo>
                <a:lnTo>
                  <a:pt x="1858743" y="370219"/>
                </a:lnTo>
                <a:lnTo>
                  <a:pt x="1883590" y="403978"/>
                </a:lnTo>
                <a:lnTo>
                  <a:pt x="1906143" y="438772"/>
                </a:lnTo>
                <a:lnTo>
                  <a:pt x="1926328" y="474543"/>
                </a:lnTo>
                <a:lnTo>
                  <a:pt x="1944069" y="511234"/>
                </a:lnTo>
                <a:lnTo>
                  <a:pt x="1959288" y="548789"/>
                </a:lnTo>
                <a:lnTo>
                  <a:pt x="1971911" y="587151"/>
                </a:lnTo>
                <a:lnTo>
                  <a:pt x="1981862" y="626262"/>
                </a:lnTo>
                <a:lnTo>
                  <a:pt x="1989063" y="666065"/>
                </a:lnTo>
                <a:lnTo>
                  <a:pt x="1993440" y="706504"/>
                </a:lnTo>
                <a:lnTo>
                  <a:pt x="1994915" y="747522"/>
                </a:lnTo>
                <a:lnTo>
                  <a:pt x="1993440" y="788539"/>
                </a:lnTo>
                <a:lnTo>
                  <a:pt x="1989063" y="828978"/>
                </a:lnTo>
                <a:lnTo>
                  <a:pt x="1981862" y="868781"/>
                </a:lnTo>
                <a:lnTo>
                  <a:pt x="1971911" y="907892"/>
                </a:lnTo>
                <a:lnTo>
                  <a:pt x="1959288" y="946254"/>
                </a:lnTo>
                <a:lnTo>
                  <a:pt x="1944069" y="983809"/>
                </a:lnTo>
                <a:lnTo>
                  <a:pt x="1926328" y="1020500"/>
                </a:lnTo>
                <a:lnTo>
                  <a:pt x="1906143" y="1056271"/>
                </a:lnTo>
                <a:lnTo>
                  <a:pt x="1883590" y="1091065"/>
                </a:lnTo>
                <a:lnTo>
                  <a:pt x="1858743" y="1124824"/>
                </a:lnTo>
                <a:lnTo>
                  <a:pt x="1831680" y="1157492"/>
                </a:lnTo>
                <a:lnTo>
                  <a:pt x="1802477" y="1189012"/>
                </a:lnTo>
                <a:lnTo>
                  <a:pt x="1771209" y="1219326"/>
                </a:lnTo>
                <a:lnTo>
                  <a:pt x="1737953" y="1248379"/>
                </a:lnTo>
                <a:lnTo>
                  <a:pt x="1702784" y="1276111"/>
                </a:lnTo>
                <a:lnTo>
                  <a:pt x="1665778" y="1302468"/>
                </a:lnTo>
                <a:lnTo>
                  <a:pt x="1627013" y="1327391"/>
                </a:lnTo>
                <a:lnTo>
                  <a:pt x="1586563" y="1350824"/>
                </a:lnTo>
                <a:lnTo>
                  <a:pt x="1544504" y="1372710"/>
                </a:lnTo>
                <a:lnTo>
                  <a:pt x="1500914" y="1392992"/>
                </a:lnTo>
                <a:lnTo>
                  <a:pt x="1455867" y="1411613"/>
                </a:lnTo>
                <a:lnTo>
                  <a:pt x="1409440" y="1428515"/>
                </a:lnTo>
                <a:lnTo>
                  <a:pt x="1361708" y="1443642"/>
                </a:lnTo>
                <a:lnTo>
                  <a:pt x="1312749" y="1456937"/>
                </a:lnTo>
                <a:lnTo>
                  <a:pt x="1262637" y="1468344"/>
                </a:lnTo>
                <a:lnTo>
                  <a:pt x="1211449" y="1477804"/>
                </a:lnTo>
                <a:lnTo>
                  <a:pt x="1159261" y="1485261"/>
                </a:lnTo>
                <a:lnTo>
                  <a:pt x="1106149" y="1490658"/>
                </a:lnTo>
                <a:lnTo>
                  <a:pt x="1052189" y="1493938"/>
                </a:lnTo>
                <a:lnTo>
                  <a:pt x="997457" y="1495044"/>
                </a:lnTo>
                <a:lnTo>
                  <a:pt x="942726" y="1493938"/>
                </a:lnTo>
                <a:lnTo>
                  <a:pt x="888766" y="1490658"/>
                </a:lnTo>
                <a:lnTo>
                  <a:pt x="835654" y="1485261"/>
                </a:lnTo>
                <a:lnTo>
                  <a:pt x="783466" y="1477804"/>
                </a:lnTo>
                <a:lnTo>
                  <a:pt x="732278" y="1468344"/>
                </a:lnTo>
                <a:lnTo>
                  <a:pt x="682166" y="1456937"/>
                </a:lnTo>
                <a:lnTo>
                  <a:pt x="633207" y="1443642"/>
                </a:lnTo>
                <a:lnTo>
                  <a:pt x="585475" y="1428515"/>
                </a:lnTo>
                <a:lnTo>
                  <a:pt x="539048" y="1411613"/>
                </a:lnTo>
                <a:lnTo>
                  <a:pt x="494001" y="1392992"/>
                </a:lnTo>
                <a:lnTo>
                  <a:pt x="450411" y="1372710"/>
                </a:lnTo>
                <a:lnTo>
                  <a:pt x="408352" y="1350824"/>
                </a:lnTo>
                <a:lnTo>
                  <a:pt x="367902" y="1327391"/>
                </a:lnTo>
                <a:lnTo>
                  <a:pt x="329137" y="1302468"/>
                </a:lnTo>
                <a:lnTo>
                  <a:pt x="292131" y="1276111"/>
                </a:lnTo>
                <a:lnTo>
                  <a:pt x="256962" y="1248379"/>
                </a:lnTo>
                <a:lnTo>
                  <a:pt x="223706" y="1219326"/>
                </a:lnTo>
                <a:lnTo>
                  <a:pt x="192438" y="1189012"/>
                </a:lnTo>
                <a:lnTo>
                  <a:pt x="163235" y="1157492"/>
                </a:lnTo>
                <a:lnTo>
                  <a:pt x="136172" y="1124824"/>
                </a:lnTo>
                <a:lnTo>
                  <a:pt x="111325" y="1091065"/>
                </a:lnTo>
                <a:lnTo>
                  <a:pt x="88772" y="1056271"/>
                </a:lnTo>
                <a:lnTo>
                  <a:pt x="68587" y="1020500"/>
                </a:lnTo>
                <a:lnTo>
                  <a:pt x="50846" y="983809"/>
                </a:lnTo>
                <a:lnTo>
                  <a:pt x="35627" y="946254"/>
                </a:lnTo>
                <a:lnTo>
                  <a:pt x="23004" y="907892"/>
                </a:lnTo>
                <a:lnTo>
                  <a:pt x="13053" y="868781"/>
                </a:lnTo>
                <a:lnTo>
                  <a:pt x="5852" y="828978"/>
                </a:lnTo>
                <a:lnTo>
                  <a:pt x="1475" y="788539"/>
                </a:lnTo>
                <a:lnTo>
                  <a:pt x="0" y="747522"/>
                </a:lnTo>
                <a:close/>
              </a:path>
            </a:pathLst>
          </a:custGeom>
          <a:ln w="6350">
            <a:solidFill>
              <a:srgbClr val="843B0C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46414" y="4173982"/>
            <a:ext cx="8185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2857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7700"/>
                </a:solidFill>
                <a:effectLst/>
                <a:uLnTx/>
                <a:uFillTx/>
                <a:latin typeface="Calibri"/>
                <a:cs typeface="Calibri"/>
              </a:rPr>
              <a:t>Partition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700"/>
                </a:solidFill>
                <a:effectLst/>
                <a:uLnTx/>
                <a:uFillTx/>
                <a:latin typeface="Calibri"/>
                <a:cs typeface="Calibri"/>
              </a:rPr>
              <a:t>tolerance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97771" y="4844033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7700"/>
                </a:solidFill>
                <a:effectLst/>
                <a:uLnTx/>
                <a:uFillTx/>
                <a:latin typeface="Calibri"/>
                <a:cs typeface="Calibri"/>
              </a:rPr>
              <a:t>P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07651" y="4955540"/>
            <a:ext cx="255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40C3D4"/>
                </a:solidFill>
                <a:effectLst/>
                <a:uLnTx/>
                <a:uFillTx/>
                <a:latin typeface="Calibri"/>
                <a:cs typeface="Calibri"/>
              </a:rPr>
              <a:t>C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736328" y="4437126"/>
            <a:ext cx="2400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40C3D4"/>
                </a:solidFill>
                <a:effectLst/>
                <a:uLnTx/>
                <a:uFillTx/>
                <a:latin typeface="Calibri"/>
                <a:cs typeface="Calibri"/>
              </a:rPr>
              <a:t>C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7700"/>
                </a:solidFill>
                <a:effectLst/>
                <a:uLnTx/>
                <a:uFillTx/>
                <a:latin typeface="Calibri"/>
                <a:cs typeface="Calibri"/>
              </a:rPr>
              <a:t>P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1955" y="2450592"/>
            <a:ext cx="9942830" cy="80772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91440" marR="347345" lvl="0" indent="0" defTabSz="914400" eaLnBrk="1" fontAlgn="auto" latinLnBrk="0" hangingPunct="1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Dans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toute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données,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peut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respecter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au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deux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parmi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trois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 suivantes: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cohérence,</a:t>
            </a:r>
            <a:r>
              <a:rPr kumimoji="0" sz="1600" b="0" i="0" u="none" strike="noStrike" kern="0" cap="none" spc="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disponibilité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et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distribution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4533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059679"/>
            <a:ext cx="536575" cy="1080770"/>
          </a:xfrm>
          <a:prstGeom prst="rect">
            <a:avLst/>
          </a:prstGeom>
          <a:solidFill>
            <a:srgbClr val="FF7800"/>
          </a:solidFill>
        </p:spPr>
        <p:txBody>
          <a:bodyPr vert="vert270" wrap="square" lIns="0" tIns="93345" rIns="0" bIns="0" rtlCol="0">
            <a:spAutoFit/>
          </a:bodyPr>
          <a:lstStyle/>
          <a:p>
            <a:pPr marL="89535" marR="0" lvl="0" indent="0" defTabSz="91440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PARTIE</a:t>
            </a:r>
            <a:r>
              <a:rPr kumimoji="0" sz="19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2</a:t>
            </a:r>
            <a:endParaRPr kumimoji="0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49526" y="345947"/>
            <a:ext cx="8574405" cy="4142740"/>
            <a:chOff x="2049526" y="345947"/>
            <a:chExt cx="8574405" cy="4142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3911" y="345947"/>
              <a:ext cx="659892" cy="6507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65120" y="3800856"/>
              <a:ext cx="777240" cy="681355"/>
            </a:xfrm>
            <a:custGeom>
              <a:avLst/>
              <a:gdLst/>
              <a:ahLst/>
              <a:cxnLst/>
              <a:rect l="l" t="t" r="r" b="b"/>
              <a:pathLst>
                <a:path w="777239" h="681354">
                  <a:moveTo>
                    <a:pt x="223774" y="0"/>
                  </a:moveTo>
                  <a:lnTo>
                    <a:pt x="0" y="0"/>
                  </a:lnTo>
                  <a:lnTo>
                    <a:pt x="0" y="622808"/>
                  </a:lnTo>
                  <a:lnTo>
                    <a:pt x="533527" y="622808"/>
                  </a:lnTo>
                  <a:lnTo>
                    <a:pt x="533527" y="681228"/>
                  </a:lnTo>
                  <a:lnTo>
                    <a:pt x="777240" y="510921"/>
                  </a:lnTo>
                  <a:lnTo>
                    <a:pt x="533527" y="340614"/>
                  </a:lnTo>
                  <a:lnTo>
                    <a:pt x="533527" y="399034"/>
                  </a:lnTo>
                  <a:lnTo>
                    <a:pt x="223774" y="399034"/>
                  </a:lnTo>
                  <a:lnTo>
                    <a:pt x="223774" y="0"/>
                  </a:lnTo>
                  <a:close/>
                </a:path>
              </a:pathLst>
            </a:custGeom>
            <a:solidFill>
              <a:srgbClr val="F6CCBD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865120" y="3800856"/>
              <a:ext cx="777240" cy="681355"/>
            </a:xfrm>
            <a:custGeom>
              <a:avLst/>
              <a:gdLst/>
              <a:ahLst/>
              <a:cxnLst/>
              <a:rect l="l" t="t" r="r" b="b"/>
              <a:pathLst>
                <a:path w="777239" h="681354">
                  <a:moveTo>
                    <a:pt x="223774" y="0"/>
                  </a:moveTo>
                  <a:lnTo>
                    <a:pt x="223774" y="399034"/>
                  </a:lnTo>
                  <a:lnTo>
                    <a:pt x="533527" y="399034"/>
                  </a:lnTo>
                  <a:lnTo>
                    <a:pt x="533527" y="340614"/>
                  </a:lnTo>
                  <a:lnTo>
                    <a:pt x="777240" y="510921"/>
                  </a:lnTo>
                  <a:lnTo>
                    <a:pt x="533527" y="681228"/>
                  </a:lnTo>
                  <a:lnTo>
                    <a:pt x="533527" y="622808"/>
                  </a:lnTo>
                  <a:lnTo>
                    <a:pt x="0" y="622808"/>
                  </a:lnTo>
                  <a:lnTo>
                    <a:pt x="0" y="0"/>
                  </a:lnTo>
                  <a:lnTo>
                    <a:pt x="223774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055876" y="3026664"/>
              <a:ext cx="1149350" cy="805180"/>
            </a:xfrm>
            <a:custGeom>
              <a:avLst/>
              <a:gdLst/>
              <a:ahLst/>
              <a:cxnLst/>
              <a:rect l="l" t="t" r="r" b="b"/>
              <a:pathLst>
                <a:path w="1149350" h="805179">
                  <a:moveTo>
                    <a:pt x="1014984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1014984" y="804672"/>
                  </a:lnTo>
                  <a:lnTo>
                    <a:pt x="1057363" y="797832"/>
                  </a:lnTo>
                  <a:lnTo>
                    <a:pt x="1094177" y="778788"/>
                  </a:lnTo>
                  <a:lnTo>
                    <a:pt x="1123212" y="749753"/>
                  </a:lnTo>
                  <a:lnTo>
                    <a:pt x="1142256" y="712939"/>
                  </a:lnTo>
                  <a:lnTo>
                    <a:pt x="1149096" y="670560"/>
                  </a:lnTo>
                  <a:lnTo>
                    <a:pt x="1149096" y="134112"/>
                  </a:lnTo>
                  <a:lnTo>
                    <a:pt x="1142256" y="91732"/>
                  </a:lnTo>
                  <a:lnTo>
                    <a:pt x="1123212" y="54918"/>
                  </a:lnTo>
                  <a:lnTo>
                    <a:pt x="1094177" y="25883"/>
                  </a:lnTo>
                  <a:lnTo>
                    <a:pt x="1057363" y="6839"/>
                  </a:lnTo>
                  <a:lnTo>
                    <a:pt x="1014984" y="0"/>
                  </a:lnTo>
                  <a:close/>
                </a:path>
              </a:pathLst>
            </a:custGeom>
            <a:solidFill>
              <a:srgbClr val="AD5A2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055876" y="3026664"/>
              <a:ext cx="1149350" cy="805180"/>
            </a:xfrm>
            <a:custGeom>
              <a:avLst/>
              <a:gdLst/>
              <a:ahLst/>
              <a:cxnLst/>
              <a:rect l="l" t="t" r="r" b="b"/>
              <a:pathLst>
                <a:path w="1149350" h="805179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1014984" y="0"/>
                  </a:lnTo>
                  <a:lnTo>
                    <a:pt x="1057363" y="6839"/>
                  </a:lnTo>
                  <a:lnTo>
                    <a:pt x="1094177" y="25883"/>
                  </a:lnTo>
                  <a:lnTo>
                    <a:pt x="1123212" y="54918"/>
                  </a:lnTo>
                  <a:lnTo>
                    <a:pt x="1142256" y="91732"/>
                  </a:lnTo>
                  <a:lnTo>
                    <a:pt x="1149096" y="134112"/>
                  </a:lnTo>
                  <a:lnTo>
                    <a:pt x="1149096" y="670560"/>
                  </a:lnTo>
                  <a:lnTo>
                    <a:pt x="1142256" y="712939"/>
                  </a:lnTo>
                  <a:lnTo>
                    <a:pt x="1123212" y="749753"/>
                  </a:lnTo>
                  <a:lnTo>
                    <a:pt x="1094177" y="778788"/>
                  </a:lnTo>
                  <a:lnTo>
                    <a:pt x="1057363" y="797832"/>
                  </a:lnTo>
                  <a:lnTo>
                    <a:pt x="1014984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8876" y="429005"/>
            <a:ext cx="4472305" cy="587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90"/>
              </a:spcBef>
            </a:pPr>
            <a:r>
              <a:rPr sz="1800" dirty="0"/>
              <a:t>01</a:t>
            </a:r>
            <a:r>
              <a:rPr sz="1800" spc="-5" dirty="0"/>
              <a:t> </a:t>
            </a:r>
            <a:r>
              <a:rPr sz="1800" dirty="0"/>
              <a:t>–</a:t>
            </a:r>
            <a:r>
              <a:rPr sz="1800" spc="15" dirty="0"/>
              <a:t> </a:t>
            </a:r>
            <a:r>
              <a:rPr sz="1800" spc="-10" dirty="0"/>
              <a:t>Introduction</a:t>
            </a:r>
            <a:r>
              <a:rPr sz="1800" spc="-35" dirty="0"/>
              <a:t> </a:t>
            </a:r>
            <a:r>
              <a:rPr sz="1800" dirty="0"/>
              <a:t>aux</a:t>
            </a:r>
            <a:r>
              <a:rPr sz="1800" spc="-10" dirty="0"/>
              <a:t> </a:t>
            </a:r>
            <a:r>
              <a:rPr sz="1800" dirty="0"/>
              <a:t>Bases</a:t>
            </a:r>
            <a:r>
              <a:rPr sz="1800" spc="-15" dirty="0"/>
              <a:t> </a:t>
            </a:r>
            <a:r>
              <a:rPr sz="1800" dirty="0"/>
              <a:t>de</a:t>
            </a:r>
            <a:r>
              <a:rPr sz="1800" spc="-20" dirty="0"/>
              <a:t> </a:t>
            </a:r>
            <a:r>
              <a:rPr sz="1800" dirty="0"/>
              <a:t>données</a:t>
            </a:r>
            <a:r>
              <a:rPr sz="1800" spc="-35" dirty="0"/>
              <a:t> </a:t>
            </a:r>
            <a:r>
              <a:rPr sz="1800" spc="-10" dirty="0"/>
              <a:t>NoSQL Caractéristiques</a:t>
            </a:r>
            <a:endParaRPr sz="1800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5691022"/>
            <a:ext cx="1058862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privilégient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disponibilité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1600" b="0" i="0" u="none" strike="noStrike" kern="0" cap="none" spc="6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cohérence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</a:t>
            </a:r>
            <a:r>
              <a:rPr kumimoji="0" sz="1600" b="1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(Avaibility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+</a:t>
            </a:r>
            <a:r>
              <a:rPr kumimoji="0" sz="1600" b="0" i="0" u="none" strike="noStrike" kern="0" cap="none" spc="7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</a:t>
            </a:r>
            <a:r>
              <a:rPr kumimoji="0" sz="1600" b="0" i="0" u="none" strike="noStrike" kern="0" cap="none" spc="8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tolerance)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plutôt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600" b="0" i="0" u="none" strike="noStrike" kern="0" cap="none" spc="6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CP</a:t>
            </a:r>
            <a:r>
              <a:rPr kumimoji="0" sz="1600" b="1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(Consistency</a:t>
            </a:r>
            <a:r>
              <a:rPr kumimoji="0" sz="1600" b="0" i="0" u="none" strike="noStrike" kern="0" cap="none" spc="7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+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Partition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tolerance)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1602689"/>
            <a:ext cx="8402320" cy="1113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3-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vs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7800"/>
                </a:solidFill>
                <a:effectLst/>
                <a:uLnTx/>
                <a:uFillTx/>
                <a:latin typeface="Calibri"/>
                <a:cs typeface="Calibri"/>
              </a:rPr>
              <a:t>ACID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ACID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sont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partiellement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ou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totalement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applicables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dans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un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contexte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NoSQL,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99085" marR="0" lvl="0" indent="-286385" defTabSz="914400" eaLnBrk="1" fontAlgn="auto" latinLnBrk="0" hangingPunct="1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29908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reposent,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par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contre,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propriétés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89479" y="3159963"/>
            <a:ext cx="880110" cy="492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0" lvl="0" indent="0" defTabSz="914400" eaLnBrk="1" fontAlgn="auto" latinLnBrk="0" hangingPunct="1">
              <a:lnSpc>
                <a:spcPts val="183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B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asically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18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vailable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72028" y="3137193"/>
            <a:ext cx="1930527" cy="534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ts val="104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7048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garantie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disponibilité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70485" marR="0" lvl="0" indent="0" algn="just" defTabSz="914400" eaLnBrk="1" fontAlgn="auto" latinLnBrk="0" hangingPunct="1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quelle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soit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charge,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14446" y="3924046"/>
            <a:ext cx="1597660" cy="1468120"/>
            <a:chOff x="3314446" y="3924046"/>
            <a:chExt cx="1597660" cy="1468120"/>
          </a:xfrm>
        </p:grpSpPr>
        <p:sp>
          <p:nvSpPr>
            <p:cNvPr id="15" name="object 15"/>
            <p:cNvSpPr/>
            <p:nvPr/>
          </p:nvSpPr>
          <p:spPr>
            <a:xfrm>
              <a:off x="4130040" y="4703064"/>
              <a:ext cx="775970" cy="683260"/>
            </a:xfrm>
            <a:custGeom>
              <a:avLst/>
              <a:gdLst/>
              <a:ahLst/>
              <a:cxnLst/>
              <a:rect l="l" t="t" r="r" b="b"/>
              <a:pathLst>
                <a:path w="775970" h="683260">
                  <a:moveTo>
                    <a:pt x="224155" y="0"/>
                  </a:moveTo>
                  <a:lnTo>
                    <a:pt x="0" y="0"/>
                  </a:lnTo>
                  <a:lnTo>
                    <a:pt x="0" y="624205"/>
                  </a:lnTo>
                  <a:lnTo>
                    <a:pt x="531368" y="624205"/>
                  </a:lnTo>
                  <a:lnTo>
                    <a:pt x="531368" y="682752"/>
                  </a:lnTo>
                  <a:lnTo>
                    <a:pt x="775715" y="512063"/>
                  </a:lnTo>
                  <a:lnTo>
                    <a:pt x="531368" y="341375"/>
                  </a:lnTo>
                  <a:lnTo>
                    <a:pt x="531368" y="399923"/>
                  </a:lnTo>
                  <a:lnTo>
                    <a:pt x="224155" y="399923"/>
                  </a:lnTo>
                  <a:lnTo>
                    <a:pt x="224155" y="0"/>
                  </a:lnTo>
                  <a:close/>
                </a:path>
              </a:pathLst>
            </a:custGeom>
            <a:solidFill>
              <a:srgbClr val="F5C5B6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30040" y="4703064"/>
              <a:ext cx="775970" cy="683260"/>
            </a:xfrm>
            <a:custGeom>
              <a:avLst/>
              <a:gdLst/>
              <a:ahLst/>
              <a:cxnLst/>
              <a:rect l="l" t="t" r="r" b="b"/>
              <a:pathLst>
                <a:path w="775970" h="683260">
                  <a:moveTo>
                    <a:pt x="224155" y="0"/>
                  </a:moveTo>
                  <a:lnTo>
                    <a:pt x="224155" y="399923"/>
                  </a:lnTo>
                  <a:lnTo>
                    <a:pt x="531368" y="399923"/>
                  </a:lnTo>
                  <a:lnTo>
                    <a:pt x="531368" y="341375"/>
                  </a:lnTo>
                  <a:lnTo>
                    <a:pt x="775715" y="512063"/>
                  </a:lnTo>
                  <a:lnTo>
                    <a:pt x="531368" y="682752"/>
                  </a:lnTo>
                  <a:lnTo>
                    <a:pt x="531368" y="624205"/>
                  </a:lnTo>
                  <a:lnTo>
                    <a:pt x="0" y="624205"/>
                  </a:lnTo>
                  <a:lnTo>
                    <a:pt x="0" y="0"/>
                  </a:lnTo>
                  <a:lnTo>
                    <a:pt x="224155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320796" y="3930396"/>
              <a:ext cx="1148080" cy="803275"/>
            </a:xfrm>
            <a:custGeom>
              <a:avLst/>
              <a:gdLst/>
              <a:ahLst/>
              <a:cxnLst/>
              <a:rect l="l" t="t" r="r" b="b"/>
              <a:pathLst>
                <a:path w="1148079" h="803275">
                  <a:moveTo>
                    <a:pt x="1013713" y="0"/>
                  </a:moveTo>
                  <a:lnTo>
                    <a:pt x="133857" y="0"/>
                  </a:lnTo>
                  <a:lnTo>
                    <a:pt x="91553" y="6825"/>
                  </a:lnTo>
                  <a:lnTo>
                    <a:pt x="54809" y="25830"/>
                  </a:lnTo>
                  <a:lnTo>
                    <a:pt x="25830" y="54809"/>
                  </a:lnTo>
                  <a:lnTo>
                    <a:pt x="6825" y="91553"/>
                  </a:lnTo>
                  <a:lnTo>
                    <a:pt x="0" y="133857"/>
                  </a:lnTo>
                  <a:lnTo>
                    <a:pt x="0" y="669289"/>
                  </a:lnTo>
                  <a:lnTo>
                    <a:pt x="6825" y="711594"/>
                  </a:lnTo>
                  <a:lnTo>
                    <a:pt x="25830" y="748338"/>
                  </a:lnTo>
                  <a:lnTo>
                    <a:pt x="54809" y="777317"/>
                  </a:lnTo>
                  <a:lnTo>
                    <a:pt x="91553" y="796322"/>
                  </a:lnTo>
                  <a:lnTo>
                    <a:pt x="133857" y="803147"/>
                  </a:lnTo>
                  <a:lnTo>
                    <a:pt x="1013713" y="803147"/>
                  </a:lnTo>
                  <a:lnTo>
                    <a:pt x="1056018" y="796322"/>
                  </a:lnTo>
                  <a:lnTo>
                    <a:pt x="1092762" y="777317"/>
                  </a:lnTo>
                  <a:lnTo>
                    <a:pt x="1121741" y="748338"/>
                  </a:lnTo>
                  <a:lnTo>
                    <a:pt x="1140746" y="711594"/>
                  </a:lnTo>
                  <a:lnTo>
                    <a:pt x="1147571" y="669289"/>
                  </a:lnTo>
                  <a:lnTo>
                    <a:pt x="1147571" y="133857"/>
                  </a:lnTo>
                  <a:lnTo>
                    <a:pt x="1140746" y="91553"/>
                  </a:lnTo>
                  <a:lnTo>
                    <a:pt x="1121741" y="54809"/>
                  </a:lnTo>
                  <a:lnTo>
                    <a:pt x="1092762" y="25830"/>
                  </a:lnTo>
                  <a:lnTo>
                    <a:pt x="1056018" y="6825"/>
                  </a:lnTo>
                  <a:lnTo>
                    <a:pt x="1013713" y="0"/>
                  </a:lnTo>
                  <a:close/>
                </a:path>
              </a:pathLst>
            </a:custGeom>
            <a:solidFill>
              <a:srgbClr val="EBA08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320796" y="3930396"/>
              <a:ext cx="1148080" cy="803275"/>
            </a:xfrm>
            <a:custGeom>
              <a:avLst/>
              <a:gdLst/>
              <a:ahLst/>
              <a:cxnLst/>
              <a:rect l="l" t="t" r="r" b="b"/>
              <a:pathLst>
                <a:path w="1148079" h="803275">
                  <a:moveTo>
                    <a:pt x="0" y="133857"/>
                  </a:moveTo>
                  <a:lnTo>
                    <a:pt x="6825" y="91553"/>
                  </a:lnTo>
                  <a:lnTo>
                    <a:pt x="25830" y="54809"/>
                  </a:lnTo>
                  <a:lnTo>
                    <a:pt x="54809" y="25830"/>
                  </a:lnTo>
                  <a:lnTo>
                    <a:pt x="91553" y="6825"/>
                  </a:lnTo>
                  <a:lnTo>
                    <a:pt x="133857" y="0"/>
                  </a:lnTo>
                  <a:lnTo>
                    <a:pt x="1013713" y="0"/>
                  </a:lnTo>
                  <a:lnTo>
                    <a:pt x="1056018" y="6825"/>
                  </a:lnTo>
                  <a:lnTo>
                    <a:pt x="1092762" y="25830"/>
                  </a:lnTo>
                  <a:lnTo>
                    <a:pt x="1121741" y="54809"/>
                  </a:lnTo>
                  <a:lnTo>
                    <a:pt x="1140746" y="91553"/>
                  </a:lnTo>
                  <a:lnTo>
                    <a:pt x="1147571" y="133857"/>
                  </a:lnTo>
                  <a:lnTo>
                    <a:pt x="1147571" y="669289"/>
                  </a:lnTo>
                  <a:lnTo>
                    <a:pt x="1140746" y="711594"/>
                  </a:lnTo>
                  <a:lnTo>
                    <a:pt x="1121741" y="748338"/>
                  </a:lnTo>
                  <a:lnTo>
                    <a:pt x="1092762" y="777317"/>
                  </a:lnTo>
                  <a:lnTo>
                    <a:pt x="1056018" y="796322"/>
                  </a:lnTo>
                  <a:lnTo>
                    <a:pt x="1013713" y="803147"/>
                  </a:lnTo>
                  <a:lnTo>
                    <a:pt x="133857" y="803147"/>
                  </a:lnTo>
                  <a:lnTo>
                    <a:pt x="91553" y="796322"/>
                  </a:lnTo>
                  <a:lnTo>
                    <a:pt x="54809" y="777317"/>
                  </a:lnTo>
                  <a:lnTo>
                    <a:pt x="25830" y="748338"/>
                  </a:lnTo>
                  <a:lnTo>
                    <a:pt x="6825" y="711594"/>
                  </a:lnTo>
                  <a:lnTo>
                    <a:pt x="0" y="669289"/>
                  </a:lnTo>
                  <a:lnTo>
                    <a:pt x="0" y="13385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431285" y="4175252"/>
            <a:ext cx="925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oft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State</a:t>
            </a:r>
            <a:r>
              <a:rPr kumimoji="0" sz="1600" b="0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79365" y="3962577"/>
            <a:ext cx="2145030" cy="66611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715" marR="5080" lvl="0" indent="0" algn="just" defTabSz="914400" eaLnBrk="1" fontAlgn="auto" latinLnBrk="0" hangingPunct="1">
              <a:lnSpc>
                <a:spcPct val="91700"/>
              </a:lnSpc>
              <a:spcBef>
                <a:spcPts val="190"/>
              </a:spcBef>
              <a:spcAft>
                <a:spcPts val="0"/>
              </a:spcAft>
              <a:buClrTx/>
              <a:buSzPct val="88888"/>
              <a:buFontTx/>
              <a:buNone/>
              <a:tabLst>
                <a:tab pos="7048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NoSQL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n’a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à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être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cohérente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	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temps,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son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état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peut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changer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lors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des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	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mises à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jour 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lors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d'ajout/suppression</a:t>
            </a:r>
            <a:r>
              <a:rPr kumimoji="0" sz="9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	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serveurs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sans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cela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???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Sa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	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performance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79365" y="4811014"/>
            <a:ext cx="1160780" cy="817880"/>
            <a:chOff x="4579365" y="4811014"/>
            <a:chExt cx="1160780" cy="817880"/>
          </a:xfrm>
        </p:grpSpPr>
        <p:sp>
          <p:nvSpPr>
            <p:cNvPr id="22" name="object 22"/>
            <p:cNvSpPr/>
            <p:nvPr/>
          </p:nvSpPr>
          <p:spPr>
            <a:xfrm>
              <a:off x="4585715" y="4817364"/>
              <a:ext cx="1148080" cy="805180"/>
            </a:xfrm>
            <a:custGeom>
              <a:avLst/>
              <a:gdLst/>
              <a:ahLst/>
              <a:cxnLst/>
              <a:rect l="l" t="t" r="r" b="b"/>
              <a:pathLst>
                <a:path w="1148079" h="805179">
                  <a:moveTo>
                    <a:pt x="1013460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1013460" y="804672"/>
                  </a:lnTo>
                  <a:lnTo>
                    <a:pt x="1055839" y="797832"/>
                  </a:lnTo>
                  <a:lnTo>
                    <a:pt x="1092653" y="778788"/>
                  </a:lnTo>
                  <a:lnTo>
                    <a:pt x="1121688" y="749753"/>
                  </a:lnTo>
                  <a:lnTo>
                    <a:pt x="1140732" y="712939"/>
                  </a:lnTo>
                  <a:lnTo>
                    <a:pt x="1147572" y="670560"/>
                  </a:lnTo>
                  <a:lnTo>
                    <a:pt x="1147572" y="134112"/>
                  </a:lnTo>
                  <a:lnTo>
                    <a:pt x="1140732" y="91732"/>
                  </a:lnTo>
                  <a:lnTo>
                    <a:pt x="1121688" y="54918"/>
                  </a:lnTo>
                  <a:lnTo>
                    <a:pt x="1092653" y="25883"/>
                  </a:lnTo>
                  <a:lnTo>
                    <a:pt x="1055839" y="6839"/>
                  </a:lnTo>
                  <a:lnTo>
                    <a:pt x="1013460" y="0"/>
                  </a:lnTo>
                  <a:close/>
                </a:path>
              </a:pathLst>
            </a:custGeom>
            <a:solidFill>
              <a:srgbClr val="EBA082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585715" y="4817364"/>
              <a:ext cx="1148080" cy="805180"/>
            </a:xfrm>
            <a:custGeom>
              <a:avLst/>
              <a:gdLst/>
              <a:ahLst/>
              <a:cxnLst/>
              <a:rect l="l" t="t" r="r" b="b"/>
              <a:pathLst>
                <a:path w="1148079" h="805179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1013460" y="0"/>
                  </a:lnTo>
                  <a:lnTo>
                    <a:pt x="1055839" y="6839"/>
                  </a:lnTo>
                  <a:lnTo>
                    <a:pt x="1092653" y="25883"/>
                  </a:lnTo>
                  <a:lnTo>
                    <a:pt x="1121688" y="54918"/>
                  </a:lnTo>
                  <a:lnTo>
                    <a:pt x="1140732" y="91732"/>
                  </a:lnTo>
                  <a:lnTo>
                    <a:pt x="1147572" y="134112"/>
                  </a:lnTo>
                  <a:lnTo>
                    <a:pt x="1147572" y="670560"/>
                  </a:lnTo>
                  <a:lnTo>
                    <a:pt x="1140732" y="712939"/>
                  </a:lnTo>
                  <a:lnTo>
                    <a:pt x="1121688" y="749753"/>
                  </a:lnTo>
                  <a:lnTo>
                    <a:pt x="1092653" y="778788"/>
                  </a:lnTo>
                  <a:lnTo>
                    <a:pt x="1055839" y="797832"/>
                  </a:lnTo>
                  <a:lnTo>
                    <a:pt x="1013460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76013" y="4951603"/>
            <a:ext cx="967105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lvl="0" indent="43815" defTabSz="914400" eaLnBrk="1" fontAlgn="auto" latinLnBrk="0" hangingPunct="1">
              <a:lnSpc>
                <a:spcPts val="175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ventually consistent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Copyright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Tout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droit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réservé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t>OFPPT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AEABAB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04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sz="1000" b="0" i="0" u="none" strike="noStrike" kern="0" cap="none" spc="-25" normalizeH="0" baseline="0" noProof="0" dirty="0">
              <a:ln>
                <a:noFill/>
              </a:ln>
              <a:solidFill>
                <a:srgbClr val="AEABAB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72403" y="4921757"/>
            <a:ext cx="2076450" cy="5397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066" marR="5080" lvl="0" indent="0" algn="just" defTabSz="914400" eaLnBrk="1" fontAlgn="auto" latinLnBrk="0" hangingPunct="1">
              <a:lnSpc>
                <a:spcPct val="915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None/>
              <a:tabLst>
                <a:tab pos="70485" algn="l"/>
                <a:tab pos="9461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Plus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besoin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d’avoir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exactement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mêmes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données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sur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tous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nœuds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(serveurs)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base, mais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peut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synchroniser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quand</a:t>
            </a:r>
            <a:r>
              <a:rPr kumimoji="0" sz="9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peut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086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Microsoft Office PowerPoint</Application>
  <PresentationFormat>Widescreen</PresentationFormat>
  <Paragraphs>265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 MT</vt:lpstr>
      <vt:lpstr>Calibri</vt:lpstr>
      <vt:lpstr>Georgia</vt:lpstr>
      <vt:lpstr>Times New Roman</vt:lpstr>
      <vt:lpstr>Wingdings</vt:lpstr>
      <vt:lpstr>Office Theme</vt:lpstr>
      <vt:lpstr>PowerPoint Presentation</vt:lpstr>
      <vt:lpstr>1. Exploiter les fonctionnalités</vt:lpstr>
      <vt:lpstr>PARTIE 2</vt:lpstr>
      <vt:lpstr>CHAPITRE 1</vt:lpstr>
      <vt:lpstr>CHAPITRE 1</vt:lpstr>
      <vt:lpstr>01 – Introduction aux Bases de données NoSQL C’est quoi une BD NoSQL?</vt:lpstr>
      <vt:lpstr>01 – Introduction aux Bases de données NoSQL C’est quoi une BD NoSQL?</vt:lpstr>
      <vt:lpstr>01 – Introduction aux Bases de données NoSQL C’est quoi une BD NoSQL?</vt:lpstr>
      <vt:lpstr>01 – Introduction aux Bases de données NoSQL C’est quoi une BD NoSQL?</vt:lpstr>
      <vt:lpstr>01 – Introduction aux Bases de données NoSQL C’est quoi une BD NoSQL?</vt:lpstr>
      <vt:lpstr>CHAPITRE 1</vt:lpstr>
      <vt:lpstr>01 – Introduction aux Bases de données NoSQL SQL ou NoSQL?</vt:lpstr>
      <vt:lpstr>01 – Introduction aux Bases de données NoSQL SQL ou NoSQL?</vt:lpstr>
      <vt:lpstr>01 – Introduction aux Bases de données NoSQL SQL ou NoSQL?</vt:lpstr>
      <vt:lpstr>CHAPITRE 1</vt:lpstr>
      <vt:lpstr>01 – Introduction aux Bases de données NoSQL Caractéristiques</vt:lpstr>
      <vt:lpstr>01 – Introduction aux Bases de données NoSQL Caractéristiques</vt:lpstr>
      <vt:lpstr>01 – Introduction aux Bases de données NoSQL Caractéristiques</vt:lpstr>
      <vt:lpstr>01 – Introduction aux Bases de données NoSQL Caractéristiques</vt:lpstr>
      <vt:lpstr>01 – Introduction aux Bases de données NoSQL Caractéristiques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Yasser Essaih</cp:lastModifiedBy>
  <cp:revision>2</cp:revision>
  <dcterms:created xsi:type="dcterms:W3CDTF">2025-12-06T13:43:37Z</dcterms:created>
  <dcterms:modified xsi:type="dcterms:W3CDTF">2025-12-06T13:53:04Z</dcterms:modified>
</cp:coreProperties>
</file>